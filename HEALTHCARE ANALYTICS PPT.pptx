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40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F2784B"/>
                </a:solidFill>
                <a:latin typeface="Arial"/>
              </a:defRPr>
            </a:pPr>
            <a:r>
              <a:rPr lang="en-US" sz="1000" b="0" i="0" u="none" strike="noStrike">
                <a:solidFill>
                  <a:srgbClr val="F2784B"/>
                </a:solidFill>
                <a:latin typeface="Arial"/>
              </a:rPr>
              <a:t>Scale truncated: axis starts at 0.70</a:t>
            </a:r>
          </a:p>
        </c:rich>
      </c:tx>
      <c:overlay val="0"/>
    </c:title>
    <c:autoTitleDeleted val="0"/>
    <c:plotArea>
      <c:layout/>
      <c:barChart>
        <c:barDir val="col"/>
        <c:grouping val="clustered"/>
        <c:varyColors val="0"/>
        <c:ser>
          <c:idx val="0"/>
          <c:order val="0"/>
          <c:tx>
            <c:strRef>
              <c:f>Sheet1!$B$1</c:f>
              <c:strCache>
                <c:ptCount val="1"/>
                <c:pt idx="0">
                  <c:v>F1-score</c:v>
                </c:pt>
              </c:strCache>
            </c:strRef>
          </c:tx>
          <c:spPr>
            <a:solidFill>
              <a:srgbClr val="25C4B7"/>
            </a:solidFill>
            <a:effectLst/>
          </c:spPr>
          <c:invertIfNegative val="0"/>
          <c:dLbls>
            <c:numFmt formatCode="0.00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VGG19</c:v>
                </c:pt>
                <c:pt idx="1">
                  <c:v>ResNet50</c:v>
                </c:pt>
                <c:pt idx="2">
                  <c:v>Custom CNN</c:v>
                </c:pt>
                <c:pt idx="3">
                  <c:v>ViT</c:v>
                </c:pt>
              </c:strCache>
            </c:strRef>
          </c:cat>
          <c:val>
            <c:numRef>
              <c:f>Sheet1!$B$2:$B$5</c:f>
              <c:numCache>
                <c:formatCode>General</c:formatCode>
                <c:ptCount val="4"/>
                <c:pt idx="0">
                  <c:v>0.94489999999999996</c:v>
                </c:pt>
                <c:pt idx="1">
                  <c:v>0.93740000000000001</c:v>
                </c:pt>
                <c:pt idx="2">
                  <c:v>0.92469999999999997</c:v>
                </c:pt>
                <c:pt idx="3">
                  <c:v>0.78569999999999995</c:v>
                </c:pt>
              </c:numCache>
            </c:numRef>
          </c:val>
          <c:extLst>
            <c:ext xmlns:c16="http://schemas.microsoft.com/office/drawing/2014/chart" uri="{C3380CC4-5D6E-409C-BE32-E72D297353CC}">
              <c16:uniqueId val="{00000000-C7FF-4C9A-8105-4F052204C2B9}"/>
            </c:ext>
          </c:extLst>
        </c:ser>
        <c:ser>
          <c:idx val="1"/>
          <c:order val="1"/>
          <c:tx>
            <c:strRef>
              <c:f>Sheet1!$C$1</c:f>
              <c:strCache>
                <c:ptCount val="1"/>
                <c:pt idx="0">
                  <c:v>ROC-AUC</c:v>
                </c:pt>
              </c:strCache>
            </c:strRef>
          </c:tx>
          <c:spPr>
            <a:solidFill>
              <a:srgbClr val="1C3D6E"/>
            </a:solidFill>
            <a:effectLst/>
          </c:spPr>
          <c:invertIfNegative val="0"/>
          <c:dLbls>
            <c:numFmt formatCode="0.00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VGG19</c:v>
                </c:pt>
                <c:pt idx="1">
                  <c:v>ResNet50</c:v>
                </c:pt>
                <c:pt idx="2">
                  <c:v>Custom CNN</c:v>
                </c:pt>
                <c:pt idx="3">
                  <c:v>ViT</c:v>
                </c:pt>
              </c:strCache>
            </c:strRef>
          </c:cat>
          <c:val>
            <c:numRef>
              <c:f>Sheet1!$C$2:$C$5</c:f>
              <c:numCache>
                <c:formatCode>General</c:formatCode>
                <c:ptCount val="4"/>
                <c:pt idx="0">
                  <c:v>0.99490000000000001</c:v>
                </c:pt>
                <c:pt idx="1">
                  <c:v>0.99070000000000003</c:v>
                </c:pt>
                <c:pt idx="2">
                  <c:v>0.99299999999999999</c:v>
                </c:pt>
                <c:pt idx="3">
                  <c:v>0.95130000000000003</c:v>
                </c:pt>
              </c:numCache>
            </c:numRef>
          </c:val>
          <c:extLst>
            <c:ext xmlns:c16="http://schemas.microsoft.com/office/drawing/2014/chart" uri="{C3380CC4-5D6E-409C-BE32-E72D297353CC}">
              <c16:uniqueId val="{00000001-C7FF-4C9A-8105-4F052204C2B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
          <c:min val="0.7"/>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4890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25C4B7"/>
          </a:solidFill>
          <a:ln w="12700">
            <a:solidFill>
              <a:srgbClr val="25C4B7"/>
            </a:solidFill>
            <a:prstDash val="solid"/>
          </a:ln>
        </p:spPr>
      </p:sp>
      <p:sp>
        <p:nvSpPr>
          <p:cNvPr id="3" name="Shape 1"/>
          <p:cNvSpPr/>
          <p:nvPr/>
        </p:nvSpPr>
        <p:spPr>
          <a:xfrm>
            <a:off x="320040" y="0"/>
            <a:ext cx="73152" cy="6858000"/>
          </a:xfrm>
          <a:prstGeom prst="rect">
            <a:avLst/>
          </a:prstGeom>
          <a:solidFill>
            <a:srgbClr val="8B7CF6"/>
          </a:solidFill>
          <a:ln w="12700">
            <a:solidFill>
              <a:srgbClr val="8B7CF6"/>
            </a:solidFill>
            <a:prstDash val="solid"/>
          </a:ln>
        </p:spPr>
      </p:sp>
      <p:sp>
        <p:nvSpPr>
          <p:cNvPr id="4" name="Shape 2"/>
          <p:cNvSpPr/>
          <p:nvPr/>
        </p:nvSpPr>
        <p:spPr>
          <a:xfrm>
            <a:off x="8503920" y="-1371600"/>
            <a:ext cx="5486400" cy="5486400"/>
          </a:xfrm>
          <a:prstGeom prst="ellipse">
            <a:avLst/>
          </a:prstGeom>
          <a:solidFill>
            <a:srgbClr val="1C3D6E">
              <a:alpha val="45000"/>
            </a:srgbClr>
          </a:solidFill>
          <a:ln w="12700">
            <a:solidFill>
              <a:srgbClr val="1C3D6E"/>
            </a:solidFill>
            <a:prstDash val="solid"/>
          </a:ln>
        </p:spPr>
      </p:sp>
      <p:sp>
        <p:nvSpPr>
          <p:cNvPr id="5" name="Shape 3"/>
          <p:cNvSpPr/>
          <p:nvPr/>
        </p:nvSpPr>
        <p:spPr>
          <a:xfrm>
            <a:off x="9692640" y="3291840"/>
            <a:ext cx="4023360" cy="4023360"/>
          </a:xfrm>
          <a:prstGeom prst="ellipse">
            <a:avLst/>
          </a:prstGeom>
          <a:solidFill>
            <a:srgbClr val="1C3D6E">
              <a:alpha val="25000"/>
            </a:srgbClr>
          </a:solidFill>
          <a:ln w="12700">
            <a:solidFill>
              <a:srgbClr val="1C3D6E"/>
            </a:solidFill>
            <a:prstDash val="solid"/>
          </a:ln>
        </p:spPr>
      </p:sp>
      <p:sp>
        <p:nvSpPr>
          <p:cNvPr id="6" name="Shape 4"/>
          <p:cNvSpPr/>
          <p:nvPr/>
        </p:nvSpPr>
        <p:spPr>
          <a:xfrm>
            <a:off x="822960" y="3881534"/>
            <a:ext cx="8869680" cy="0"/>
          </a:xfrm>
          <a:prstGeom prst="line">
            <a:avLst/>
          </a:prstGeom>
          <a:noFill/>
          <a:ln w="25400">
            <a:solidFill>
              <a:srgbClr val="25C4B7"/>
            </a:solidFill>
            <a:prstDash val="solid"/>
          </a:ln>
        </p:spPr>
        <p:txBody>
          <a:bodyPr/>
          <a:lstStyle/>
          <a:p>
            <a:endParaRPr lang="en-IN" dirty="0"/>
          </a:p>
        </p:txBody>
      </p:sp>
      <p:sp>
        <p:nvSpPr>
          <p:cNvPr id="8" name="Text 6"/>
          <p:cNvSpPr txBox="1"/>
          <p:nvPr/>
        </p:nvSpPr>
        <p:spPr>
          <a:xfrm>
            <a:off x="822960" y="1280160"/>
            <a:ext cx="8778240" cy="2743200"/>
          </a:xfrm>
          <a:prstGeom prst="rect">
            <a:avLst/>
          </a:prstGeom>
          <a:noFill/>
          <a:ln/>
        </p:spPr>
        <p:txBody>
          <a:bodyPr wrap="square" lIns="0" tIns="0" rIns="0" bIns="0" rtlCol="0" anchor="t"/>
          <a:lstStyle/>
          <a:p>
            <a:pPr marL="0" indent="0">
              <a:buNone/>
            </a:pPr>
            <a:r>
              <a:rPr lang="en-US" sz="3400" b="1" dirty="0">
                <a:solidFill>
                  <a:srgbClr val="FFFFFF"/>
                </a:solidFill>
                <a:latin typeface="Times New Roman" panose="02020603050405020304" pitchFamily="18" charset="0"/>
                <a:ea typeface="Calibri" pitchFamily="34" charset="-122"/>
                <a:cs typeface="Times New Roman" panose="02020603050405020304" pitchFamily="18" charset="0"/>
              </a:rPr>
              <a:t>Application of Convolutional Neural Networks and Vision Transformers for the Multi-Class Classification of Infectious Respiratory Diseases from Chest Radiological Images</a:t>
            </a:r>
            <a:endParaRPr lang="en-US" sz="3400" dirty="0">
              <a:latin typeface="Times New Roman" panose="02020603050405020304" pitchFamily="18" charset="0"/>
              <a:cs typeface="Times New Roman" panose="02020603050405020304" pitchFamily="18" charset="0"/>
            </a:endParaRPr>
          </a:p>
        </p:txBody>
      </p:sp>
      <p:sp>
        <p:nvSpPr>
          <p:cNvPr id="10" name="Text 8"/>
          <p:cNvSpPr txBox="1"/>
          <p:nvPr/>
        </p:nvSpPr>
        <p:spPr>
          <a:xfrm>
            <a:off x="838200" y="4763277"/>
            <a:ext cx="10058400" cy="320040"/>
          </a:xfrm>
          <a:prstGeom prst="rect">
            <a:avLst/>
          </a:prstGeom>
          <a:noFill/>
          <a:ln/>
        </p:spPr>
        <p:txBody>
          <a:bodyPr wrap="square" lIns="0" tIns="0" rIns="0" bIns="0" rtlCol="0" anchor="t"/>
          <a:lstStyle/>
          <a:p>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 Bhumika Raut - 23070521221</a:t>
            </a:r>
          </a:p>
          <a:p>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 Anushka Gahukar - 23070521192</a:t>
            </a:r>
          </a:p>
          <a:p>
            <a:pPr marL="0" indent="0">
              <a:buNone/>
            </a:pPr>
            <a:endParaRPr lang="en-US" sz="1700" dirty="0">
              <a:latin typeface="Times New Roman" panose="02020603050405020304" pitchFamily="18" charset="0"/>
              <a:cs typeface="Times New Roman" panose="02020603050405020304" pitchFamily="18" charset="0"/>
            </a:endParaRPr>
          </a:p>
        </p:txBody>
      </p:sp>
      <p:sp>
        <p:nvSpPr>
          <p:cNvPr id="11" name="Text 9"/>
          <p:cNvSpPr txBox="1"/>
          <p:nvPr/>
        </p:nvSpPr>
        <p:spPr>
          <a:xfrm>
            <a:off x="903514" y="5807371"/>
            <a:ext cx="10515600" cy="274320"/>
          </a:xfrm>
          <a:prstGeom prst="rect">
            <a:avLst/>
          </a:prstGeom>
          <a:noFill/>
          <a:ln/>
        </p:spPr>
        <p:txBody>
          <a:bodyPr wrap="square" lIns="0" tIns="0" rIns="0" bIns="0" rtlCol="0" anchor="t"/>
          <a:lstStyle/>
          <a:p>
            <a:pPr marL="0" indent="0">
              <a:buNone/>
            </a:pPr>
            <a:r>
              <a:rPr lang="en-US" sz="1300" b="1" dirty="0">
                <a:solidFill>
                  <a:srgbClr val="9FD8E8"/>
                </a:solidFill>
                <a:latin typeface="Times New Roman" panose="02020603050405020304" pitchFamily="18" charset="0"/>
                <a:ea typeface="Calibri" pitchFamily="34" charset="-122"/>
                <a:cs typeface="Times New Roman" panose="02020603050405020304" pitchFamily="18" charset="0"/>
              </a:rPr>
              <a:t>Symbiosis Institute of Technology, Nagpur</a:t>
            </a:r>
            <a:endParaRPr lang="en-US" sz="1300" b="1" dirty="0">
              <a:latin typeface="Times New Roman" panose="02020603050405020304" pitchFamily="18" charset="0"/>
              <a:cs typeface="Times New Roman" panose="02020603050405020304" pitchFamily="18" charset="0"/>
            </a:endParaRPr>
          </a:p>
        </p:txBody>
      </p:sp>
      <p:sp>
        <p:nvSpPr>
          <p:cNvPr id="20" name="Text 9">
            <a:extLst>
              <a:ext uri="{FF2B5EF4-FFF2-40B4-BE49-F238E27FC236}">
                <a16:creationId xmlns:a16="http://schemas.microsoft.com/office/drawing/2014/main" id="{F22BEAB2-15E0-84BC-72B9-181FD966E0D4}"/>
              </a:ext>
            </a:extLst>
          </p:cNvPr>
          <p:cNvSpPr txBox="1"/>
          <p:nvPr/>
        </p:nvSpPr>
        <p:spPr>
          <a:xfrm>
            <a:off x="937198" y="4384461"/>
            <a:ext cx="3511358" cy="274314"/>
          </a:xfrm>
          <a:prstGeom prst="rect">
            <a:avLst/>
          </a:prstGeom>
          <a:noFill/>
          <a:ln/>
        </p:spPr>
        <p:txBody>
          <a:bodyPr wrap="square" lIns="0" tIns="0" rIns="0" bIns="0" rtlCol="0" anchor="t"/>
          <a:lstStyle/>
          <a:p>
            <a:pPr marL="0" indent="0">
              <a:buNone/>
            </a:pPr>
            <a:r>
              <a:rPr lang="en-US" sz="1400" b="1" dirty="0">
                <a:solidFill>
                  <a:srgbClr val="9FD8E8"/>
                </a:solidFill>
                <a:latin typeface="Times New Roman" panose="02020603050405020304" pitchFamily="18" charset="0"/>
                <a:ea typeface="Calibri" pitchFamily="34" charset="-122"/>
                <a:cs typeface="Times New Roman" panose="02020603050405020304" pitchFamily="18" charset="0"/>
              </a:rPr>
              <a:t>Submitted by: </a:t>
            </a:r>
            <a:endParaRPr lang="en-US" sz="1400" b="1" dirty="0">
              <a:latin typeface="Times New Roman" panose="02020603050405020304" pitchFamily="18" charset="0"/>
              <a:cs typeface="Times New Roman" panose="02020603050405020304" pitchFamily="18" charset="0"/>
            </a:endParaRPr>
          </a:p>
        </p:txBody>
      </p:sp>
      <p:sp>
        <p:nvSpPr>
          <p:cNvPr id="22" name="Text 9">
            <a:extLst>
              <a:ext uri="{FF2B5EF4-FFF2-40B4-BE49-F238E27FC236}">
                <a16:creationId xmlns:a16="http://schemas.microsoft.com/office/drawing/2014/main" id="{9DEEF7C6-D67E-FA84-94A2-E511854C75AE}"/>
              </a:ext>
            </a:extLst>
          </p:cNvPr>
          <p:cNvSpPr txBox="1"/>
          <p:nvPr/>
        </p:nvSpPr>
        <p:spPr>
          <a:xfrm>
            <a:off x="822959" y="434349"/>
            <a:ext cx="4336869" cy="274312"/>
          </a:xfrm>
          <a:prstGeom prst="rect">
            <a:avLst/>
          </a:prstGeom>
          <a:noFill/>
          <a:ln/>
        </p:spPr>
        <p:txBody>
          <a:bodyPr wrap="square" lIns="0" tIns="0" rIns="0" bIns="0" rtlCol="0" anchor="t"/>
          <a:lstStyle/>
          <a:p>
            <a:pPr marL="0" indent="0">
              <a:buNone/>
            </a:pPr>
            <a:r>
              <a:rPr lang="en-US" sz="2400" b="1" dirty="0">
                <a:solidFill>
                  <a:srgbClr val="92D050"/>
                </a:solidFill>
                <a:latin typeface="Times New Roman" panose="02020603050405020304" pitchFamily="18" charset="0"/>
                <a:ea typeface="Calibri" pitchFamily="34" charset="-122"/>
                <a:cs typeface="Times New Roman" panose="02020603050405020304" pitchFamily="18" charset="0"/>
              </a:rPr>
              <a:t>HEALTHCARE ANALYTICS </a:t>
            </a:r>
            <a:endParaRPr lang="en-US" sz="2400" b="1" dirty="0">
              <a:solidFill>
                <a:srgbClr val="92D050"/>
              </a:solidFill>
              <a:latin typeface="Times New Roman" panose="02020603050405020304" pitchFamily="18" charset="0"/>
              <a:cs typeface="Times New Roman" panose="02020603050405020304" pitchFamily="18" charset="0"/>
            </a:endParaRPr>
          </a:p>
        </p:txBody>
      </p:sp>
      <p:sp>
        <p:nvSpPr>
          <p:cNvPr id="24" name="Text 9">
            <a:extLst>
              <a:ext uri="{FF2B5EF4-FFF2-40B4-BE49-F238E27FC236}">
                <a16:creationId xmlns:a16="http://schemas.microsoft.com/office/drawing/2014/main" id="{3700F393-DAC6-E159-7DAF-699C9B3A233D}"/>
              </a:ext>
            </a:extLst>
          </p:cNvPr>
          <p:cNvSpPr txBox="1"/>
          <p:nvPr/>
        </p:nvSpPr>
        <p:spPr>
          <a:xfrm>
            <a:off x="903514" y="5496205"/>
            <a:ext cx="3511358" cy="274314"/>
          </a:xfrm>
          <a:prstGeom prst="rect">
            <a:avLst/>
          </a:prstGeom>
          <a:noFill/>
          <a:ln/>
        </p:spPr>
        <p:txBody>
          <a:bodyPr wrap="square" lIns="0" tIns="0" rIns="0" bIns="0" rtlCol="0" anchor="t"/>
          <a:lstStyle/>
          <a:p>
            <a:pPr marL="0" indent="0">
              <a:buNone/>
            </a:pPr>
            <a:r>
              <a:rPr lang="en-US" sz="1400" b="1" dirty="0">
                <a:solidFill>
                  <a:srgbClr val="9FD8E8"/>
                </a:solidFill>
                <a:latin typeface="Times New Roman" panose="02020603050405020304" pitchFamily="18" charset="0"/>
                <a:ea typeface="Calibri" pitchFamily="34" charset="-122"/>
                <a:cs typeface="Times New Roman" panose="02020603050405020304" pitchFamily="18" charset="0"/>
              </a:rPr>
              <a:t>Section: </a:t>
            </a:r>
            <a:r>
              <a:rPr lang="en-US" sz="1400" b="1" dirty="0">
                <a:solidFill>
                  <a:schemeClr val="bg1"/>
                </a:solidFill>
                <a:latin typeface="Times New Roman" panose="02020603050405020304" pitchFamily="18" charset="0"/>
                <a:ea typeface="Calibri" pitchFamily="34" charset="-122"/>
                <a:cs typeface="Times New Roman" panose="02020603050405020304" pitchFamily="18" charset="0"/>
              </a:rPr>
              <a:t>‘C’</a:t>
            </a:r>
            <a:endParaRPr lang="en-US" sz="14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4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25C4B7"/>
          </a:solidFill>
          <a:ln w="12700">
            <a:solidFill>
              <a:srgbClr val="25C4B7"/>
            </a:solidFill>
            <a:prstDash val="solid"/>
          </a:ln>
        </p:spPr>
      </p:sp>
      <p:sp>
        <p:nvSpPr>
          <p:cNvPr id="3" name="Shape 1"/>
          <p:cNvSpPr/>
          <p:nvPr/>
        </p:nvSpPr>
        <p:spPr>
          <a:xfrm>
            <a:off x="548640" y="475488"/>
            <a:ext cx="128016" cy="128016"/>
          </a:xfrm>
          <a:prstGeom prst="ellipse">
            <a:avLst/>
          </a:prstGeom>
          <a:solidFill>
            <a:srgbClr val="25C4B7"/>
          </a:solidFill>
          <a:ln w="12700">
            <a:solidFill>
              <a:srgbClr val="25C4B7"/>
            </a:solidFill>
            <a:prstDash val="solid"/>
          </a:ln>
        </p:spPr>
      </p:sp>
      <p:sp>
        <p:nvSpPr>
          <p:cNvPr id="4" name="Text 2"/>
          <p:cNvSpPr txBox="1"/>
          <p:nvPr/>
        </p:nvSpPr>
        <p:spPr>
          <a:xfrm>
            <a:off x="777240" y="365760"/>
            <a:ext cx="10881360" cy="566928"/>
          </a:xfrm>
          <a:prstGeom prst="rect">
            <a:avLst/>
          </a:prstGeom>
          <a:noFill/>
          <a:ln/>
        </p:spPr>
        <p:txBody>
          <a:bodyPr wrap="square" lIns="0" tIns="0" rIns="0" bIns="0" rtlCol="0" anchor="t"/>
          <a:lstStyle/>
          <a:p>
            <a:pPr marL="0" indent="0">
              <a:buNone/>
            </a:pPr>
            <a:r>
              <a:rPr lang="en-US" sz="3000" b="1" dirty="0">
                <a:solidFill>
                  <a:srgbClr val="0B132B"/>
                </a:solidFill>
                <a:latin typeface="Times New Roman" panose="02020603050405020304" pitchFamily="18" charset="0"/>
                <a:ea typeface="Calibri" pitchFamily="34" charset="-122"/>
                <a:cs typeface="Times New Roman" panose="02020603050405020304" pitchFamily="18" charset="0"/>
              </a:rPr>
              <a:t>Problem Statement</a:t>
            </a:r>
            <a:endParaRPr lang="en-US" sz="3000" dirty="0">
              <a:latin typeface="Times New Roman" panose="02020603050405020304" pitchFamily="18" charset="0"/>
              <a:cs typeface="Times New Roman" panose="02020603050405020304" pitchFamily="18" charset="0"/>
            </a:endParaRPr>
          </a:p>
        </p:txBody>
      </p:sp>
      <p:sp>
        <p:nvSpPr>
          <p:cNvPr id="5" name="Text 3"/>
          <p:cNvSpPr txBox="1"/>
          <p:nvPr/>
        </p:nvSpPr>
        <p:spPr>
          <a:xfrm>
            <a:off x="777240" y="932688"/>
            <a:ext cx="10881360" cy="320040"/>
          </a:xfrm>
          <a:prstGeom prst="rect">
            <a:avLst/>
          </a:prstGeom>
          <a:noFill/>
          <a:ln/>
        </p:spPr>
        <p:txBody>
          <a:bodyPr wrap="square" lIns="0" tIns="0" rIns="0" bIns="0" rtlCol="0" anchor="t"/>
          <a:lstStyle/>
          <a:p>
            <a:pPr marL="0" indent="0">
              <a:buNone/>
            </a:pPr>
            <a:r>
              <a:rPr lang="en-US" sz="1400" dirty="0">
                <a:solidFill>
                  <a:srgbClr val="5B6B82"/>
                </a:solidFill>
                <a:latin typeface="Times New Roman" panose="02020603050405020304" pitchFamily="18" charset="0"/>
                <a:ea typeface="Calibri" pitchFamily="34" charset="-122"/>
                <a:cs typeface="Times New Roman" panose="02020603050405020304" pitchFamily="18" charset="0"/>
              </a:rPr>
              <a:t>What problem are we solving?</a:t>
            </a:r>
            <a:endParaRPr lang="en-US" sz="1400" dirty="0">
              <a:latin typeface="Times New Roman" panose="02020603050405020304" pitchFamily="18" charset="0"/>
              <a:cs typeface="Times New Roman" panose="02020603050405020304" pitchFamily="18" charset="0"/>
            </a:endParaRPr>
          </a:p>
        </p:txBody>
      </p:sp>
      <p:sp>
        <p:nvSpPr>
          <p:cNvPr id="6" name="Shape 4"/>
          <p:cNvSpPr/>
          <p:nvPr/>
        </p:nvSpPr>
        <p:spPr>
          <a:xfrm>
            <a:off x="640080" y="1463040"/>
            <a:ext cx="11064240" cy="1097280"/>
          </a:xfrm>
          <a:prstGeom prst="roundRect">
            <a:avLst>
              <a:gd name="adj" fmla="val 8333"/>
            </a:avLst>
          </a:prstGeom>
          <a:solidFill>
            <a:srgbClr val="0B132B"/>
          </a:solidFill>
          <a:ln w="9525">
            <a:solidFill>
              <a:srgbClr val="0B132B"/>
            </a:solidFill>
            <a:prstDash val="solid"/>
          </a:ln>
          <a:effectLst>
            <a:outerShdw blurRad="101600" dist="25400" dir="5400000" algn="bl" rotWithShape="0">
              <a:srgbClr val="000000">
                <a:alpha val="15000"/>
              </a:srgbClr>
            </a:outerShdw>
          </a:effectLst>
        </p:spPr>
      </p:sp>
      <p:sp>
        <p:nvSpPr>
          <p:cNvPr id="7" name="Text 5"/>
          <p:cNvSpPr txBox="1"/>
          <p:nvPr/>
        </p:nvSpPr>
        <p:spPr>
          <a:xfrm>
            <a:off x="914400" y="1463040"/>
            <a:ext cx="10515600" cy="1097280"/>
          </a:xfrm>
          <a:prstGeom prst="rect">
            <a:avLst/>
          </a:prstGeom>
          <a:noFill/>
          <a:ln/>
        </p:spPr>
        <p:txBody>
          <a:bodyPr wrap="square" lIns="0" tIns="0" rIns="0" bIns="0" rtlCol="0" anchor="ctr"/>
          <a:lstStyle/>
          <a:p>
            <a:pPr marL="0" indent="0">
              <a:buNone/>
            </a:pP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How reliably can CNN and Vision Transformer models classify chest radiographs into five classes despite overlapping appearance, class imbalance and image-source variability?</a:t>
            </a:r>
            <a:endParaRPr lang="en-US" sz="1800" dirty="0">
              <a:latin typeface="Times New Roman" panose="02020603050405020304" pitchFamily="18" charset="0"/>
              <a:cs typeface="Times New Roman" panose="02020603050405020304" pitchFamily="18" charset="0"/>
            </a:endParaRPr>
          </a:p>
        </p:txBody>
      </p:sp>
      <p:sp>
        <p:nvSpPr>
          <p:cNvPr id="8" name="Shape 6"/>
          <p:cNvSpPr/>
          <p:nvPr/>
        </p:nvSpPr>
        <p:spPr>
          <a:xfrm>
            <a:off x="640080" y="2834640"/>
            <a:ext cx="3566160" cy="64008"/>
          </a:xfrm>
          <a:prstGeom prst="rect">
            <a:avLst/>
          </a:prstGeom>
          <a:solidFill>
            <a:srgbClr val="25C4B7"/>
          </a:solidFill>
          <a:ln w="12700">
            <a:solidFill>
              <a:srgbClr val="25C4B7"/>
            </a:solidFill>
            <a:prstDash val="solid"/>
          </a:ln>
        </p:spPr>
      </p:sp>
      <p:sp>
        <p:nvSpPr>
          <p:cNvPr id="9" name="Text 7"/>
          <p:cNvSpPr txBox="1"/>
          <p:nvPr/>
        </p:nvSpPr>
        <p:spPr>
          <a:xfrm>
            <a:off x="640080" y="3017520"/>
            <a:ext cx="3566160" cy="365760"/>
          </a:xfrm>
          <a:prstGeom prst="rect">
            <a:avLst/>
          </a:prstGeom>
          <a:noFill/>
          <a:ln/>
        </p:spPr>
        <p:txBody>
          <a:bodyPr wrap="square" lIns="0" tIns="0" rIns="0" bIns="0" rtlCol="0" anchor="t"/>
          <a:lstStyle/>
          <a:p>
            <a:pPr marL="0" indent="0">
              <a:buNone/>
            </a:pPr>
            <a:r>
              <a:rPr lang="en-US" sz="1700" b="1" dirty="0">
                <a:solidFill>
                  <a:srgbClr val="0B132B"/>
                </a:solidFill>
                <a:latin typeface="Times New Roman" panose="02020603050405020304" pitchFamily="18" charset="0"/>
                <a:ea typeface="Calibri" pitchFamily="34" charset="-122"/>
                <a:cs typeface="Times New Roman" panose="02020603050405020304" pitchFamily="18" charset="0"/>
              </a:rPr>
              <a:t>Overlapping characteristics</a:t>
            </a:r>
            <a:endParaRPr lang="en-US" sz="1700" dirty="0">
              <a:latin typeface="Times New Roman" panose="02020603050405020304" pitchFamily="18" charset="0"/>
              <a:cs typeface="Times New Roman" panose="02020603050405020304" pitchFamily="18" charset="0"/>
            </a:endParaRPr>
          </a:p>
        </p:txBody>
      </p:sp>
      <p:sp>
        <p:nvSpPr>
          <p:cNvPr id="10" name="Text 8"/>
          <p:cNvSpPr txBox="1"/>
          <p:nvPr/>
        </p:nvSpPr>
        <p:spPr>
          <a:xfrm>
            <a:off x="640080" y="3474720"/>
            <a:ext cx="3474720" cy="914400"/>
          </a:xfrm>
          <a:prstGeom prst="rect">
            <a:avLst/>
          </a:prstGeom>
          <a:noFill/>
          <a:ln/>
        </p:spPr>
        <p:txBody>
          <a:bodyPr wrap="square" lIns="0" tIns="0" rIns="0" bIns="0" rtlCol="0" anchor="t"/>
          <a:lstStyle/>
          <a:p>
            <a:pPr marL="0" indent="0">
              <a:buNone/>
            </a:pPr>
            <a:r>
              <a:rPr lang="en-US" sz="1300" dirty="0">
                <a:solidFill>
                  <a:srgbClr val="5B6B82"/>
                </a:solidFill>
                <a:latin typeface="Times New Roman" panose="02020603050405020304" pitchFamily="18" charset="0"/>
                <a:ea typeface="Calibri" pitchFamily="34" charset="-122"/>
                <a:cs typeface="Times New Roman" panose="02020603050405020304" pitchFamily="18" charset="0"/>
              </a:rPr>
              <a:t>Lung Opacity and Normal are the main confusion; intensity distributions overlap across classes</a:t>
            </a:r>
            <a:endParaRPr lang="en-US" sz="1300" dirty="0">
              <a:latin typeface="Times New Roman" panose="02020603050405020304" pitchFamily="18" charset="0"/>
              <a:cs typeface="Times New Roman" panose="02020603050405020304" pitchFamily="18" charset="0"/>
            </a:endParaRPr>
          </a:p>
        </p:txBody>
      </p:sp>
      <p:sp>
        <p:nvSpPr>
          <p:cNvPr id="11" name="Shape 9"/>
          <p:cNvSpPr/>
          <p:nvPr/>
        </p:nvSpPr>
        <p:spPr>
          <a:xfrm>
            <a:off x="4389120" y="2834640"/>
            <a:ext cx="3566160" cy="64008"/>
          </a:xfrm>
          <a:prstGeom prst="rect">
            <a:avLst/>
          </a:prstGeom>
          <a:solidFill>
            <a:srgbClr val="8B7CF6"/>
          </a:solidFill>
          <a:ln w="12700">
            <a:solidFill>
              <a:srgbClr val="8B7CF6"/>
            </a:solidFill>
            <a:prstDash val="solid"/>
          </a:ln>
        </p:spPr>
      </p:sp>
      <p:sp>
        <p:nvSpPr>
          <p:cNvPr id="12" name="Text 10"/>
          <p:cNvSpPr txBox="1"/>
          <p:nvPr/>
        </p:nvSpPr>
        <p:spPr>
          <a:xfrm>
            <a:off x="4389120" y="3017520"/>
            <a:ext cx="3566160" cy="365760"/>
          </a:xfrm>
          <a:prstGeom prst="rect">
            <a:avLst/>
          </a:prstGeom>
          <a:noFill/>
          <a:ln/>
        </p:spPr>
        <p:txBody>
          <a:bodyPr wrap="square" lIns="0" tIns="0" rIns="0" bIns="0" rtlCol="0" anchor="t"/>
          <a:lstStyle/>
          <a:p>
            <a:pPr marL="0" indent="0">
              <a:buNone/>
            </a:pPr>
            <a:r>
              <a:rPr lang="en-US" sz="1700" b="1" dirty="0">
                <a:solidFill>
                  <a:srgbClr val="0B132B"/>
                </a:solidFill>
                <a:latin typeface="Times New Roman" panose="02020603050405020304" pitchFamily="18" charset="0"/>
                <a:ea typeface="Calibri" pitchFamily="34" charset="-122"/>
                <a:cs typeface="Times New Roman" panose="02020603050405020304" pitchFamily="18" charset="0"/>
              </a:rPr>
              <a:t>Dataset imbalance</a:t>
            </a:r>
            <a:endParaRPr lang="en-US" sz="1700" dirty="0">
              <a:latin typeface="Times New Roman" panose="02020603050405020304" pitchFamily="18" charset="0"/>
              <a:cs typeface="Times New Roman" panose="02020603050405020304" pitchFamily="18" charset="0"/>
            </a:endParaRPr>
          </a:p>
        </p:txBody>
      </p:sp>
      <p:sp>
        <p:nvSpPr>
          <p:cNvPr id="13" name="Text 11"/>
          <p:cNvSpPr txBox="1"/>
          <p:nvPr/>
        </p:nvSpPr>
        <p:spPr>
          <a:xfrm>
            <a:off x="4389120" y="3474720"/>
            <a:ext cx="3474720" cy="914400"/>
          </a:xfrm>
          <a:prstGeom prst="rect">
            <a:avLst/>
          </a:prstGeom>
          <a:noFill/>
          <a:ln/>
        </p:spPr>
        <p:txBody>
          <a:bodyPr wrap="square" lIns="0" tIns="0" rIns="0" bIns="0" rtlCol="0" anchor="t"/>
          <a:lstStyle/>
          <a:p>
            <a:pPr marL="0" indent="0">
              <a:buNone/>
            </a:pPr>
            <a:r>
              <a:rPr lang="en-US" sz="1300" dirty="0">
                <a:solidFill>
                  <a:srgbClr val="5B6B82"/>
                </a:solidFill>
                <a:latin typeface="Times New Roman" panose="02020603050405020304" pitchFamily="18" charset="0"/>
                <a:ea typeface="Calibri" pitchFamily="34" charset="-122"/>
                <a:cs typeface="Times New Roman" panose="02020603050405020304" pitchFamily="18" charset="0"/>
              </a:rPr>
              <a:t>10,192 Normal vs 4,189 COVID-19 images (≈2.4 : 1)</a:t>
            </a:r>
            <a:endParaRPr lang="en-US" sz="1300" dirty="0">
              <a:latin typeface="Times New Roman" panose="02020603050405020304" pitchFamily="18" charset="0"/>
              <a:cs typeface="Times New Roman" panose="02020603050405020304" pitchFamily="18" charset="0"/>
            </a:endParaRPr>
          </a:p>
        </p:txBody>
      </p:sp>
      <p:sp>
        <p:nvSpPr>
          <p:cNvPr id="14" name="Shape 12"/>
          <p:cNvSpPr/>
          <p:nvPr/>
        </p:nvSpPr>
        <p:spPr>
          <a:xfrm>
            <a:off x="8138160" y="2834640"/>
            <a:ext cx="3566160" cy="64008"/>
          </a:xfrm>
          <a:prstGeom prst="rect">
            <a:avLst/>
          </a:prstGeom>
          <a:solidFill>
            <a:srgbClr val="F2784B"/>
          </a:solidFill>
          <a:ln w="12700">
            <a:solidFill>
              <a:srgbClr val="F2784B"/>
            </a:solidFill>
            <a:prstDash val="solid"/>
          </a:ln>
        </p:spPr>
      </p:sp>
      <p:sp>
        <p:nvSpPr>
          <p:cNvPr id="15" name="Text 13"/>
          <p:cNvSpPr txBox="1"/>
          <p:nvPr/>
        </p:nvSpPr>
        <p:spPr>
          <a:xfrm>
            <a:off x="8138160" y="3017520"/>
            <a:ext cx="3566160" cy="365760"/>
          </a:xfrm>
          <a:prstGeom prst="rect">
            <a:avLst/>
          </a:prstGeom>
          <a:noFill/>
          <a:ln/>
        </p:spPr>
        <p:txBody>
          <a:bodyPr wrap="square" lIns="0" tIns="0" rIns="0" bIns="0" rtlCol="0" anchor="t"/>
          <a:lstStyle/>
          <a:p>
            <a:pPr marL="0" indent="0">
              <a:buNone/>
            </a:pPr>
            <a:r>
              <a:rPr lang="en-US" sz="1700" b="1" dirty="0">
                <a:solidFill>
                  <a:srgbClr val="0B132B"/>
                </a:solidFill>
                <a:latin typeface="Times New Roman" panose="02020603050405020304" pitchFamily="18" charset="0"/>
                <a:ea typeface="Calibri" pitchFamily="34" charset="-122"/>
                <a:cs typeface="Times New Roman" panose="02020603050405020304" pitchFamily="18" charset="0"/>
              </a:rPr>
              <a:t>Image variability</a:t>
            </a:r>
            <a:endParaRPr lang="en-US" sz="1700" dirty="0">
              <a:latin typeface="Times New Roman" panose="02020603050405020304" pitchFamily="18" charset="0"/>
              <a:cs typeface="Times New Roman" panose="02020603050405020304" pitchFamily="18" charset="0"/>
            </a:endParaRPr>
          </a:p>
        </p:txBody>
      </p:sp>
      <p:sp>
        <p:nvSpPr>
          <p:cNvPr id="16" name="Text 14"/>
          <p:cNvSpPr txBox="1"/>
          <p:nvPr/>
        </p:nvSpPr>
        <p:spPr>
          <a:xfrm>
            <a:off x="8138160" y="3474720"/>
            <a:ext cx="3474720" cy="914400"/>
          </a:xfrm>
          <a:prstGeom prst="rect">
            <a:avLst/>
          </a:prstGeom>
          <a:noFill/>
          <a:ln/>
        </p:spPr>
        <p:txBody>
          <a:bodyPr wrap="square" lIns="0" tIns="0" rIns="0" bIns="0" rtlCol="0" anchor="t"/>
          <a:lstStyle/>
          <a:p>
            <a:pPr marL="0" indent="0">
              <a:buNone/>
            </a:pPr>
            <a:r>
              <a:rPr lang="en-US" sz="1300" dirty="0">
                <a:solidFill>
                  <a:srgbClr val="5B6B82"/>
                </a:solidFill>
                <a:latin typeface="Times New Roman" panose="02020603050405020304" pitchFamily="18" charset="0"/>
                <a:ea typeface="Calibri" pitchFamily="34" charset="-122"/>
                <a:cs typeface="Times New Roman" panose="02020603050405020304" pitchFamily="18" charset="0"/>
              </a:rPr>
              <a:t>Images pooled from several sources and equipment, with artefacts</a:t>
            </a:r>
            <a:endParaRPr lang="en-US" sz="1300" dirty="0">
              <a:latin typeface="Times New Roman" panose="02020603050405020304" pitchFamily="18" charset="0"/>
              <a:cs typeface="Times New Roman" panose="02020603050405020304" pitchFamily="18" charset="0"/>
            </a:endParaRPr>
          </a:p>
        </p:txBody>
      </p:sp>
      <p:pic>
        <p:nvPicPr>
          <p:cNvPr id="17" name="Image 0" descr="image3.png"/>
          <p:cNvPicPr>
            <a:picLocks noChangeAspect="1"/>
          </p:cNvPicPr>
          <p:nvPr/>
        </p:nvPicPr>
        <p:blipFill>
          <a:blip r:embed="rId3"/>
          <a:srcRect/>
          <a:stretch/>
        </p:blipFill>
        <p:spPr>
          <a:xfrm>
            <a:off x="508695" y="4142232"/>
            <a:ext cx="3697545" cy="1956816"/>
          </a:xfrm>
          <a:prstGeom prst="rect">
            <a:avLst/>
          </a:prstGeom>
        </p:spPr>
      </p:pic>
      <p:sp>
        <p:nvSpPr>
          <p:cNvPr id="18" name="Text 15"/>
          <p:cNvSpPr txBox="1"/>
          <p:nvPr/>
        </p:nvSpPr>
        <p:spPr>
          <a:xfrm>
            <a:off x="4389120" y="4754880"/>
            <a:ext cx="3291840" cy="731520"/>
          </a:xfrm>
          <a:prstGeom prst="rect">
            <a:avLst/>
          </a:prstGeom>
          <a:noFill/>
          <a:ln/>
        </p:spPr>
        <p:txBody>
          <a:bodyPr wrap="square" lIns="0" tIns="0" rIns="0" bIns="0" rtlCol="0" anchor="t"/>
          <a:lstStyle/>
          <a:p>
            <a:pPr marL="0" indent="0">
              <a:buNone/>
            </a:pPr>
            <a:r>
              <a:rPr lang="en-US" sz="1100" i="1" dirty="0">
                <a:solidFill>
                  <a:srgbClr val="5B6B82"/>
                </a:solidFill>
                <a:latin typeface="Times New Roman" panose="02020603050405020304" pitchFamily="18" charset="0"/>
                <a:ea typeface="Calibri" pitchFamily="34" charset="-122"/>
                <a:cs typeface="Times New Roman" panose="02020603050405020304" pitchFamily="18" charset="0"/>
              </a:rPr>
              <a:t>Mean-intensity distributions per class (EDA, source figure) — overlapping ranges.</a:t>
            </a:r>
            <a:endParaRPr lang="en-US" sz="1100" dirty="0">
              <a:latin typeface="Times New Roman" panose="02020603050405020304" pitchFamily="18" charset="0"/>
              <a:cs typeface="Times New Roman" panose="02020603050405020304" pitchFamily="18" charset="0"/>
            </a:endParaRPr>
          </a:p>
        </p:txBody>
      </p:sp>
      <p:sp>
        <p:nvSpPr>
          <p:cNvPr id="19" name="Text 16"/>
          <p:cNvSpPr txBox="1"/>
          <p:nvPr/>
        </p:nvSpPr>
        <p:spPr>
          <a:xfrm>
            <a:off x="7863840" y="4663440"/>
            <a:ext cx="3840480" cy="1097280"/>
          </a:xfrm>
          <a:prstGeom prst="rect">
            <a:avLst/>
          </a:prstGeom>
          <a:noFill/>
          <a:ln/>
        </p:spPr>
        <p:txBody>
          <a:bodyPr wrap="square" lIns="0" tIns="0" rIns="0" bIns="0" rtlCol="0" anchor="t"/>
          <a:lstStyle/>
          <a:p>
            <a:pPr marL="0" indent="0">
              <a:buNone/>
            </a:pPr>
            <a:r>
              <a:rPr lang="en-US" sz="1400" b="1" dirty="0">
                <a:solidFill>
                  <a:srgbClr val="1C3D6E"/>
                </a:solidFill>
                <a:latin typeface="Times New Roman" panose="02020603050405020304" pitchFamily="18" charset="0"/>
                <a:ea typeface="Calibri" pitchFamily="34" charset="-122"/>
                <a:cs typeface="Times New Roman" panose="02020603050405020304" pitchFamily="18" charset="0"/>
              </a:rPr>
              <a:t>Investigates: which architecture family handles this best, and what do explainability methods reveal?</a:t>
            </a:r>
            <a:endParaRPr lang="en-US" sz="1400" dirty="0">
              <a:latin typeface="Times New Roman" panose="02020603050405020304" pitchFamily="18" charset="0"/>
              <a:cs typeface="Times New Roman" panose="02020603050405020304" pitchFamily="18" charset="0"/>
            </a:endParaRPr>
          </a:p>
        </p:txBody>
      </p:sp>
      <p:sp>
        <p:nvSpPr>
          <p:cNvPr id="20" name="Text 17"/>
          <p:cNvSpPr txBox="1"/>
          <p:nvPr/>
        </p:nvSpPr>
        <p:spPr>
          <a:xfrm>
            <a:off x="10881360" y="6446520"/>
            <a:ext cx="822960" cy="274320"/>
          </a:xfrm>
          <a:prstGeom prst="rect">
            <a:avLst/>
          </a:prstGeom>
          <a:noFill/>
          <a:ln/>
        </p:spPr>
        <p:txBody>
          <a:bodyPr wrap="square" lIns="0" tIns="0" rIns="0" bIns="0" rtlCol="0" anchor="t"/>
          <a:lstStyle/>
          <a:p>
            <a:pPr marL="0" indent="0" algn="r">
              <a:buNone/>
            </a:pPr>
            <a:r>
              <a:rPr lang="en-US" sz="1000" dirty="0">
                <a:solidFill>
                  <a:srgbClr val="5B6B82"/>
                </a:solidFill>
                <a:latin typeface="Times New Roman" panose="02020603050405020304" pitchFamily="18" charset="0"/>
                <a:ea typeface="Calibri" pitchFamily="34" charset="-122"/>
                <a:cs typeface="Times New Roman" panose="02020603050405020304" pitchFamily="18" charset="0"/>
              </a:rPr>
              <a:t>2 / 13</a:t>
            </a:r>
            <a:endParaRPr lang="en-US" sz="1000" dirty="0">
              <a:latin typeface="Times New Roman" panose="02020603050405020304" pitchFamily="18" charset="0"/>
              <a:cs typeface="Times New Roman" panose="02020603050405020304" pitchFamily="18" charset="0"/>
            </a:endParaRPr>
          </a:p>
        </p:txBody>
      </p:sp>
      <p:sp>
        <p:nvSpPr>
          <p:cNvPr id="21" name="Shape 18"/>
          <p:cNvSpPr/>
          <p:nvPr/>
        </p:nvSpPr>
        <p:spPr>
          <a:xfrm>
            <a:off x="548640" y="6400800"/>
            <a:ext cx="11064240" cy="9144"/>
          </a:xfrm>
          <a:prstGeom prst="rect">
            <a:avLst/>
          </a:prstGeom>
          <a:solidFill>
            <a:srgbClr val="C9D3DF"/>
          </a:solidFill>
          <a:ln w="12700">
            <a:solidFill>
              <a:srgbClr val="C9D3D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4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25C4B7"/>
          </a:solidFill>
          <a:ln w="12700">
            <a:solidFill>
              <a:srgbClr val="25C4B7"/>
            </a:solidFill>
            <a:prstDash val="solid"/>
          </a:ln>
        </p:spPr>
      </p:sp>
      <p:sp>
        <p:nvSpPr>
          <p:cNvPr id="3" name="Shape 1"/>
          <p:cNvSpPr/>
          <p:nvPr/>
        </p:nvSpPr>
        <p:spPr>
          <a:xfrm>
            <a:off x="548640" y="475488"/>
            <a:ext cx="128016" cy="128016"/>
          </a:xfrm>
          <a:prstGeom prst="ellipse">
            <a:avLst/>
          </a:prstGeom>
          <a:solidFill>
            <a:srgbClr val="25C4B7"/>
          </a:solidFill>
          <a:ln w="12700">
            <a:solidFill>
              <a:srgbClr val="25C4B7"/>
            </a:solidFill>
            <a:prstDash val="solid"/>
          </a:ln>
        </p:spPr>
      </p:sp>
      <p:sp>
        <p:nvSpPr>
          <p:cNvPr id="4" name="Text 2"/>
          <p:cNvSpPr txBox="1"/>
          <p:nvPr/>
        </p:nvSpPr>
        <p:spPr>
          <a:xfrm>
            <a:off x="777240" y="365760"/>
            <a:ext cx="10881360" cy="566928"/>
          </a:xfrm>
          <a:prstGeom prst="rect">
            <a:avLst/>
          </a:prstGeom>
          <a:noFill/>
          <a:ln/>
        </p:spPr>
        <p:txBody>
          <a:bodyPr wrap="square" lIns="0" tIns="0" rIns="0" bIns="0" rtlCol="0" anchor="t"/>
          <a:lstStyle/>
          <a:p>
            <a:pPr marL="0" indent="0">
              <a:buNone/>
            </a:pPr>
            <a:r>
              <a:rPr lang="en-US" sz="3000" b="1" dirty="0">
                <a:solidFill>
                  <a:srgbClr val="0B132B"/>
                </a:solidFill>
                <a:latin typeface="Times New Roman" panose="02020603050405020304" pitchFamily="18" charset="0"/>
                <a:ea typeface="Calibri" pitchFamily="34" charset="-122"/>
                <a:cs typeface="Times New Roman" panose="02020603050405020304" pitchFamily="18" charset="0"/>
              </a:rPr>
              <a:t>Dataset</a:t>
            </a:r>
            <a:endParaRPr lang="en-US" sz="3000" dirty="0">
              <a:latin typeface="Times New Roman" panose="02020603050405020304" pitchFamily="18" charset="0"/>
              <a:cs typeface="Times New Roman" panose="02020603050405020304" pitchFamily="18" charset="0"/>
            </a:endParaRPr>
          </a:p>
        </p:txBody>
      </p:sp>
      <p:sp>
        <p:nvSpPr>
          <p:cNvPr id="5" name="Text 3"/>
          <p:cNvSpPr txBox="1"/>
          <p:nvPr/>
        </p:nvSpPr>
        <p:spPr>
          <a:xfrm>
            <a:off x="777240" y="932688"/>
            <a:ext cx="10881360" cy="320040"/>
          </a:xfrm>
          <a:prstGeom prst="rect">
            <a:avLst/>
          </a:prstGeom>
          <a:noFill/>
          <a:ln/>
        </p:spPr>
        <p:txBody>
          <a:bodyPr wrap="square" lIns="0" tIns="0" rIns="0" bIns="0" rtlCol="0" anchor="t"/>
          <a:lstStyle/>
          <a:p>
            <a:pPr marL="0" indent="0">
              <a:buNone/>
            </a:pPr>
            <a:r>
              <a:rPr lang="en-US" sz="1400" dirty="0">
                <a:solidFill>
                  <a:srgbClr val="5B6B82"/>
                </a:solidFill>
                <a:latin typeface="Times New Roman" panose="02020603050405020304" pitchFamily="18" charset="0"/>
                <a:ea typeface="Calibri" pitchFamily="34" charset="-122"/>
                <a:cs typeface="Times New Roman" panose="02020603050405020304" pitchFamily="18" charset="0"/>
              </a:rPr>
              <a:t>32,687 frontal chest radiographs · five classes</a:t>
            </a:r>
            <a:endParaRPr lang="en-US" sz="1400" dirty="0">
              <a:latin typeface="Times New Roman" panose="02020603050405020304" pitchFamily="18" charset="0"/>
              <a:cs typeface="Times New Roman" panose="02020603050405020304" pitchFamily="18" charset="0"/>
            </a:endParaRPr>
          </a:p>
        </p:txBody>
      </p:sp>
      <p:sp>
        <p:nvSpPr>
          <p:cNvPr id="6" name="Text 4"/>
          <p:cNvSpPr txBox="1"/>
          <p:nvPr/>
        </p:nvSpPr>
        <p:spPr>
          <a:xfrm>
            <a:off x="640080" y="1508760"/>
            <a:ext cx="1828800" cy="640080"/>
          </a:xfrm>
          <a:prstGeom prst="rect">
            <a:avLst/>
          </a:prstGeom>
          <a:noFill/>
          <a:ln/>
        </p:spPr>
        <p:txBody>
          <a:bodyPr wrap="square" lIns="0" tIns="0" rIns="0" bIns="0" rtlCol="0" anchor="ctr"/>
          <a:lstStyle/>
          <a:p>
            <a:pPr marL="0" indent="0">
              <a:buNone/>
            </a:pPr>
            <a:r>
              <a:rPr lang="en-US" sz="1500" b="1" dirty="0">
                <a:solidFill>
                  <a:srgbClr val="0B132B"/>
                </a:solidFill>
                <a:latin typeface="Times New Roman" panose="02020603050405020304" pitchFamily="18" charset="0"/>
                <a:ea typeface="Calibri" pitchFamily="34" charset="-122"/>
                <a:cs typeface="Times New Roman" panose="02020603050405020304" pitchFamily="18" charset="0"/>
              </a:rPr>
              <a:t>COVID-19</a:t>
            </a:r>
            <a:endParaRPr lang="en-US" sz="1500" dirty="0">
              <a:latin typeface="Times New Roman" panose="02020603050405020304" pitchFamily="18" charset="0"/>
              <a:cs typeface="Times New Roman" panose="02020603050405020304" pitchFamily="18" charset="0"/>
            </a:endParaRPr>
          </a:p>
        </p:txBody>
      </p:sp>
      <p:sp>
        <p:nvSpPr>
          <p:cNvPr id="7" name="Shape 5"/>
          <p:cNvSpPr/>
          <p:nvPr/>
        </p:nvSpPr>
        <p:spPr>
          <a:xfrm>
            <a:off x="2514600" y="1581912"/>
            <a:ext cx="2254958" cy="502920"/>
          </a:xfrm>
          <a:prstGeom prst="rect">
            <a:avLst/>
          </a:prstGeom>
          <a:solidFill>
            <a:srgbClr val="25C4B7"/>
          </a:solidFill>
          <a:ln w="12700">
            <a:solidFill>
              <a:srgbClr val="25C4B7"/>
            </a:solidFill>
            <a:prstDash val="solid"/>
          </a:ln>
        </p:spPr>
      </p:sp>
      <p:sp>
        <p:nvSpPr>
          <p:cNvPr id="8" name="Text 6"/>
          <p:cNvSpPr txBox="1"/>
          <p:nvPr/>
        </p:nvSpPr>
        <p:spPr>
          <a:xfrm>
            <a:off x="4879286" y="1508760"/>
            <a:ext cx="1097280" cy="640080"/>
          </a:xfrm>
          <a:prstGeom prst="rect">
            <a:avLst/>
          </a:prstGeom>
          <a:noFill/>
          <a:ln/>
        </p:spPr>
        <p:txBody>
          <a:bodyPr wrap="square" lIns="0" tIns="0" rIns="0" bIns="0" rtlCol="0" anchor="ctr"/>
          <a:lstStyle/>
          <a:p>
            <a:pPr marL="0" indent="0">
              <a:buNone/>
            </a:pPr>
            <a:r>
              <a:rPr lang="en-US" sz="1600" b="1" dirty="0">
                <a:solidFill>
                  <a:srgbClr val="0B132B"/>
                </a:solidFill>
                <a:latin typeface="Times New Roman" panose="02020603050405020304" pitchFamily="18" charset="0"/>
                <a:ea typeface="Calibri" pitchFamily="34" charset="-122"/>
                <a:cs typeface="Times New Roman" panose="02020603050405020304" pitchFamily="18" charset="0"/>
              </a:rPr>
              <a:t>4,189</a:t>
            </a:r>
            <a:endParaRPr lang="en-US" sz="1600" dirty="0">
              <a:latin typeface="Times New Roman" panose="02020603050405020304" pitchFamily="18" charset="0"/>
              <a:cs typeface="Times New Roman" panose="02020603050405020304" pitchFamily="18" charset="0"/>
            </a:endParaRPr>
          </a:p>
        </p:txBody>
      </p:sp>
      <p:sp>
        <p:nvSpPr>
          <p:cNvPr id="9" name="Text 7"/>
          <p:cNvSpPr txBox="1"/>
          <p:nvPr/>
        </p:nvSpPr>
        <p:spPr>
          <a:xfrm>
            <a:off x="640080" y="2331720"/>
            <a:ext cx="1828800" cy="640080"/>
          </a:xfrm>
          <a:prstGeom prst="rect">
            <a:avLst/>
          </a:prstGeom>
          <a:noFill/>
          <a:ln/>
        </p:spPr>
        <p:txBody>
          <a:bodyPr wrap="square" lIns="0" tIns="0" rIns="0" bIns="0" rtlCol="0" anchor="ctr"/>
          <a:lstStyle/>
          <a:p>
            <a:pPr marL="0" indent="0">
              <a:buNone/>
            </a:pPr>
            <a:r>
              <a:rPr lang="en-US" sz="1500" b="1" dirty="0">
                <a:solidFill>
                  <a:srgbClr val="0B132B"/>
                </a:solidFill>
                <a:latin typeface="Times New Roman" panose="02020603050405020304" pitchFamily="18" charset="0"/>
                <a:ea typeface="Calibri" pitchFamily="34" charset="-122"/>
                <a:cs typeface="Times New Roman" panose="02020603050405020304" pitchFamily="18" charset="0"/>
              </a:rPr>
              <a:t>Lung Opacity</a:t>
            </a:r>
            <a:endParaRPr lang="en-US" sz="1500" dirty="0">
              <a:latin typeface="Times New Roman" panose="02020603050405020304" pitchFamily="18" charset="0"/>
              <a:cs typeface="Times New Roman" panose="02020603050405020304" pitchFamily="18" charset="0"/>
            </a:endParaRPr>
          </a:p>
        </p:txBody>
      </p:sp>
      <p:sp>
        <p:nvSpPr>
          <p:cNvPr id="10" name="Shape 8"/>
          <p:cNvSpPr/>
          <p:nvPr/>
        </p:nvSpPr>
        <p:spPr>
          <a:xfrm>
            <a:off x="2514600" y="2404872"/>
            <a:ext cx="3236287" cy="502920"/>
          </a:xfrm>
          <a:prstGeom prst="rect">
            <a:avLst/>
          </a:prstGeom>
          <a:solidFill>
            <a:srgbClr val="6FD8E0"/>
          </a:solidFill>
          <a:ln w="12700">
            <a:solidFill>
              <a:srgbClr val="6FD8E0"/>
            </a:solidFill>
            <a:prstDash val="solid"/>
          </a:ln>
        </p:spPr>
      </p:sp>
      <p:sp>
        <p:nvSpPr>
          <p:cNvPr id="11" name="Text 9"/>
          <p:cNvSpPr txBox="1"/>
          <p:nvPr/>
        </p:nvSpPr>
        <p:spPr>
          <a:xfrm>
            <a:off x="5860615" y="2331720"/>
            <a:ext cx="1097280" cy="640080"/>
          </a:xfrm>
          <a:prstGeom prst="rect">
            <a:avLst/>
          </a:prstGeom>
          <a:noFill/>
          <a:ln/>
        </p:spPr>
        <p:txBody>
          <a:bodyPr wrap="square" lIns="0" tIns="0" rIns="0" bIns="0" rtlCol="0" anchor="ctr"/>
          <a:lstStyle/>
          <a:p>
            <a:pPr marL="0" indent="0">
              <a:buNone/>
            </a:pPr>
            <a:r>
              <a:rPr lang="en-US" sz="1600" b="1" dirty="0">
                <a:solidFill>
                  <a:srgbClr val="0B132B"/>
                </a:solidFill>
                <a:latin typeface="Times New Roman" panose="02020603050405020304" pitchFamily="18" charset="0"/>
                <a:ea typeface="Calibri" pitchFamily="34" charset="-122"/>
                <a:cs typeface="Times New Roman" panose="02020603050405020304" pitchFamily="18" charset="0"/>
              </a:rPr>
              <a:t>6,012</a:t>
            </a:r>
            <a:endParaRPr lang="en-US" sz="1600" dirty="0">
              <a:latin typeface="Times New Roman" panose="02020603050405020304" pitchFamily="18" charset="0"/>
              <a:cs typeface="Times New Roman" panose="02020603050405020304" pitchFamily="18" charset="0"/>
            </a:endParaRPr>
          </a:p>
        </p:txBody>
      </p:sp>
      <p:sp>
        <p:nvSpPr>
          <p:cNvPr id="12" name="Text 10"/>
          <p:cNvSpPr txBox="1"/>
          <p:nvPr/>
        </p:nvSpPr>
        <p:spPr>
          <a:xfrm>
            <a:off x="640080" y="3154680"/>
            <a:ext cx="1828800" cy="640080"/>
          </a:xfrm>
          <a:prstGeom prst="rect">
            <a:avLst/>
          </a:prstGeom>
          <a:noFill/>
          <a:ln/>
        </p:spPr>
        <p:txBody>
          <a:bodyPr wrap="square" lIns="0" tIns="0" rIns="0" bIns="0" rtlCol="0" anchor="ctr"/>
          <a:lstStyle/>
          <a:p>
            <a:pPr marL="0" indent="0">
              <a:buNone/>
            </a:pPr>
            <a:r>
              <a:rPr lang="en-US" sz="1500" b="1" dirty="0">
                <a:solidFill>
                  <a:srgbClr val="0B132B"/>
                </a:solidFill>
                <a:latin typeface="Times New Roman" panose="02020603050405020304" pitchFamily="18" charset="0"/>
                <a:ea typeface="Calibri" pitchFamily="34" charset="-122"/>
                <a:cs typeface="Times New Roman" panose="02020603050405020304" pitchFamily="18" charset="0"/>
              </a:rPr>
              <a:t>Normal</a:t>
            </a:r>
            <a:endParaRPr lang="en-US" sz="1500" dirty="0">
              <a:latin typeface="Times New Roman" panose="02020603050405020304" pitchFamily="18" charset="0"/>
              <a:cs typeface="Times New Roman" panose="02020603050405020304" pitchFamily="18" charset="0"/>
            </a:endParaRPr>
          </a:p>
        </p:txBody>
      </p:sp>
      <p:sp>
        <p:nvSpPr>
          <p:cNvPr id="13" name="Shape 11"/>
          <p:cNvSpPr/>
          <p:nvPr/>
        </p:nvSpPr>
        <p:spPr>
          <a:xfrm>
            <a:off x="2514600" y="3227832"/>
            <a:ext cx="5486400" cy="502920"/>
          </a:xfrm>
          <a:prstGeom prst="rect">
            <a:avLst/>
          </a:prstGeom>
          <a:solidFill>
            <a:srgbClr val="1C3D6E"/>
          </a:solidFill>
          <a:ln w="12700">
            <a:solidFill>
              <a:srgbClr val="1C3D6E"/>
            </a:solidFill>
            <a:prstDash val="solid"/>
          </a:ln>
        </p:spPr>
      </p:sp>
      <p:sp>
        <p:nvSpPr>
          <p:cNvPr id="14" name="Text 12"/>
          <p:cNvSpPr txBox="1"/>
          <p:nvPr/>
        </p:nvSpPr>
        <p:spPr>
          <a:xfrm>
            <a:off x="8110728" y="3154680"/>
            <a:ext cx="1097280" cy="640080"/>
          </a:xfrm>
          <a:prstGeom prst="rect">
            <a:avLst/>
          </a:prstGeom>
          <a:noFill/>
          <a:ln/>
        </p:spPr>
        <p:txBody>
          <a:bodyPr wrap="square" lIns="0" tIns="0" rIns="0" bIns="0" rtlCol="0" anchor="ctr"/>
          <a:lstStyle/>
          <a:p>
            <a:pPr marL="0" indent="0">
              <a:buNone/>
            </a:pPr>
            <a:r>
              <a:rPr lang="en-US" sz="1600" b="1" dirty="0">
                <a:solidFill>
                  <a:srgbClr val="0B132B"/>
                </a:solidFill>
                <a:latin typeface="Times New Roman" panose="02020603050405020304" pitchFamily="18" charset="0"/>
                <a:ea typeface="Calibri" pitchFamily="34" charset="-122"/>
                <a:cs typeface="Times New Roman" panose="02020603050405020304" pitchFamily="18" charset="0"/>
              </a:rPr>
              <a:t>10,192</a:t>
            </a:r>
            <a:endParaRPr lang="en-US" sz="1600" dirty="0">
              <a:latin typeface="Times New Roman" panose="02020603050405020304" pitchFamily="18" charset="0"/>
              <a:cs typeface="Times New Roman" panose="02020603050405020304" pitchFamily="18" charset="0"/>
            </a:endParaRPr>
          </a:p>
        </p:txBody>
      </p:sp>
      <p:sp>
        <p:nvSpPr>
          <p:cNvPr id="15" name="Text 13"/>
          <p:cNvSpPr txBox="1"/>
          <p:nvPr/>
        </p:nvSpPr>
        <p:spPr>
          <a:xfrm>
            <a:off x="640080" y="3977640"/>
            <a:ext cx="1828800" cy="640080"/>
          </a:xfrm>
          <a:prstGeom prst="rect">
            <a:avLst/>
          </a:prstGeom>
          <a:noFill/>
          <a:ln/>
        </p:spPr>
        <p:txBody>
          <a:bodyPr wrap="square" lIns="0" tIns="0" rIns="0" bIns="0" rtlCol="0" anchor="ctr"/>
          <a:lstStyle/>
          <a:p>
            <a:pPr marL="0" indent="0">
              <a:buNone/>
            </a:pPr>
            <a:r>
              <a:rPr lang="en-US" sz="1500" b="1" dirty="0">
                <a:solidFill>
                  <a:srgbClr val="0B132B"/>
                </a:solidFill>
                <a:latin typeface="Times New Roman" panose="02020603050405020304" pitchFamily="18" charset="0"/>
                <a:ea typeface="Calibri" pitchFamily="34" charset="-122"/>
                <a:cs typeface="Times New Roman" panose="02020603050405020304" pitchFamily="18" charset="0"/>
              </a:rPr>
              <a:t>Viral Pneumonia</a:t>
            </a:r>
            <a:endParaRPr lang="en-US" sz="1500" dirty="0">
              <a:latin typeface="Times New Roman" panose="02020603050405020304" pitchFamily="18" charset="0"/>
              <a:cs typeface="Times New Roman" panose="02020603050405020304" pitchFamily="18" charset="0"/>
            </a:endParaRPr>
          </a:p>
        </p:txBody>
      </p:sp>
      <p:sp>
        <p:nvSpPr>
          <p:cNvPr id="16" name="Shape 14"/>
          <p:cNvSpPr/>
          <p:nvPr/>
        </p:nvSpPr>
        <p:spPr>
          <a:xfrm>
            <a:off x="2514600" y="4050792"/>
            <a:ext cx="3981839" cy="502920"/>
          </a:xfrm>
          <a:prstGeom prst="rect">
            <a:avLst/>
          </a:prstGeom>
          <a:solidFill>
            <a:srgbClr val="8B7CF6"/>
          </a:solidFill>
          <a:ln w="12700">
            <a:solidFill>
              <a:srgbClr val="8B7CF6"/>
            </a:solidFill>
            <a:prstDash val="solid"/>
          </a:ln>
        </p:spPr>
      </p:sp>
      <p:sp>
        <p:nvSpPr>
          <p:cNvPr id="17" name="Text 15"/>
          <p:cNvSpPr txBox="1"/>
          <p:nvPr/>
        </p:nvSpPr>
        <p:spPr>
          <a:xfrm>
            <a:off x="6606167" y="3977640"/>
            <a:ext cx="1097280" cy="640080"/>
          </a:xfrm>
          <a:prstGeom prst="rect">
            <a:avLst/>
          </a:prstGeom>
          <a:noFill/>
          <a:ln/>
        </p:spPr>
        <p:txBody>
          <a:bodyPr wrap="square" lIns="0" tIns="0" rIns="0" bIns="0" rtlCol="0" anchor="ctr"/>
          <a:lstStyle/>
          <a:p>
            <a:pPr marL="0" indent="0">
              <a:buNone/>
            </a:pPr>
            <a:r>
              <a:rPr lang="en-US" sz="1600" b="1" dirty="0">
                <a:solidFill>
                  <a:srgbClr val="0B132B"/>
                </a:solidFill>
                <a:latin typeface="Times New Roman" panose="02020603050405020304" pitchFamily="18" charset="0"/>
                <a:ea typeface="Calibri" pitchFamily="34" charset="-122"/>
                <a:cs typeface="Times New Roman" panose="02020603050405020304" pitchFamily="18" charset="0"/>
              </a:rPr>
              <a:t>7,397</a:t>
            </a:r>
            <a:endParaRPr lang="en-US" sz="1600" dirty="0">
              <a:latin typeface="Times New Roman" panose="02020603050405020304" pitchFamily="18" charset="0"/>
              <a:cs typeface="Times New Roman" panose="02020603050405020304" pitchFamily="18" charset="0"/>
            </a:endParaRPr>
          </a:p>
        </p:txBody>
      </p:sp>
      <p:sp>
        <p:nvSpPr>
          <p:cNvPr id="18" name="Text 16"/>
          <p:cNvSpPr txBox="1"/>
          <p:nvPr/>
        </p:nvSpPr>
        <p:spPr>
          <a:xfrm>
            <a:off x="640080" y="4800600"/>
            <a:ext cx="1828800" cy="640080"/>
          </a:xfrm>
          <a:prstGeom prst="rect">
            <a:avLst/>
          </a:prstGeom>
          <a:noFill/>
          <a:ln/>
        </p:spPr>
        <p:txBody>
          <a:bodyPr wrap="square" lIns="0" tIns="0" rIns="0" bIns="0" rtlCol="0" anchor="ctr"/>
          <a:lstStyle/>
          <a:p>
            <a:pPr marL="0" indent="0">
              <a:buNone/>
            </a:pPr>
            <a:r>
              <a:rPr lang="en-US" sz="1500" b="1" dirty="0">
                <a:solidFill>
                  <a:srgbClr val="0B132B"/>
                </a:solidFill>
                <a:latin typeface="Times New Roman" panose="02020603050405020304" pitchFamily="18" charset="0"/>
                <a:ea typeface="Calibri" pitchFamily="34" charset="-122"/>
                <a:cs typeface="Times New Roman" panose="02020603050405020304" pitchFamily="18" charset="0"/>
              </a:rPr>
              <a:t>Tuberculosis</a:t>
            </a:r>
            <a:endParaRPr lang="en-US" sz="1500" dirty="0">
              <a:latin typeface="Times New Roman" panose="02020603050405020304" pitchFamily="18" charset="0"/>
              <a:cs typeface="Times New Roman" panose="02020603050405020304" pitchFamily="18" charset="0"/>
            </a:endParaRPr>
          </a:p>
        </p:txBody>
      </p:sp>
      <p:sp>
        <p:nvSpPr>
          <p:cNvPr id="19" name="Shape 17"/>
          <p:cNvSpPr/>
          <p:nvPr/>
        </p:nvSpPr>
        <p:spPr>
          <a:xfrm>
            <a:off x="2514600" y="4873752"/>
            <a:ext cx="2636077" cy="502920"/>
          </a:xfrm>
          <a:prstGeom prst="rect">
            <a:avLst/>
          </a:prstGeom>
          <a:solidFill>
            <a:srgbClr val="F2784B"/>
          </a:solidFill>
          <a:ln w="12700">
            <a:solidFill>
              <a:srgbClr val="F2784B"/>
            </a:solidFill>
            <a:prstDash val="solid"/>
          </a:ln>
        </p:spPr>
      </p:sp>
      <p:sp>
        <p:nvSpPr>
          <p:cNvPr id="20" name="Text 18"/>
          <p:cNvSpPr txBox="1"/>
          <p:nvPr/>
        </p:nvSpPr>
        <p:spPr>
          <a:xfrm>
            <a:off x="5260405" y="4800600"/>
            <a:ext cx="1097280" cy="640080"/>
          </a:xfrm>
          <a:prstGeom prst="rect">
            <a:avLst/>
          </a:prstGeom>
          <a:noFill/>
          <a:ln/>
        </p:spPr>
        <p:txBody>
          <a:bodyPr wrap="square" lIns="0" tIns="0" rIns="0" bIns="0" rtlCol="0" anchor="ctr"/>
          <a:lstStyle/>
          <a:p>
            <a:pPr marL="0" indent="0">
              <a:buNone/>
            </a:pPr>
            <a:r>
              <a:rPr lang="en-US" sz="1600" b="1" dirty="0">
                <a:solidFill>
                  <a:srgbClr val="0B132B"/>
                </a:solidFill>
                <a:latin typeface="Times New Roman" panose="02020603050405020304" pitchFamily="18" charset="0"/>
                <a:ea typeface="Calibri" pitchFamily="34" charset="-122"/>
                <a:cs typeface="Times New Roman" panose="02020603050405020304" pitchFamily="18" charset="0"/>
              </a:rPr>
              <a:t>4,897</a:t>
            </a:r>
            <a:endParaRPr lang="en-US" sz="1600" dirty="0">
              <a:latin typeface="Times New Roman" panose="02020603050405020304" pitchFamily="18" charset="0"/>
              <a:cs typeface="Times New Roman" panose="02020603050405020304" pitchFamily="18" charset="0"/>
            </a:endParaRPr>
          </a:p>
        </p:txBody>
      </p:sp>
      <p:sp>
        <p:nvSpPr>
          <p:cNvPr id="21" name="Text 19"/>
          <p:cNvSpPr txBox="1"/>
          <p:nvPr/>
        </p:nvSpPr>
        <p:spPr>
          <a:xfrm>
            <a:off x="2514600" y="5669280"/>
            <a:ext cx="5486400" cy="274320"/>
          </a:xfrm>
          <a:prstGeom prst="rect">
            <a:avLst/>
          </a:prstGeom>
          <a:noFill/>
          <a:ln/>
        </p:spPr>
        <p:txBody>
          <a:bodyPr wrap="square" lIns="0" tIns="0" rIns="0" bIns="0" rtlCol="0" anchor="t"/>
          <a:lstStyle/>
          <a:p>
            <a:pPr marL="0" indent="0">
              <a:buNone/>
            </a:pPr>
            <a:r>
              <a:rPr lang="en-US" sz="1000" dirty="0">
                <a:solidFill>
                  <a:srgbClr val="5B6B82"/>
                </a:solidFill>
                <a:latin typeface="Times New Roman" panose="02020603050405020304" pitchFamily="18" charset="0"/>
                <a:ea typeface="Calibri" pitchFamily="34" charset="-122"/>
                <a:cs typeface="Times New Roman" panose="02020603050405020304" pitchFamily="18" charset="0"/>
              </a:rPr>
              <a:t>Bars proportional to image counts (axis starts at 0)</a:t>
            </a:r>
            <a:endParaRPr lang="en-US" sz="1000" dirty="0">
              <a:latin typeface="Times New Roman" panose="02020603050405020304" pitchFamily="18" charset="0"/>
              <a:cs typeface="Times New Roman" panose="02020603050405020304" pitchFamily="18" charset="0"/>
            </a:endParaRPr>
          </a:p>
        </p:txBody>
      </p:sp>
      <p:sp>
        <p:nvSpPr>
          <p:cNvPr id="22" name="Shape 20"/>
          <p:cNvSpPr/>
          <p:nvPr/>
        </p:nvSpPr>
        <p:spPr>
          <a:xfrm>
            <a:off x="9144000" y="1554480"/>
            <a:ext cx="64008" cy="914400"/>
          </a:xfrm>
          <a:prstGeom prst="rect">
            <a:avLst/>
          </a:prstGeom>
          <a:solidFill>
            <a:srgbClr val="25C4B7"/>
          </a:solidFill>
          <a:ln w="12700">
            <a:solidFill>
              <a:srgbClr val="25C4B7"/>
            </a:solidFill>
            <a:prstDash val="solid"/>
          </a:ln>
        </p:spPr>
      </p:sp>
      <p:sp>
        <p:nvSpPr>
          <p:cNvPr id="23" name="Text 21"/>
          <p:cNvSpPr txBox="1"/>
          <p:nvPr/>
        </p:nvSpPr>
        <p:spPr>
          <a:xfrm>
            <a:off x="9372600" y="1508760"/>
            <a:ext cx="2468880" cy="548640"/>
          </a:xfrm>
          <a:prstGeom prst="rect">
            <a:avLst/>
          </a:prstGeom>
          <a:noFill/>
          <a:ln/>
        </p:spPr>
        <p:txBody>
          <a:bodyPr wrap="square" lIns="0" tIns="0" rIns="0" bIns="0" rtlCol="0" anchor="t"/>
          <a:lstStyle/>
          <a:p>
            <a:pPr marL="0" indent="0">
              <a:buNone/>
            </a:pPr>
            <a:r>
              <a:rPr lang="en-US" sz="2600" b="1" dirty="0">
                <a:solidFill>
                  <a:srgbClr val="25C4B7"/>
                </a:solidFill>
                <a:latin typeface="Times New Roman" panose="02020603050405020304" pitchFamily="18" charset="0"/>
                <a:ea typeface="Calibri" pitchFamily="34" charset="-122"/>
                <a:cs typeface="Times New Roman" panose="02020603050405020304" pitchFamily="18" charset="0"/>
              </a:rPr>
              <a:t>32,687</a:t>
            </a:r>
            <a:endParaRPr lang="en-US" sz="2600" dirty="0">
              <a:latin typeface="Times New Roman" panose="02020603050405020304" pitchFamily="18" charset="0"/>
              <a:cs typeface="Times New Roman" panose="02020603050405020304" pitchFamily="18" charset="0"/>
            </a:endParaRPr>
          </a:p>
        </p:txBody>
      </p:sp>
      <p:sp>
        <p:nvSpPr>
          <p:cNvPr id="24" name="Text 22"/>
          <p:cNvSpPr txBox="1"/>
          <p:nvPr/>
        </p:nvSpPr>
        <p:spPr>
          <a:xfrm>
            <a:off x="9372600" y="2103120"/>
            <a:ext cx="2377440" cy="411480"/>
          </a:xfrm>
          <a:prstGeom prst="rect">
            <a:avLst/>
          </a:prstGeom>
          <a:noFill/>
          <a:ln/>
        </p:spPr>
        <p:txBody>
          <a:bodyPr wrap="square" lIns="0" tIns="0" rIns="0" bIns="0" rtlCol="0" anchor="t"/>
          <a:lstStyle/>
          <a:p>
            <a:pPr marL="0" indent="0">
              <a:buNone/>
            </a:pPr>
            <a:r>
              <a:rPr lang="en-US" sz="1100" dirty="0">
                <a:solidFill>
                  <a:srgbClr val="5B6B82"/>
                </a:solidFill>
                <a:latin typeface="Times New Roman" panose="02020603050405020304" pitchFamily="18" charset="0"/>
                <a:ea typeface="Calibri" pitchFamily="34" charset="-122"/>
                <a:cs typeface="Times New Roman" panose="02020603050405020304" pitchFamily="18" charset="0"/>
              </a:rPr>
              <a:t>total images</a:t>
            </a:r>
            <a:endParaRPr lang="en-US" sz="1100" dirty="0">
              <a:latin typeface="Times New Roman" panose="02020603050405020304" pitchFamily="18" charset="0"/>
              <a:cs typeface="Times New Roman" panose="02020603050405020304" pitchFamily="18" charset="0"/>
            </a:endParaRPr>
          </a:p>
        </p:txBody>
      </p:sp>
      <p:sp>
        <p:nvSpPr>
          <p:cNvPr id="25" name="Shape 23"/>
          <p:cNvSpPr/>
          <p:nvPr/>
        </p:nvSpPr>
        <p:spPr>
          <a:xfrm>
            <a:off x="9144000" y="2834640"/>
            <a:ext cx="64008" cy="914400"/>
          </a:xfrm>
          <a:prstGeom prst="rect">
            <a:avLst/>
          </a:prstGeom>
          <a:solidFill>
            <a:srgbClr val="8B7CF6"/>
          </a:solidFill>
          <a:ln w="12700">
            <a:solidFill>
              <a:srgbClr val="8B7CF6"/>
            </a:solidFill>
            <a:prstDash val="solid"/>
          </a:ln>
        </p:spPr>
      </p:sp>
      <p:sp>
        <p:nvSpPr>
          <p:cNvPr id="26" name="Text 24"/>
          <p:cNvSpPr txBox="1"/>
          <p:nvPr/>
        </p:nvSpPr>
        <p:spPr>
          <a:xfrm>
            <a:off x="9372600" y="2788920"/>
            <a:ext cx="2468880" cy="548640"/>
          </a:xfrm>
          <a:prstGeom prst="rect">
            <a:avLst/>
          </a:prstGeom>
          <a:noFill/>
          <a:ln/>
        </p:spPr>
        <p:txBody>
          <a:bodyPr wrap="square" lIns="0" tIns="0" rIns="0" bIns="0" rtlCol="0" anchor="t"/>
          <a:lstStyle/>
          <a:p>
            <a:pPr marL="0" indent="0">
              <a:buNone/>
            </a:pPr>
            <a:r>
              <a:rPr lang="en-US" sz="2600" b="1" dirty="0">
                <a:solidFill>
                  <a:srgbClr val="8B7CF6"/>
                </a:solidFill>
                <a:latin typeface="Times New Roman" panose="02020603050405020304" pitchFamily="18" charset="0"/>
                <a:ea typeface="Calibri" pitchFamily="34" charset="-122"/>
                <a:cs typeface="Times New Roman" panose="02020603050405020304" pitchFamily="18" charset="0"/>
              </a:rPr>
              <a:t>6,540</a:t>
            </a:r>
            <a:endParaRPr lang="en-US" sz="2600" dirty="0">
              <a:latin typeface="Times New Roman" panose="02020603050405020304" pitchFamily="18" charset="0"/>
              <a:cs typeface="Times New Roman" panose="02020603050405020304" pitchFamily="18" charset="0"/>
            </a:endParaRPr>
          </a:p>
        </p:txBody>
      </p:sp>
      <p:sp>
        <p:nvSpPr>
          <p:cNvPr id="27" name="Text 25"/>
          <p:cNvSpPr txBox="1"/>
          <p:nvPr/>
        </p:nvSpPr>
        <p:spPr>
          <a:xfrm>
            <a:off x="9372600" y="3383280"/>
            <a:ext cx="2377440" cy="411480"/>
          </a:xfrm>
          <a:prstGeom prst="rect">
            <a:avLst/>
          </a:prstGeom>
          <a:noFill/>
          <a:ln/>
        </p:spPr>
        <p:txBody>
          <a:bodyPr wrap="square" lIns="0" tIns="0" rIns="0" bIns="0" rtlCol="0" anchor="t"/>
          <a:lstStyle/>
          <a:p>
            <a:pPr marL="0" indent="0">
              <a:buNone/>
            </a:pPr>
            <a:r>
              <a:rPr lang="en-US" sz="1100" dirty="0">
                <a:solidFill>
                  <a:srgbClr val="5B6B82"/>
                </a:solidFill>
                <a:latin typeface="Times New Roman" panose="02020603050405020304" pitchFamily="18" charset="0"/>
                <a:ea typeface="Calibri" pitchFamily="34" charset="-122"/>
                <a:cs typeface="Times New Roman" panose="02020603050405020304" pitchFamily="18" charset="0"/>
              </a:rPr>
              <a:t>fixed test split</a:t>
            </a:r>
            <a:endParaRPr lang="en-US" sz="1100" dirty="0">
              <a:latin typeface="Times New Roman" panose="02020603050405020304" pitchFamily="18" charset="0"/>
              <a:cs typeface="Times New Roman" panose="02020603050405020304" pitchFamily="18" charset="0"/>
            </a:endParaRPr>
          </a:p>
        </p:txBody>
      </p:sp>
      <p:sp>
        <p:nvSpPr>
          <p:cNvPr id="28" name="Shape 26"/>
          <p:cNvSpPr/>
          <p:nvPr/>
        </p:nvSpPr>
        <p:spPr>
          <a:xfrm>
            <a:off x="9144000" y="4114800"/>
            <a:ext cx="64008" cy="914400"/>
          </a:xfrm>
          <a:prstGeom prst="rect">
            <a:avLst/>
          </a:prstGeom>
          <a:solidFill>
            <a:srgbClr val="F2784B"/>
          </a:solidFill>
          <a:ln w="12700">
            <a:solidFill>
              <a:srgbClr val="F2784B"/>
            </a:solidFill>
            <a:prstDash val="solid"/>
          </a:ln>
        </p:spPr>
      </p:sp>
      <p:sp>
        <p:nvSpPr>
          <p:cNvPr id="29" name="Text 27"/>
          <p:cNvSpPr txBox="1"/>
          <p:nvPr/>
        </p:nvSpPr>
        <p:spPr>
          <a:xfrm>
            <a:off x="9372600" y="4069080"/>
            <a:ext cx="2468880" cy="548640"/>
          </a:xfrm>
          <a:prstGeom prst="rect">
            <a:avLst/>
          </a:prstGeom>
          <a:noFill/>
          <a:ln/>
        </p:spPr>
        <p:txBody>
          <a:bodyPr wrap="square" lIns="0" tIns="0" rIns="0" bIns="0" rtlCol="0" anchor="t"/>
          <a:lstStyle/>
          <a:p>
            <a:pPr marL="0" indent="0">
              <a:buNone/>
            </a:pPr>
            <a:r>
              <a:rPr lang="en-US" sz="2600" b="1" dirty="0">
                <a:solidFill>
                  <a:srgbClr val="F2784B"/>
                </a:solidFill>
                <a:latin typeface="Times New Roman" panose="02020603050405020304" pitchFamily="18" charset="0"/>
                <a:ea typeface="Calibri" pitchFamily="34" charset="-122"/>
                <a:cs typeface="Times New Roman" panose="02020603050405020304" pitchFamily="18" charset="0"/>
              </a:rPr>
              <a:t>≈ 2.4 : 1</a:t>
            </a:r>
            <a:endParaRPr lang="en-US" sz="2600" dirty="0">
              <a:latin typeface="Times New Roman" panose="02020603050405020304" pitchFamily="18" charset="0"/>
              <a:cs typeface="Times New Roman" panose="02020603050405020304" pitchFamily="18" charset="0"/>
            </a:endParaRPr>
          </a:p>
        </p:txBody>
      </p:sp>
      <p:sp>
        <p:nvSpPr>
          <p:cNvPr id="30" name="Text 28"/>
          <p:cNvSpPr txBox="1"/>
          <p:nvPr/>
        </p:nvSpPr>
        <p:spPr>
          <a:xfrm>
            <a:off x="9372600" y="4663440"/>
            <a:ext cx="2377440" cy="411480"/>
          </a:xfrm>
          <a:prstGeom prst="rect">
            <a:avLst/>
          </a:prstGeom>
          <a:noFill/>
          <a:ln/>
        </p:spPr>
        <p:txBody>
          <a:bodyPr wrap="square" lIns="0" tIns="0" rIns="0" bIns="0" rtlCol="0" anchor="t"/>
          <a:lstStyle/>
          <a:p>
            <a:pPr marL="0" indent="0">
              <a:buNone/>
            </a:pPr>
            <a:r>
              <a:rPr lang="en-US" sz="1100" dirty="0">
                <a:solidFill>
                  <a:srgbClr val="5B6B82"/>
                </a:solidFill>
                <a:latin typeface="Times New Roman" panose="02020603050405020304" pitchFamily="18" charset="0"/>
                <a:ea typeface="Calibri" pitchFamily="34" charset="-122"/>
                <a:cs typeface="Times New Roman" panose="02020603050405020304" pitchFamily="18" charset="0"/>
              </a:rPr>
              <a:t>Normal vs COVID-19 imbalance</a:t>
            </a:r>
            <a:endParaRPr lang="en-US" sz="1100" dirty="0">
              <a:latin typeface="Times New Roman" panose="02020603050405020304" pitchFamily="18" charset="0"/>
              <a:cs typeface="Times New Roman" panose="02020603050405020304" pitchFamily="18" charset="0"/>
            </a:endParaRPr>
          </a:p>
        </p:txBody>
      </p:sp>
      <p:sp>
        <p:nvSpPr>
          <p:cNvPr id="31" name="Text 29"/>
          <p:cNvSpPr txBox="1"/>
          <p:nvPr/>
        </p:nvSpPr>
        <p:spPr>
          <a:xfrm>
            <a:off x="640080" y="5943600"/>
            <a:ext cx="10789920" cy="365760"/>
          </a:xfrm>
          <a:prstGeom prst="rect">
            <a:avLst/>
          </a:prstGeom>
          <a:noFill/>
          <a:ln/>
        </p:spPr>
        <p:txBody>
          <a:bodyPr wrap="square" lIns="0" tIns="0" rIns="0" bIns="0" rtlCol="0" anchor="t"/>
          <a:lstStyle/>
          <a:p>
            <a:pPr marL="0" indent="0">
              <a:buNone/>
            </a:pPr>
            <a:r>
              <a:rPr lang="en-US" sz="1050" dirty="0">
                <a:solidFill>
                  <a:srgbClr val="5B6B82"/>
                </a:solidFill>
                <a:latin typeface="Times New Roman" panose="02020603050405020304" pitchFamily="18" charset="0"/>
                <a:ea typeface="Calibri" pitchFamily="34" charset="-122"/>
                <a:cs typeface="Times New Roman" panose="02020603050405020304" pitchFamily="18" charset="0"/>
              </a:rPr>
              <a:t>Source: Qatar University &amp; University of Dhaka (released 25 Sep 2021): COVID-19 Radiography Database plus Tuberculosis images; frontal views only. Imbalance is handled with class-weighted loss.</a:t>
            </a:r>
            <a:endParaRPr lang="en-US" sz="1050" dirty="0">
              <a:latin typeface="Times New Roman" panose="02020603050405020304" pitchFamily="18" charset="0"/>
              <a:cs typeface="Times New Roman" panose="02020603050405020304" pitchFamily="18" charset="0"/>
            </a:endParaRPr>
          </a:p>
        </p:txBody>
      </p:sp>
      <p:sp>
        <p:nvSpPr>
          <p:cNvPr id="32" name="Text 30"/>
          <p:cNvSpPr txBox="1"/>
          <p:nvPr/>
        </p:nvSpPr>
        <p:spPr>
          <a:xfrm>
            <a:off x="10881360" y="6446520"/>
            <a:ext cx="822960" cy="274320"/>
          </a:xfrm>
          <a:prstGeom prst="rect">
            <a:avLst/>
          </a:prstGeom>
          <a:noFill/>
          <a:ln/>
        </p:spPr>
        <p:txBody>
          <a:bodyPr wrap="square" lIns="0" tIns="0" rIns="0" bIns="0" rtlCol="0" anchor="t"/>
          <a:lstStyle/>
          <a:p>
            <a:pPr marL="0" indent="0" algn="r">
              <a:buNone/>
            </a:pPr>
            <a:r>
              <a:rPr lang="en-US" sz="1000" dirty="0">
                <a:solidFill>
                  <a:srgbClr val="5B6B82"/>
                </a:solidFill>
                <a:latin typeface="Times New Roman" panose="02020603050405020304" pitchFamily="18" charset="0"/>
                <a:ea typeface="Calibri" pitchFamily="34" charset="-122"/>
                <a:cs typeface="Times New Roman" panose="02020603050405020304" pitchFamily="18" charset="0"/>
              </a:rPr>
              <a:t>3 / 13</a:t>
            </a:r>
            <a:endParaRPr lang="en-US" sz="1000" dirty="0">
              <a:latin typeface="Times New Roman" panose="02020603050405020304" pitchFamily="18" charset="0"/>
              <a:cs typeface="Times New Roman" panose="02020603050405020304" pitchFamily="18" charset="0"/>
            </a:endParaRPr>
          </a:p>
        </p:txBody>
      </p:sp>
      <p:sp>
        <p:nvSpPr>
          <p:cNvPr id="33" name="Shape 31"/>
          <p:cNvSpPr/>
          <p:nvPr/>
        </p:nvSpPr>
        <p:spPr>
          <a:xfrm>
            <a:off x="548640" y="6400800"/>
            <a:ext cx="11064240" cy="9144"/>
          </a:xfrm>
          <a:prstGeom prst="rect">
            <a:avLst/>
          </a:prstGeom>
          <a:solidFill>
            <a:srgbClr val="C9D3DF"/>
          </a:solidFill>
          <a:ln w="12700">
            <a:solidFill>
              <a:srgbClr val="C9D3D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4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25C4B7"/>
          </a:solidFill>
          <a:ln w="12700">
            <a:solidFill>
              <a:srgbClr val="25C4B7"/>
            </a:solidFill>
            <a:prstDash val="solid"/>
          </a:ln>
        </p:spPr>
      </p:sp>
      <p:sp>
        <p:nvSpPr>
          <p:cNvPr id="3" name="Shape 1"/>
          <p:cNvSpPr/>
          <p:nvPr/>
        </p:nvSpPr>
        <p:spPr>
          <a:xfrm>
            <a:off x="548640" y="475488"/>
            <a:ext cx="128016" cy="128016"/>
          </a:xfrm>
          <a:prstGeom prst="ellipse">
            <a:avLst/>
          </a:prstGeom>
          <a:solidFill>
            <a:srgbClr val="25C4B7"/>
          </a:solidFill>
          <a:ln w="12700">
            <a:solidFill>
              <a:srgbClr val="25C4B7"/>
            </a:solidFill>
            <a:prstDash val="solid"/>
          </a:ln>
        </p:spPr>
      </p:sp>
      <p:sp>
        <p:nvSpPr>
          <p:cNvPr id="4" name="Text 2"/>
          <p:cNvSpPr txBox="1"/>
          <p:nvPr/>
        </p:nvSpPr>
        <p:spPr>
          <a:xfrm>
            <a:off x="777240" y="365760"/>
            <a:ext cx="10881360" cy="566928"/>
          </a:xfrm>
          <a:prstGeom prst="rect">
            <a:avLst/>
          </a:prstGeom>
          <a:noFill/>
          <a:ln/>
        </p:spPr>
        <p:txBody>
          <a:bodyPr wrap="square" lIns="0" tIns="0" rIns="0" bIns="0" rtlCol="0" anchor="t"/>
          <a:lstStyle/>
          <a:p>
            <a:pPr marL="0" indent="0">
              <a:buNone/>
            </a:pPr>
            <a:r>
              <a:rPr lang="en-US" sz="3000" b="1" dirty="0">
                <a:solidFill>
                  <a:srgbClr val="0B132B"/>
                </a:solidFill>
                <a:latin typeface="Times New Roman" panose="02020603050405020304" pitchFamily="18" charset="0"/>
                <a:ea typeface="Calibri" pitchFamily="34" charset="-122"/>
                <a:cs typeface="Times New Roman" panose="02020603050405020304" pitchFamily="18" charset="0"/>
              </a:rPr>
              <a:t>Existing Solutions</a:t>
            </a:r>
            <a:endParaRPr lang="en-US" sz="3000" dirty="0">
              <a:latin typeface="Times New Roman" panose="02020603050405020304" pitchFamily="18" charset="0"/>
              <a:cs typeface="Times New Roman" panose="02020603050405020304" pitchFamily="18" charset="0"/>
            </a:endParaRPr>
          </a:p>
        </p:txBody>
      </p:sp>
      <p:sp>
        <p:nvSpPr>
          <p:cNvPr id="5" name="Text 3"/>
          <p:cNvSpPr txBox="1"/>
          <p:nvPr/>
        </p:nvSpPr>
        <p:spPr>
          <a:xfrm>
            <a:off x="777240" y="932688"/>
            <a:ext cx="10881360" cy="320040"/>
          </a:xfrm>
          <a:prstGeom prst="rect">
            <a:avLst/>
          </a:prstGeom>
          <a:noFill/>
          <a:ln/>
        </p:spPr>
        <p:txBody>
          <a:bodyPr wrap="square" lIns="0" tIns="0" rIns="0" bIns="0" rtlCol="0" anchor="t"/>
          <a:lstStyle/>
          <a:p>
            <a:pPr marL="0" indent="0">
              <a:buNone/>
            </a:pPr>
            <a:r>
              <a:rPr lang="en-US" sz="1400" dirty="0">
                <a:solidFill>
                  <a:srgbClr val="5B6B82"/>
                </a:solidFill>
                <a:latin typeface="Times New Roman" panose="02020603050405020304" pitchFamily="18" charset="0"/>
                <a:ea typeface="Calibri" pitchFamily="34" charset="-122"/>
                <a:cs typeface="Times New Roman" panose="02020603050405020304" pitchFamily="18" charset="0"/>
              </a:rPr>
              <a:t>Established approaches, strengths and limitations</a:t>
            </a:r>
            <a:endParaRPr lang="en-US" sz="1400" dirty="0">
              <a:latin typeface="Times New Roman" panose="02020603050405020304" pitchFamily="18" charset="0"/>
              <a:cs typeface="Times New Roman" panose="02020603050405020304" pitchFamily="18" charset="0"/>
            </a:endParaRP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1064240" cy="3291840"/>
        </p:xfrm>
        <a:graphic>
          <a:graphicData uri="http://schemas.openxmlformats.org/drawingml/2006/table">
            <a:tbl>
              <a:tblPr/>
              <a:tblGrid>
                <a:gridCol w="32918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65836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0B13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Strength</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0B132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Limitation</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0B132B"/>
                    </a:solidFill>
                  </a:tcPr>
                </a:tc>
                <a:extLst>
                  <a:ext uri="{0D108BD9-81ED-4DB2-BD59-A6C34878D82A}">
                    <a16:rowId xmlns:a16="http://schemas.microsoft.com/office/drawing/2014/main" val="10000"/>
                  </a:ext>
                </a:extLst>
              </a:tr>
              <a:tr h="658368">
                <a:tc>
                  <a:txBody>
                    <a:bodyPr/>
                    <a:lstStyle/>
                    <a:p>
                      <a:pPr marL="0" indent="0">
                        <a:buNone/>
                      </a:pPr>
                      <a:r>
                        <a:rPr lang="en-US" sz="1300" b="1" dirty="0">
                          <a:solidFill>
                            <a:srgbClr val="0B132B"/>
                          </a:solidFill>
                          <a:latin typeface="Calibri" pitchFamily="34" charset="0"/>
                          <a:ea typeface="Calibri" pitchFamily="34" charset="-122"/>
                          <a:cs typeface="Calibri" pitchFamily="34" charset="-120"/>
                        </a:rPr>
                        <a:t>Conventional radiograph reading</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buNone/>
                      </a:pPr>
                      <a:r>
                        <a:rPr lang="en-US" sz="1300" dirty="0">
                          <a:solidFill>
                            <a:srgbClr val="0B132B"/>
                          </a:solidFill>
                          <a:latin typeface="Calibri" pitchFamily="34" charset="0"/>
                          <a:ea typeface="Calibri" pitchFamily="34" charset="-122"/>
                          <a:cs typeface="Calibri" pitchFamily="34" charset="-120"/>
                        </a:rPr>
                        <a:t>Low cost, widely available</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buNone/>
                      </a:pPr>
                      <a:r>
                        <a:rPr lang="en-US" sz="1300" dirty="0">
                          <a:solidFill>
                            <a:srgbClr val="0B132B"/>
                          </a:solidFill>
                          <a:latin typeface="Calibri" pitchFamily="34" charset="0"/>
                          <a:ea typeface="Calibri" pitchFamily="34" charset="-122"/>
                          <a:cs typeface="Calibri" pitchFamily="34" charset="-120"/>
                        </a:rPr>
                        <a:t>Observer variability; overlapping 2-D anatomy</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300" b="1" dirty="0">
                          <a:solidFill>
                            <a:srgbClr val="0B132B"/>
                          </a:solidFill>
                          <a:latin typeface="Calibri" pitchFamily="34" charset="0"/>
                          <a:ea typeface="Calibri" pitchFamily="34" charset="-122"/>
                          <a:cs typeface="Calibri" pitchFamily="34" charset="-120"/>
                        </a:rPr>
                        <a:t>Traditional CNN classification</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3F8FC"/>
                    </a:solidFill>
                  </a:tcPr>
                </a:tc>
                <a:tc>
                  <a:txBody>
                    <a:bodyPr/>
                    <a:lstStyle/>
                    <a:p>
                      <a:pPr marL="0" indent="0">
                        <a:buNone/>
                      </a:pPr>
                      <a:r>
                        <a:rPr lang="en-US" sz="1300" dirty="0">
                          <a:solidFill>
                            <a:srgbClr val="0B132B"/>
                          </a:solidFill>
                          <a:latin typeface="Calibri" pitchFamily="34" charset="0"/>
                          <a:ea typeface="Calibri" pitchFamily="34" charset="-122"/>
                          <a:cs typeface="Calibri" pitchFamily="34" charset="-120"/>
                        </a:rPr>
                        <a:t>Learns local image features automatically</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3F8FC"/>
                    </a:solidFill>
                  </a:tcPr>
                </a:tc>
                <a:tc>
                  <a:txBody>
                    <a:bodyPr/>
                    <a:lstStyle/>
                    <a:p>
                      <a:pPr marL="0" indent="0">
                        <a:buNone/>
                      </a:pPr>
                      <a:r>
                        <a:rPr lang="en-US" sz="1300" dirty="0">
                          <a:solidFill>
                            <a:srgbClr val="0B132B"/>
                          </a:solidFill>
                          <a:latin typeface="Calibri" pitchFamily="34" charset="0"/>
                          <a:ea typeface="Calibri" pitchFamily="34" charset="-122"/>
                          <a:cs typeface="Calibri" pitchFamily="34" charset="-120"/>
                        </a:rPr>
                        <a:t>Needs much data; may exploit shortcuts [4]</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3F8FC"/>
                    </a:solidFill>
                  </a:tcPr>
                </a:tc>
                <a:extLst>
                  <a:ext uri="{0D108BD9-81ED-4DB2-BD59-A6C34878D82A}">
                    <a16:rowId xmlns:a16="http://schemas.microsoft.com/office/drawing/2014/main" val="10002"/>
                  </a:ext>
                </a:extLst>
              </a:tr>
              <a:tr h="658368">
                <a:tc>
                  <a:txBody>
                    <a:bodyPr/>
                    <a:lstStyle/>
                    <a:p>
                      <a:pPr marL="0" indent="0">
                        <a:buNone/>
                      </a:pPr>
                      <a:r>
                        <a:rPr lang="en-US" sz="1300" b="1" dirty="0">
                          <a:solidFill>
                            <a:srgbClr val="0B132B"/>
                          </a:solidFill>
                          <a:latin typeface="Calibri" pitchFamily="34" charset="0"/>
                          <a:ea typeface="Calibri" pitchFamily="34" charset="-122"/>
                          <a:cs typeface="Calibri" pitchFamily="34" charset="-120"/>
                        </a:rPr>
                        <a:t>Transfer learning (VGG, ResNet)</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buNone/>
                      </a:pPr>
                      <a:r>
                        <a:rPr lang="en-US" sz="1300" dirty="0">
                          <a:solidFill>
                            <a:srgbClr val="0B132B"/>
                          </a:solidFill>
                          <a:latin typeface="Calibri" pitchFamily="34" charset="0"/>
                          <a:ea typeface="Calibri" pitchFamily="34" charset="-122"/>
                          <a:cs typeface="Calibri" pitchFamily="34" charset="-120"/>
                        </a:rPr>
                        <a:t>Pretrained features; faster convergence</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buNone/>
                      </a:pPr>
                      <a:r>
                        <a:rPr lang="en-US" sz="1300" dirty="0">
                          <a:solidFill>
                            <a:srgbClr val="0B132B"/>
                          </a:solidFill>
                          <a:latin typeface="Calibri" pitchFamily="34" charset="0"/>
                          <a:ea typeface="Calibri" pitchFamily="34" charset="-122"/>
                          <a:cs typeface="Calibri" pitchFamily="34" charset="-120"/>
                        </a:rPr>
                        <a:t>Source-domain mismatch; large models</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300" b="1" dirty="0">
                          <a:solidFill>
                            <a:srgbClr val="0B132B"/>
                          </a:solidFill>
                          <a:latin typeface="Calibri" pitchFamily="34" charset="0"/>
                          <a:ea typeface="Calibri" pitchFamily="34" charset="-122"/>
                          <a:cs typeface="Calibri" pitchFamily="34" charset="-120"/>
                        </a:rPr>
                        <a:t>Attention &amp; Vision Transformers</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3F8FC"/>
                    </a:solidFill>
                  </a:tcPr>
                </a:tc>
                <a:tc>
                  <a:txBody>
                    <a:bodyPr/>
                    <a:lstStyle/>
                    <a:p>
                      <a:pPr marL="0" indent="0">
                        <a:buNone/>
                      </a:pPr>
                      <a:r>
                        <a:rPr lang="en-US" sz="1300" dirty="0">
                          <a:solidFill>
                            <a:srgbClr val="0B132B"/>
                          </a:solidFill>
                          <a:latin typeface="Calibri" pitchFamily="34" charset="0"/>
                          <a:ea typeface="Calibri" pitchFamily="34" charset="-122"/>
                          <a:cs typeface="Calibri" pitchFamily="34" charset="-120"/>
                        </a:rPr>
                        <a:t>Focus on relevant regions / global context [9], [13]</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3F8FC"/>
                    </a:solidFill>
                  </a:tcPr>
                </a:tc>
                <a:tc>
                  <a:txBody>
                    <a:bodyPr/>
                    <a:lstStyle/>
                    <a:p>
                      <a:pPr marL="0" indent="0">
                        <a:buNone/>
                      </a:pPr>
                      <a:r>
                        <a:rPr lang="en-US" sz="1300" dirty="0">
                          <a:solidFill>
                            <a:srgbClr val="0B132B"/>
                          </a:solidFill>
                          <a:latin typeface="Calibri" pitchFamily="34" charset="0"/>
                          <a:ea typeface="Calibri" pitchFamily="34" charset="-122"/>
                          <a:cs typeface="Calibri" pitchFamily="34" charset="-120"/>
                        </a:rPr>
                        <a:t>Data-hungry; weaker when trained from scratch</a:t>
                      </a:r>
                      <a:endParaRPr lang="en-US" sz="1300" dirty="0">
                        <a:latin typeface="Calibri" charset="0"/>
                        <a:ea typeface="Calibri" charset="0"/>
                        <a:cs typeface="Calibri" charset="0"/>
                      </a:endParaRPr>
                    </a:p>
                  </a:txBody>
                  <a:tcPr anchor="ct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3F8FC"/>
                    </a:solidFill>
                  </a:tcPr>
                </a:tc>
                <a:extLst>
                  <a:ext uri="{0D108BD9-81ED-4DB2-BD59-A6C34878D82A}">
                    <a16:rowId xmlns:a16="http://schemas.microsoft.com/office/drawing/2014/main" val="10004"/>
                  </a:ext>
                </a:extLst>
              </a:tr>
            </a:tbl>
          </a:graphicData>
        </a:graphic>
      </p:graphicFrame>
      <p:sp>
        <p:nvSpPr>
          <p:cNvPr id="7" name="Shape 4"/>
          <p:cNvSpPr/>
          <p:nvPr/>
        </p:nvSpPr>
        <p:spPr>
          <a:xfrm>
            <a:off x="640080" y="5029200"/>
            <a:ext cx="11064240" cy="1097280"/>
          </a:xfrm>
          <a:prstGeom prst="roundRect">
            <a:avLst>
              <a:gd name="adj" fmla="val 8333"/>
            </a:avLst>
          </a:prstGeom>
          <a:solidFill>
            <a:srgbClr val="EAF7F6"/>
          </a:solidFill>
          <a:ln w="9525">
            <a:solidFill>
              <a:srgbClr val="25C4B7"/>
            </a:solidFill>
            <a:prstDash val="solid"/>
          </a:ln>
          <a:effectLst>
            <a:outerShdw blurRad="101600" dist="25400" dir="5400000" algn="bl" rotWithShape="0">
              <a:srgbClr val="000000">
                <a:alpha val="15000"/>
              </a:srgbClr>
            </a:outerShdw>
          </a:effectLst>
        </p:spPr>
      </p:sp>
      <p:sp>
        <p:nvSpPr>
          <p:cNvPr id="8" name="Text 5"/>
          <p:cNvSpPr txBox="1"/>
          <p:nvPr/>
        </p:nvSpPr>
        <p:spPr>
          <a:xfrm>
            <a:off x="868680" y="5102352"/>
            <a:ext cx="3657600" cy="274320"/>
          </a:xfrm>
          <a:prstGeom prst="rect">
            <a:avLst/>
          </a:prstGeom>
          <a:noFill/>
          <a:ln/>
        </p:spPr>
        <p:txBody>
          <a:bodyPr wrap="square" lIns="0" tIns="0" rIns="0" bIns="0" rtlCol="0" anchor="t"/>
          <a:lstStyle/>
          <a:p>
            <a:pPr marL="0" indent="0">
              <a:buNone/>
            </a:pPr>
            <a:r>
              <a:rPr lang="en-US" sz="1100" b="1" kern="0" spc="300" dirty="0">
                <a:solidFill>
                  <a:srgbClr val="25C4B7"/>
                </a:solidFill>
                <a:latin typeface="Times New Roman" panose="02020603050405020304" pitchFamily="18" charset="0"/>
                <a:ea typeface="Calibri" pitchFamily="34" charset="-122"/>
                <a:cs typeface="Times New Roman" panose="02020603050405020304" pitchFamily="18" charset="0"/>
              </a:rPr>
              <a:t>THIS PROJECT</a:t>
            </a:r>
            <a:endParaRPr lang="en-US" sz="1100" dirty="0">
              <a:latin typeface="Times New Roman" panose="02020603050405020304" pitchFamily="18" charset="0"/>
              <a:cs typeface="Times New Roman" panose="02020603050405020304" pitchFamily="18" charset="0"/>
            </a:endParaRPr>
          </a:p>
        </p:txBody>
      </p:sp>
      <p:sp>
        <p:nvSpPr>
          <p:cNvPr id="9" name="Text 6"/>
          <p:cNvSpPr txBox="1"/>
          <p:nvPr/>
        </p:nvSpPr>
        <p:spPr>
          <a:xfrm>
            <a:off x="868680" y="5440680"/>
            <a:ext cx="10607040" cy="640080"/>
          </a:xfrm>
          <a:prstGeom prst="rect">
            <a:avLst/>
          </a:prstGeom>
          <a:noFill/>
          <a:ln/>
        </p:spPr>
        <p:txBody>
          <a:bodyPr wrap="square" lIns="0" tIns="0" rIns="0" bIns="0" rtlCol="0" anchor="t"/>
          <a:lstStyle/>
          <a:p>
            <a:pPr marL="0" indent="0">
              <a:buNone/>
            </a:pPr>
            <a:r>
              <a:rPr lang="en-US" sz="1400" dirty="0">
                <a:solidFill>
                  <a:srgbClr val="0B132B"/>
                </a:solidFill>
                <a:latin typeface="Times New Roman" panose="02020603050405020304" pitchFamily="18" charset="0"/>
                <a:ea typeface="Calibri" pitchFamily="34" charset="-122"/>
                <a:cs typeface="Times New Roman" panose="02020603050405020304" pitchFamily="18" charset="0"/>
              </a:rPr>
              <a:t>Implements each family under one fixed split and preprocessing: Baseline CNN, VGG19 and ResNet50 (transfer learning), a Custom Spatial-Attention CNN and a from-scratch ViT.</a:t>
            </a:r>
            <a:endParaRPr lang="en-US" sz="1400" dirty="0">
              <a:latin typeface="Times New Roman" panose="02020603050405020304" pitchFamily="18" charset="0"/>
              <a:cs typeface="Times New Roman" panose="02020603050405020304" pitchFamily="18" charset="0"/>
            </a:endParaRPr>
          </a:p>
        </p:txBody>
      </p:sp>
      <p:sp>
        <p:nvSpPr>
          <p:cNvPr id="10" name="Text 7"/>
          <p:cNvSpPr txBox="1"/>
          <p:nvPr/>
        </p:nvSpPr>
        <p:spPr>
          <a:xfrm>
            <a:off x="10881360" y="6446520"/>
            <a:ext cx="822960" cy="274320"/>
          </a:xfrm>
          <a:prstGeom prst="rect">
            <a:avLst/>
          </a:prstGeom>
          <a:noFill/>
          <a:ln/>
        </p:spPr>
        <p:txBody>
          <a:bodyPr wrap="square" lIns="0" tIns="0" rIns="0" bIns="0" rtlCol="0" anchor="t"/>
          <a:lstStyle/>
          <a:p>
            <a:pPr marL="0" indent="0" algn="r">
              <a:buNone/>
            </a:pPr>
            <a:r>
              <a:rPr lang="en-US" sz="1000" dirty="0">
                <a:solidFill>
                  <a:srgbClr val="5B6B82"/>
                </a:solidFill>
                <a:latin typeface="Times New Roman" panose="02020603050405020304" pitchFamily="18" charset="0"/>
                <a:ea typeface="Calibri" pitchFamily="34" charset="-122"/>
                <a:cs typeface="Times New Roman" panose="02020603050405020304" pitchFamily="18" charset="0"/>
              </a:rPr>
              <a:t>4 / 13</a:t>
            </a:r>
            <a:endParaRPr lang="en-US" sz="1000" dirty="0">
              <a:latin typeface="Times New Roman" panose="02020603050405020304" pitchFamily="18" charset="0"/>
              <a:cs typeface="Times New Roman" panose="02020603050405020304" pitchFamily="18" charset="0"/>
            </a:endParaRPr>
          </a:p>
        </p:txBody>
      </p:sp>
      <p:sp>
        <p:nvSpPr>
          <p:cNvPr id="11" name="Shape 8"/>
          <p:cNvSpPr/>
          <p:nvPr/>
        </p:nvSpPr>
        <p:spPr>
          <a:xfrm>
            <a:off x="548640" y="6400800"/>
            <a:ext cx="11064240" cy="9144"/>
          </a:xfrm>
          <a:prstGeom prst="rect">
            <a:avLst/>
          </a:prstGeom>
          <a:solidFill>
            <a:srgbClr val="C9D3DF"/>
          </a:solidFill>
          <a:ln w="12700">
            <a:solidFill>
              <a:srgbClr val="C9D3D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2B"/>
        </a:solidFill>
        <a:effectLst/>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1C3D6E">
              <a:alpha val="30000"/>
            </a:srgbClr>
          </a:solidFill>
          <a:ln w="12700">
            <a:solidFill>
              <a:srgbClr val="1C3D6E"/>
            </a:solidFill>
            <a:prstDash val="solid"/>
          </a:ln>
        </p:spPr>
      </p:sp>
      <p:sp>
        <p:nvSpPr>
          <p:cNvPr id="3" name="Shape 1"/>
          <p:cNvSpPr/>
          <p:nvPr/>
        </p:nvSpPr>
        <p:spPr>
          <a:xfrm>
            <a:off x="548640" y="475488"/>
            <a:ext cx="128016" cy="128016"/>
          </a:xfrm>
          <a:prstGeom prst="ellipse">
            <a:avLst/>
          </a:prstGeom>
          <a:solidFill>
            <a:srgbClr val="25C4B7"/>
          </a:solidFill>
          <a:ln w="12700">
            <a:solidFill>
              <a:srgbClr val="25C4B7"/>
            </a:solidFill>
            <a:prstDash val="solid"/>
          </a:ln>
        </p:spPr>
      </p:sp>
      <p:sp>
        <p:nvSpPr>
          <p:cNvPr id="4" name="Text 2"/>
          <p:cNvSpPr txBox="1"/>
          <p:nvPr/>
        </p:nvSpPr>
        <p:spPr>
          <a:xfrm>
            <a:off x="777240" y="365760"/>
            <a:ext cx="10881360" cy="566928"/>
          </a:xfrm>
          <a:prstGeom prst="rect">
            <a:avLst/>
          </a:prstGeom>
          <a:noFill/>
          <a:ln/>
        </p:spPr>
        <p:txBody>
          <a:bodyPr wrap="square" lIns="0" tIns="0" rIns="0" bIns="0" rtlCol="0" anchor="t"/>
          <a:lstStyle/>
          <a:p>
            <a:pPr marL="0" indent="0">
              <a:buNone/>
            </a:pPr>
            <a:r>
              <a:rPr lang="en-US" sz="3000" b="1" dirty="0">
                <a:solidFill>
                  <a:srgbClr val="FFFFFF"/>
                </a:solidFill>
                <a:latin typeface="Times New Roman" panose="02020603050405020304" pitchFamily="18" charset="0"/>
                <a:ea typeface="Calibri" pitchFamily="34" charset="-122"/>
                <a:cs typeface="Times New Roman" panose="02020603050405020304" pitchFamily="18" charset="0"/>
              </a:rPr>
              <a:t>Proposed Solution</a:t>
            </a:r>
            <a:endParaRPr lang="en-US" sz="3000" dirty="0">
              <a:latin typeface="Times New Roman" panose="02020603050405020304" pitchFamily="18" charset="0"/>
              <a:cs typeface="Times New Roman" panose="02020603050405020304" pitchFamily="18" charset="0"/>
            </a:endParaRPr>
          </a:p>
        </p:txBody>
      </p:sp>
      <p:sp>
        <p:nvSpPr>
          <p:cNvPr id="5" name="Text 3"/>
          <p:cNvSpPr txBox="1"/>
          <p:nvPr/>
        </p:nvSpPr>
        <p:spPr>
          <a:xfrm>
            <a:off x="777240" y="932688"/>
            <a:ext cx="10881360" cy="320040"/>
          </a:xfrm>
          <a:prstGeom prst="rect">
            <a:avLst/>
          </a:prstGeom>
          <a:noFill/>
          <a:ln/>
        </p:spPr>
        <p:txBody>
          <a:bodyPr wrap="square" lIns="0" tIns="0" rIns="0" bIns="0" rtlCol="0" anchor="t"/>
          <a:lstStyle/>
          <a:p>
            <a:pPr marL="0" indent="0">
              <a:buNone/>
            </a:pPr>
            <a:r>
              <a:rPr lang="en-US" sz="1400" dirty="0">
                <a:solidFill>
                  <a:srgbClr val="9FD8E8"/>
                </a:solidFill>
                <a:latin typeface="Times New Roman" panose="02020603050405020304" pitchFamily="18" charset="0"/>
                <a:ea typeface="Calibri" pitchFamily="34" charset="-122"/>
                <a:cs typeface="Times New Roman" panose="02020603050405020304" pitchFamily="18" charset="0"/>
              </a:rPr>
              <a:t>A five-class classification system with an upload-to-report workflow</a:t>
            </a:r>
            <a:endParaRPr lang="en-US" sz="1400" dirty="0">
              <a:latin typeface="Times New Roman" panose="02020603050405020304" pitchFamily="18" charset="0"/>
              <a:cs typeface="Times New Roman" panose="02020603050405020304" pitchFamily="18" charset="0"/>
            </a:endParaRPr>
          </a:p>
        </p:txBody>
      </p:sp>
      <p:sp>
        <p:nvSpPr>
          <p:cNvPr id="6" name="Text 4"/>
          <p:cNvSpPr txBox="1"/>
          <p:nvPr/>
        </p:nvSpPr>
        <p:spPr>
          <a:xfrm>
            <a:off x="640080" y="1645920"/>
            <a:ext cx="914400" cy="822960"/>
          </a:xfrm>
          <a:prstGeom prst="rect">
            <a:avLst/>
          </a:prstGeom>
          <a:noFill/>
          <a:ln/>
        </p:spPr>
        <p:txBody>
          <a:bodyPr wrap="square" lIns="0" tIns="0" rIns="0" bIns="0" rtlCol="0" anchor="t"/>
          <a:lstStyle/>
          <a:p>
            <a:pPr marL="0" indent="0">
              <a:buNone/>
            </a:pPr>
            <a:r>
              <a:rPr lang="en-US" sz="5400" b="1" dirty="0">
                <a:solidFill>
                  <a:srgbClr val="25C4B7"/>
                </a:solidFill>
                <a:latin typeface="Times New Roman" panose="02020603050405020304" pitchFamily="18" charset="0"/>
                <a:ea typeface="Calibri" pitchFamily="34" charset="-122"/>
                <a:cs typeface="Times New Roman" panose="02020603050405020304" pitchFamily="18" charset="0"/>
              </a:rPr>
              <a:t>1</a:t>
            </a:r>
            <a:endParaRPr lang="en-US" sz="5400" dirty="0">
              <a:latin typeface="Times New Roman" panose="02020603050405020304" pitchFamily="18" charset="0"/>
              <a:cs typeface="Times New Roman" panose="02020603050405020304" pitchFamily="18" charset="0"/>
            </a:endParaRPr>
          </a:p>
        </p:txBody>
      </p:sp>
      <p:sp>
        <p:nvSpPr>
          <p:cNvPr id="7" name="Shape 5"/>
          <p:cNvSpPr/>
          <p:nvPr/>
        </p:nvSpPr>
        <p:spPr>
          <a:xfrm>
            <a:off x="640080" y="2560320"/>
            <a:ext cx="2560320" cy="36576"/>
          </a:xfrm>
          <a:prstGeom prst="rect">
            <a:avLst/>
          </a:prstGeom>
          <a:solidFill>
            <a:srgbClr val="25C4B7"/>
          </a:solidFill>
          <a:ln w="12700">
            <a:solidFill>
              <a:srgbClr val="25C4B7"/>
            </a:solidFill>
            <a:prstDash val="solid"/>
          </a:ln>
        </p:spPr>
      </p:sp>
      <p:sp>
        <p:nvSpPr>
          <p:cNvPr id="8" name="Text 6"/>
          <p:cNvSpPr txBox="1"/>
          <p:nvPr/>
        </p:nvSpPr>
        <p:spPr>
          <a:xfrm>
            <a:off x="640080" y="2743200"/>
            <a:ext cx="2560320" cy="457200"/>
          </a:xfrm>
          <a:prstGeom prst="rect">
            <a:avLst/>
          </a:prstGeom>
          <a:noFill/>
          <a:ln/>
        </p:spPr>
        <p:txBody>
          <a:bodyPr wrap="square" lIns="0" tIns="0" rIns="0" bIns="0" rtlCol="0" anchor="t"/>
          <a:lstStyle/>
          <a:p>
            <a:pPr marL="0" indent="0">
              <a:buNone/>
            </a:pP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Preprocess</a:t>
            </a:r>
            <a:endParaRPr lang="en-US" sz="1800" dirty="0">
              <a:latin typeface="Times New Roman" panose="02020603050405020304" pitchFamily="18" charset="0"/>
              <a:cs typeface="Times New Roman" panose="02020603050405020304" pitchFamily="18" charset="0"/>
            </a:endParaRPr>
          </a:p>
        </p:txBody>
      </p:sp>
      <p:sp>
        <p:nvSpPr>
          <p:cNvPr id="9" name="Text 7"/>
          <p:cNvSpPr txBox="1"/>
          <p:nvPr/>
        </p:nvSpPr>
        <p:spPr>
          <a:xfrm>
            <a:off x="640080" y="3246120"/>
            <a:ext cx="2468880" cy="1097280"/>
          </a:xfrm>
          <a:prstGeom prst="rect">
            <a:avLst/>
          </a:prstGeom>
          <a:noFill/>
          <a:ln/>
        </p:spPr>
        <p:txBody>
          <a:bodyPr wrap="square" lIns="0" tIns="0" rIns="0" bIns="0" rtlCol="0" anchor="t"/>
          <a:lstStyle/>
          <a:p>
            <a:pPr marL="0" indent="0">
              <a:buNone/>
            </a:pPr>
            <a:r>
              <a:rPr lang="en-US" sz="1300" dirty="0">
                <a:solidFill>
                  <a:srgbClr val="B7C6DD"/>
                </a:solidFill>
                <a:latin typeface="Times New Roman" panose="02020603050405020304" pitchFamily="18" charset="0"/>
                <a:ea typeface="Calibri" pitchFamily="34" charset="-122"/>
                <a:cs typeface="Times New Roman" panose="02020603050405020304" pitchFamily="18" charset="0"/>
              </a:rPr>
              <a:t>Zoom, CLAHE, sharpening, rescaling, zero-centring</a:t>
            </a:r>
            <a:endParaRPr lang="en-US" sz="1300" dirty="0">
              <a:latin typeface="Times New Roman" panose="02020603050405020304" pitchFamily="18" charset="0"/>
              <a:cs typeface="Times New Roman" panose="02020603050405020304" pitchFamily="18" charset="0"/>
            </a:endParaRPr>
          </a:p>
        </p:txBody>
      </p:sp>
      <p:sp>
        <p:nvSpPr>
          <p:cNvPr id="10" name="Text 8"/>
          <p:cNvSpPr txBox="1"/>
          <p:nvPr/>
        </p:nvSpPr>
        <p:spPr>
          <a:xfrm>
            <a:off x="3474720" y="1645920"/>
            <a:ext cx="914400" cy="822960"/>
          </a:xfrm>
          <a:prstGeom prst="rect">
            <a:avLst/>
          </a:prstGeom>
          <a:noFill/>
          <a:ln/>
        </p:spPr>
        <p:txBody>
          <a:bodyPr wrap="square" lIns="0" tIns="0" rIns="0" bIns="0" rtlCol="0" anchor="t"/>
          <a:lstStyle/>
          <a:p>
            <a:pPr marL="0" indent="0">
              <a:buNone/>
            </a:pPr>
            <a:r>
              <a:rPr lang="en-US" sz="5400" b="1" dirty="0">
                <a:solidFill>
                  <a:srgbClr val="8B7CF6"/>
                </a:solidFill>
                <a:latin typeface="Times New Roman" panose="02020603050405020304" pitchFamily="18" charset="0"/>
                <a:ea typeface="Calibri" pitchFamily="34" charset="-122"/>
                <a:cs typeface="Times New Roman" panose="02020603050405020304" pitchFamily="18" charset="0"/>
              </a:rPr>
              <a:t>2</a:t>
            </a:r>
            <a:endParaRPr lang="en-US" sz="5400" dirty="0">
              <a:latin typeface="Times New Roman" panose="02020603050405020304" pitchFamily="18" charset="0"/>
              <a:cs typeface="Times New Roman" panose="02020603050405020304" pitchFamily="18" charset="0"/>
            </a:endParaRPr>
          </a:p>
        </p:txBody>
      </p:sp>
      <p:sp>
        <p:nvSpPr>
          <p:cNvPr id="11" name="Shape 9"/>
          <p:cNvSpPr/>
          <p:nvPr/>
        </p:nvSpPr>
        <p:spPr>
          <a:xfrm>
            <a:off x="3474720" y="2560320"/>
            <a:ext cx="2560320" cy="36576"/>
          </a:xfrm>
          <a:prstGeom prst="rect">
            <a:avLst/>
          </a:prstGeom>
          <a:solidFill>
            <a:srgbClr val="8B7CF6"/>
          </a:solidFill>
          <a:ln w="12700">
            <a:solidFill>
              <a:srgbClr val="8B7CF6"/>
            </a:solidFill>
            <a:prstDash val="solid"/>
          </a:ln>
        </p:spPr>
      </p:sp>
      <p:sp>
        <p:nvSpPr>
          <p:cNvPr id="12" name="Text 10"/>
          <p:cNvSpPr txBox="1"/>
          <p:nvPr/>
        </p:nvSpPr>
        <p:spPr>
          <a:xfrm>
            <a:off x="3474720" y="2743200"/>
            <a:ext cx="2560320" cy="457200"/>
          </a:xfrm>
          <a:prstGeom prst="rect">
            <a:avLst/>
          </a:prstGeom>
          <a:noFill/>
          <a:ln/>
        </p:spPr>
        <p:txBody>
          <a:bodyPr wrap="square" lIns="0" tIns="0" rIns="0" bIns="0" rtlCol="0" anchor="t"/>
          <a:lstStyle/>
          <a:p>
            <a:pPr marL="0" indent="0">
              <a:buNone/>
            </a:pP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Compare five models</a:t>
            </a:r>
            <a:endParaRPr lang="en-US" sz="1800" dirty="0">
              <a:latin typeface="Times New Roman" panose="02020603050405020304" pitchFamily="18" charset="0"/>
              <a:cs typeface="Times New Roman" panose="02020603050405020304" pitchFamily="18" charset="0"/>
            </a:endParaRPr>
          </a:p>
        </p:txBody>
      </p:sp>
      <p:sp>
        <p:nvSpPr>
          <p:cNvPr id="13" name="Text 11"/>
          <p:cNvSpPr txBox="1"/>
          <p:nvPr/>
        </p:nvSpPr>
        <p:spPr>
          <a:xfrm>
            <a:off x="3474720" y="3246120"/>
            <a:ext cx="2468880" cy="1097280"/>
          </a:xfrm>
          <a:prstGeom prst="rect">
            <a:avLst/>
          </a:prstGeom>
          <a:noFill/>
          <a:ln/>
        </p:spPr>
        <p:txBody>
          <a:bodyPr wrap="square" lIns="0" tIns="0" rIns="0" bIns="0" rtlCol="0" anchor="t"/>
          <a:lstStyle/>
          <a:p>
            <a:pPr marL="0" indent="0">
              <a:buNone/>
            </a:pPr>
            <a:r>
              <a:rPr lang="en-US" sz="1300" dirty="0">
                <a:solidFill>
                  <a:srgbClr val="B7C6DD"/>
                </a:solidFill>
                <a:latin typeface="Times New Roman" panose="02020603050405020304" pitchFamily="18" charset="0"/>
                <a:ea typeface="Calibri" pitchFamily="34" charset="-122"/>
                <a:cs typeface="Times New Roman" panose="02020603050405020304" pitchFamily="18" charset="0"/>
              </a:rPr>
              <a:t>Baseline CNN · VGG19 · ResNet50 · Custom CNN · ViT</a:t>
            </a:r>
            <a:endParaRPr lang="en-US" sz="1300" dirty="0">
              <a:latin typeface="Times New Roman" panose="02020603050405020304" pitchFamily="18" charset="0"/>
              <a:cs typeface="Times New Roman" panose="02020603050405020304" pitchFamily="18" charset="0"/>
            </a:endParaRPr>
          </a:p>
        </p:txBody>
      </p:sp>
      <p:sp>
        <p:nvSpPr>
          <p:cNvPr id="14" name="Text 12"/>
          <p:cNvSpPr txBox="1"/>
          <p:nvPr/>
        </p:nvSpPr>
        <p:spPr>
          <a:xfrm>
            <a:off x="6309360" y="1645920"/>
            <a:ext cx="914400" cy="822960"/>
          </a:xfrm>
          <a:prstGeom prst="rect">
            <a:avLst/>
          </a:prstGeom>
          <a:noFill/>
          <a:ln/>
        </p:spPr>
        <p:txBody>
          <a:bodyPr wrap="square" lIns="0" tIns="0" rIns="0" bIns="0" rtlCol="0" anchor="t"/>
          <a:lstStyle/>
          <a:p>
            <a:pPr marL="0" indent="0">
              <a:buNone/>
            </a:pPr>
            <a:r>
              <a:rPr lang="en-US" sz="5400" b="1" dirty="0">
                <a:solidFill>
                  <a:srgbClr val="25C4B7"/>
                </a:solidFill>
                <a:latin typeface="Times New Roman" panose="02020603050405020304" pitchFamily="18" charset="0"/>
                <a:ea typeface="Calibri" pitchFamily="34" charset="-122"/>
                <a:cs typeface="Times New Roman" panose="02020603050405020304" pitchFamily="18" charset="0"/>
              </a:rPr>
              <a:t>3</a:t>
            </a:r>
            <a:endParaRPr lang="en-US" sz="5400" dirty="0">
              <a:latin typeface="Times New Roman" panose="02020603050405020304" pitchFamily="18" charset="0"/>
              <a:cs typeface="Times New Roman" panose="02020603050405020304" pitchFamily="18" charset="0"/>
            </a:endParaRPr>
          </a:p>
        </p:txBody>
      </p:sp>
      <p:sp>
        <p:nvSpPr>
          <p:cNvPr id="15" name="Shape 13"/>
          <p:cNvSpPr/>
          <p:nvPr/>
        </p:nvSpPr>
        <p:spPr>
          <a:xfrm>
            <a:off x="6309360" y="2560320"/>
            <a:ext cx="2560320" cy="36576"/>
          </a:xfrm>
          <a:prstGeom prst="rect">
            <a:avLst/>
          </a:prstGeom>
          <a:solidFill>
            <a:srgbClr val="25C4B7"/>
          </a:solidFill>
          <a:ln w="12700">
            <a:solidFill>
              <a:srgbClr val="25C4B7"/>
            </a:solidFill>
            <a:prstDash val="solid"/>
          </a:ln>
        </p:spPr>
      </p:sp>
      <p:sp>
        <p:nvSpPr>
          <p:cNvPr id="16" name="Text 14"/>
          <p:cNvSpPr txBox="1"/>
          <p:nvPr/>
        </p:nvSpPr>
        <p:spPr>
          <a:xfrm>
            <a:off x="6309360" y="2743200"/>
            <a:ext cx="2560320" cy="457200"/>
          </a:xfrm>
          <a:prstGeom prst="rect">
            <a:avLst/>
          </a:prstGeom>
          <a:noFill/>
          <a:ln/>
        </p:spPr>
        <p:txBody>
          <a:bodyPr wrap="square" lIns="0" tIns="0" rIns="0" bIns="0" rtlCol="0" anchor="t"/>
          <a:lstStyle/>
          <a:p>
            <a:pPr marL="0" indent="0">
              <a:buNone/>
            </a:pP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Handle imbalance</a:t>
            </a:r>
            <a:endParaRPr lang="en-US" sz="1800" dirty="0">
              <a:latin typeface="Times New Roman" panose="02020603050405020304" pitchFamily="18" charset="0"/>
              <a:cs typeface="Times New Roman" panose="02020603050405020304" pitchFamily="18" charset="0"/>
            </a:endParaRPr>
          </a:p>
        </p:txBody>
      </p:sp>
      <p:sp>
        <p:nvSpPr>
          <p:cNvPr id="17" name="Text 15"/>
          <p:cNvSpPr txBox="1"/>
          <p:nvPr/>
        </p:nvSpPr>
        <p:spPr>
          <a:xfrm>
            <a:off x="6309360" y="3246120"/>
            <a:ext cx="2468880" cy="1097280"/>
          </a:xfrm>
          <a:prstGeom prst="rect">
            <a:avLst/>
          </a:prstGeom>
          <a:noFill/>
          <a:ln/>
        </p:spPr>
        <p:txBody>
          <a:bodyPr wrap="square" lIns="0" tIns="0" rIns="0" bIns="0" rtlCol="0" anchor="t"/>
          <a:lstStyle/>
          <a:p>
            <a:pPr marL="0" indent="0">
              <a:buNone/>
            </a:pPr>
            <a:r>
              <a:rPr lang="en-US" sz="1300" dirty="0">
                <a:solidFill>
                  <a:srgbClr val="B7C6DD"/>
                </a:solidFill>
                <a:latin typeface="Times New Roman" panose="02020603050405020304" pitchFamily="18" charset="0"/>
                <a:ea typeface="Calibri" pitchFamily="34" charset="-122"/>
                <a:cs typeface="Times New Roman" panose="02020603050405020304" pitchFamily="18" charset="0"/>
              </a:rPr>
              <a:t>Class-weighted loss on 5 classes</a:t>
            </a:r>
            <a:endParaRPr lang="en-US" sz="1300" dirty="0">
              <a:latin typeface="Times New Roman" panose="02020603050405020304" pitchFamily="18" charset="0"/>
              <a:cs typeface="Times New Roman" panose="02020603050405020304" pitchFamily="18" charset="0"/>
            </a:endParaRPr>
          </a:p>
        </p:txBody>
      </p:sp>
      <p:sp>
        <p:nvSpPr>
          <p:cNvPr id="18" name="Text 16"/>
          <p:cNvSpPr txBox="1"/>
          <p:nvPr/>
        </p:nvSpPr>
        <p:spPr>
          <a:xfrm>
            <a:off x="9144000" y="1645920"/>
            <a:ext cx="914400" cy="822960"/>
          </a:xfrm>
          <a:prstGeom prst="rect">
            <a:avLst/>
          </a:prstGeom>
          <a:noFill/>
          <a:ln/>
        </p:spPr>
        <p:txBody>
          <a:bodyPr wrap="square" lIns="0" tIns="0" rIns="0" bIns="0" rtlCol="0" anchor="t"/>
          <a:lstStyle/>
          <a:p>
            <a:pPr marL="0" indent="0">
              <a:buNone/>
            </a:pPr>
            <a:r>
              <a:rPr lang="en-US" sz="5400" b="1" dirty="0">
                <a:solidFill>
                  <a:srgbClr val="8B7CF6"/>
                </a:solidFill>
                <a:latin typeface="Times New Roman" panose="02020603050405020304" pitchFamily="18" charset="0"/>
                <a:ea typeface="Calibri" pitchFamily="34" charset="-122"/>
                <a:cs typeface="Times New Roman" panose="02020603050405020304" pitchFamily="18" charset="0"/>
              </a:rPr>
              <a:t>4</a:t>
            </a:r>
            <a:endParaRPr lang="en-US" sz="5400" dirty="0">
              <a:latin typeface="Times New Roman" panose="02020603050405020304" pitchFamily="18" charset="0"/>
              <a:cs typeface="Times New Roman" panose="02020603050405020304" pitchFamily="18" charset="0"/>
            </a:endParaRPr>
          </a:p>
        </p:txBody>
      </p:sp>
      <p:sp>
        <p:nvSpPr>
          <p:cNvPr id="19" name="Shape 17"/>
          <p:cNvSpPr/>
          <p:nvPr/>
        </p:nvSpPr>
        <p:spPr>
          <a:xfrm>
            <a:off x="9144000" y="2560320"/>
            <a:ext cx="2560320" cy="36576"/>
          </a:xfrm>
          <a:prstGeom prst="rect">
            <a:avLst/>
          </a:prstGeom>
          <a:solidFill>
            <a:srgbClr val="8B7CF6"/>
          </a:solidFill>
          <a:ln w="12700">
            <a:solidFill>
              <a:srgbClr val="8B7CF6"/>
            </a:solidFill>
            <a:prstDash val="solid"/>
          </a:ln>
        </p:spPr>
      </p:sp>
      <p:sp>
        <p:nvSpPr>
          <p:cNvPr id="20" name="Text 18"/>
          <p:cNvSpPr txBox="1"/>
          <p:nvPr/>
        </p:nvSpPr>
        <p:spPr>
          <a:xfrm>
            <a:off x="9144000" y="2743200"/>
            <a:ext cx="2560320" cy="457200"/>
          </a:xfrm>
          <a:prstGeom prst="rect">
            <a:avLst/>
          </a:prstGeom>
          <a:noFill/>
          <a:ln/>
        </p:spPr>
        <p:txBody>
          <a:bodyPr wrap="square" lIns="0" tIns="0" rIns="0" bIns="0" rtlCol="0" anchor="t"/>
          <a:lstStyle/>
          <a:p>
            <a:pPr marL="0" indent="0">
              <a:buNone/>
            </a:pP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Website</a:t>
            </a:r>
            <a:endParaRPr lang="en-US" sz="1800" dirty="0">
              <a:latin typeface="Times New Roman" panose="02020603050405020304" pitchFamily="18" charset="0"/>
              <a:cs typeface="Times New Roman" panose="02020603050405020304" pitchFamily="18" charset="0"/>
            </a:endParaRPr>
          </a:p>
        </p:txBody>
      </p:sp>
      <p:sp>
        <p:nvSpPr>
          <p:cNvPr id="21" name="Text 19"/>
          <p:cNvSpPr txBox="1"/>
          <p:nvPr/>
        </p:nvSpPr>
        <p:spPr>
          <a:xfrm>
            <a:off x="9144000" y="3246120"/>
            <a:ext cx="2468880" cy="1097280"/>
          </a:xfrm>
          <a:prstGeom prst="rect">
            <a:avLst/>
          </a:prstGeom>
          <a:noFill/>
          <a:ln/>
        </p:spPr>
        <p:txBody>
          <a:bodyPr wrap="square" lIns="0" tIns="0" rIns="0" bIns="0" rtlCol="0" anchor="t"/>
          <a:lstStyle/>
          <a:p>
            <a:pPr marL="0" indent="0">
              <a:buNone/>
            </a:pPr>
            <a:r>
              <a:rPr lang="en-US" sz="1300" dirty="0">
                <a:solidFill>
                  <a:srgbClr val="B7C6DD"/>
                </a:solidFill>
                <a:latin typeface="Times New Roman" panose="02020603050405020304" pitchFamily="18" charset="0"/>
                <a:ea typeface="Calibri" pitchFamily="34" charset="-122"/>
                <a:cs typeface="Times New Roman" panose="02020603050405020304" pitchFamily="18" charset="0"/>
              </a:rPr>
              <a:t>Upload X-ray → model prediction → PDF report</a:t>
            </a:r>
            <a:endParaRPr lang="en-US" sz="1300" dirty="0">
              <a:latin typeface="Times New Roman" panose="02020603050405020304" pitchFamily="18" charset="0"/>
              <a:cs typeface="Times New Roman" panose="02020603050405020304" pitchFamily="18" charset="0"/>
            </a:endParaRPr>
          </a:p>
        </p:txBody>
      </p:sp>
      <p:sp>
        <p:nvSpPr>
          <p:cNvPr id="22" name="Text 20"/>
          <p:cNvSpPr txBox="1"/>
          <p:nvPr/>
        </p:nvSpPr>
        <p:spPr>
          <a:xfrm>
            <a:off x="640080" y="5120640"/>
            <a:ext cx="10972800" cy="457200"/>
          </a:xfrm>
          <a:prstGeom prst="rect">
            <a:avLst/>
          </a:prstGeom>
          <a:noFill/>
          <a:ln/>
        </p:spPr>
        <p:txBody>
          <a:bodyPr wrap="square" lIns="0" tIns="0" rIns="0" bIns="0" rtlCol="0" anchor="t"/>
          <a:lstStyle/>
          <a:p>
            <a:pPr marL="0" indent="0">
              <a:buNone/>
            </a:pPr>
            <a:r>
              <a:rPr lang="en-US" sz="1500" b="1" dirty="0">
                <a:solidFill>
                  <a:srgbClr val="25C4B7"/>
                </a:solidFill>
                <a:latin typeface="Times New Roman" panose="02020603050405020304" pitchFamily="18" charset="0"/>
                <a:ea typeface="Calibri" pitchFamily="34" charset="-122"/>
                <a:cs typeface="Times New Roman" panose="02020603050405020304" pitchFamily="18" charset="0"/>
              </a:rPr>
              <a:t>Decision-support concept — not a replacement for clinicians, and not clinically validated.</a:t>
            </a:r>
            <a:endParaRPr lang="en-US" sz="1500" dirty="0">
              <a:latin typeface="Times New Roman" panose="02020603050405020304" pitchFamily="18" charset="0"/>
              <a:cs typeface="Times New Roman" panose="02020603050405020304" pitchFamily="18" charset="0"/>
            </a:endParaRPr>
          </a:p>
        </p:txBody>
      </p:sp>
      <p:sp>
        <p:nvSpPr>
          <p:cNvPr id="23" name="Text 21"/>
          <p:cNvSpPr txBox="1"/>
          <p:nvPr/>
        </p:nvSpPr>
        <p:spPr>
          <a:xfrm>
            <a:off x="10881360" y="6446520"/>
            <a:ext cx="822960" cy="274320"/>
          </a:xfrm>
          <a:prstGeom prst="rect">
            <a:avLst/>
          </a:prstGeom>
          <a:noFill/>
          <a:ln/>
        </p:spPr>
        <p:txBody>
          <a:bodyPr wrap="square" lIns="0" tIns="0" rIns="0" bIns="0" rtlCol="0" anchor="t"/>
          <a:lstStyle/>
          <a:p>
            <a:pPr marL="0" indent="0" algn="r">
              <a:buNone/>
            </a:pPr>
            <a:r>
              <a:rPr lang="en-US" sz="1000" dirty="0">
                <a:solidFill>
                  <a:srgbClr val="25C4B7"/>
                </a:solidFill>
                <a:latin typeface="Times New Roman" panose="02020603050405020304" pitchFamily="18" charset="0"/>
                <a:ea typeface="Calibri" pitchFamily="34" charset="-122"/>
                <a:cs typeface="Times New Roman" panose="02020603050405020304" pitchFamily="18" charset="0"/>
              </a:rPr>
              <a:t>5 / 13</a:t>
            </a:r>
            <a:endParaRPr lang="en-US" sz="1000" dirty="0">
              <a:latin typeface="Times New Roman" panose="02020603050405020304" pitchFamily="18" charset="0"/>
              <a:cs typeface="Times New Roman" panose="02020603050405020304" pitchFamily="18" charset="0"/>
            </a:endParaRPr>
          </a:p>
        </p:txBody>
      </p:sp>
      <p:sp>
        <p:nvSpPr>
          <p:cNvPr id="24" name="Shape 22"/>
          <p:cNvSpPr/>
          <p:nvPr/>
        </p:nvSpPr>
        <p:spPr>
          <a:xfrm>
            <a:off x="548640" y="6400800"/>
            <a:ext cx="11064240" cy="9144"/>
          </a:xfrm>
          <a:prstGeom prst="rect">
            <a:avLst/>
          </a:prstGeom>
          <a:solidFill>
            <a:srgbClr val="1C3D6E"/>
          </a:solidFill>
          <a:ln w="12700">
            <a:solidFill>
              <a:srgbClr val="1C3D6E"/>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2B"/>
        </a:solidFill>
        <a:effectLst/>
      </p:bgPr>
    </p:bg>
    <p:spTree>
      <p:nvGrpSpPr>
        <p:cNvPr id="1" name=""/>
        <p:cNvGrpSpPr/>
        <p:nvPr/>
      </p:nvGrpSpPr>
      <p:grpSpPr>
        <a:xfrm>
          <a:off x="0" y="0"/>
          <a:ext cx="0" cy="0"/>
          <a:chOff x="0" y="0"/>
          <a:chExt cx="0" cy="0"/>
        </a:xfrm>
      </p:grpSpPr>
      <p:sp>
        <p:nvSpPr>
          <p:cNvPr id="3" name="Shape 1"/>
          <p:cNvSpPr/>
          <p:nvPr/>
        </p:nvSpPr>
        <p:spPr>
          <a:xfrm>
            <a:off x="548640" y="475488"/>
            <a:ext cx="128016" cy="128016"/>
          </a:xfrm>
          <a:prstGeom prst="ellipse">
            <a:avLst/>
          </a:prstGeom>
          <a:solidFill>
            <a:srgbClr val="25C4B7"/>
          </a:solidFill>
          <a:ln w="12700">
            <a:solidFill>
              <a:srgbClr val="25C4B7"/>
            </a:solidFill>
            <a:prstDash val="solid"/>
          </a:ln>
        </p:spPr>
      </p:sp>
      <p:sp>
        <p:nvSpPr>
          <p:cNvPr id="4" name="Text 2"/>
          <p:cNvSpPr txBox="1"/>
          <p:nvPr/>
        </p:nvSpPr>
        <p:spPr>
          <a:xfrm>
            <a:off x="777240" y="365760"/>
            <a:ext cx="10881360" cy="566928"/>
          </a:xfrm>
          <a:prstGeom prst="rect">
            <a:avLst/>
          </a:prstGeom>
          <a:noFill/>
          <a:ln/>
        </p:spPr>
        <p:txBody>
          <a:bodyPr wrap="square" lIns="0" tIns="0" rIns="0" bIns="0" rtlCol="0" anchor="t"/>
          <a:lstStyle/>
          <a:p>
            <a:pPr marL="0" indent="0">
              <a:buNone/>
            </a:pPr>
            <a:r>
              <a:rPr lang="en-US" sz="3000" b="1" dirty="0">
                <a:solidFill>
                  <a:srgbClr val="FFFFFF"/>
                </a:solidFill>
                <a:latin typeface="Times New Roman" panose="02020603050405020304" pitchFamily="18" charset="0"/>
                <a:ea typeface="Calibri" pitchFamily="34" charset="-122"/>
                <a:cs typeface="Times New Roman" panose="02020603050405020304" pitchFamily="18" charset="0"/>
              </a:rPr>
              <a:t>Methodology</a:t>
            </a:r>
            <a:endParaRPr lang="en-US" sz="3000" dirty="0">
              <a:latin typeface="Times New Roman" panose="02020603050405020304" pitchFamily="18" charset="0"/>
              <a:cs typeface="Times New Roman" panose="02020603050405020304" pitchFamily="18" charset="0"/>
            </a:endParaRPr>
          </a:p>
        </p:txBody>
      </p:sp>
      <p:sp>
        <p:nvSpPr>
          <p:cNvPr id="5" name="Text 3"/>
          <p:cNvSpPr txBox="1"/>
          <p:nvPr/>
        </p:nvSpPr>
        <p:spPr>
          <a:xfrm>
            <a:off x="777240" y="932688"/>
            <a:ext cx="10881360" cy="320040"/>
          </a:xfrm>
          <a:prstGeom prst="rect">
            <a:avLst/>
          </a:prstGeom>
          <a:noFill/>
          <a:ln/>
        </p:spPr>
        <p:txBody>
          <a:bodyPr wrap="square" lIns="0" tIns="0" rIns="0" bIns="0" rtlCol="0" anchor="t"/>
          <a:lstStyle/>
          <a:p>
            <a:pPr marL="0" indent="0">
              <a:buNone/>
            </a:pPr>
            <a:r>
              <a:rPr lang="en-US" sz="1400" dirty="0">
                <a:solidFill>
                  <a:srgbClr val="9FD8E8"/>
                </a:solidFill>
                <a:latin typeface="Times New Roman" panose="02020603050405020304" pitchFamily="18" charset="0"/>
                <a:ea typeface="Calibri" pitchFamily="34" charset="-122"/>
                <a:cs typeface="Times New Roman" panose="02020603050405020304" pitchFamily="18" charset="0"/>
              </a:rPr>
              <a:t>Pipeline, preprocessing parameters and training strategy</a:t>
            </a:r>
            <a:endParaRPr lang="en-US" sz="1400" dirty="0">
              <a:latin typeface="Times New Roman" panose="02020603050405020304" pitchFamily="18" charset="0"/>
              <a:cs typeface="Times New Roman" panose="02020603050405020304" pitchFamily="18" charset="0"/>
            </a:endParaRPr>
          </a:p>
        </p:txBody>
      </p:sp>
      <p:sp>
        <p:nvSpPr>
          <p:cNvPr id="6" name="Shape 4"/>
          <p:cNvSpPr/>
          <p:nvPr/>
        </p:nvSpPr>
        <p:spPr>
          <a:xfrm>
            <a:off x="731520" y="1600200"/>
            <a:ext cx="640080" cy="640080"/>
          </a:xfrm>
          <a:prstGeom prst="ellipse">
            <a:avLst/>
          </a:prstGeom>
          <a:solidFill>
            <a:srgbClr val="1C3D6E"/>
          </a:solidFill>
          <a:ln w="12700">
            <a:solidFill>
              <a:srgbClr val="1C3D6E"/>
            </a:solidFill>
            <a:prstDash val="solid"/>
          </a:ln>
        </p:spPr>
      </p:sp>
      <p:sp>
        <p:nvSpPr>
          <p:cNvPr id="7" name="Text 5"/>
          <p:cNvSpPr txBox="1"/>
          <p:nvPr/>
        </p:nvSpPr>
        <p:spPr>
          <a:xfrm>
            <a:off x="731520" y="1600200"/>
            <a:ext cx="640080" cy="640080"/>
          </a:xfrm>
          <a:prstGeom prst="rect">
            <a:avLst/>
          </a:prstGeom>
          <a:noFill/>
          <a:ln/>
        </p:spPr>
        <p:txBody>
          <a:bodyPr wrap="square" lIns="0" tIns="0" rIns="0" bIns="0" rtlCol="0" anchor="ctr"/>
          <a:lstStyle/>
          <a:p>
            <a:pPr marL="0" indent="0" algn="ctr">
              <a:buNone/>
            </a:pPr>
            <a:r>
              <a:rPr lang="en-US" sz="2000" b="1" dirty="0">
                <a:solidFill>
                  <a:srgbClr val="25C4B7"/>
                </a:solidFill>
                <a:latin typeface="Times New Roman" panose="02020603050405020304" pitchFamily="18" charset="0"/>
                <a:ea typeface="Calibri" pitchFamily="34" charset="-122"/>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p:txBody>
      </p:sp>
      <p:sp>
        <p:nvSpPr>
          <p:cNvPr id="8" name="Text 6"/>
          <p:cNvSpPr txBox="1"/>
          <p:nvPr/>
        </p:nvSpPr>
        <p:spPr>
          <a:xfrm>
            <a:off x="365760" y="2331720"/>
            <a:ext cx="137160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Dataset</a:t>
            </a:r>
            <a:endParaRPr lang="en-US" sz="1150" dirty="0">
              <a:latin typeface="Times New Roman" panose="02020603050405020304" pitchFamily="18" charset="0"/>
              <a:cs typeface="Times New Roman" panose="02020603050405020304" pitchFamily="18" charset="0"/>
            </a:endParaRPr>
          </a:p>
        </p:txBody>
      </p:sp>
      <p:sp>
        <p:nvSpPr>
          <p:cNvPr id="9" name="Shape 7"/>
          <p:cNvSpPr/>
          <p:nvPr/>
        </p:nvSpPr>
        <p:spPr>
          <a:xfrm>
            <a:off x="1409960" y="1920240"/>
            <a:ext cx="766312" cy="0"/>
          </a:xfrm>
          <a:prstGeom prst="line">
            <a:avLst/>
          </a:prstGeom>
          <a:noFill/>
          <a:ln w="19050">
            <a:solidFill>
              <a:srgbClr val="25C4B7"/>
            </a:solidFill>
            <a:prstDash val="solid"/>
            <a:tailEnd type="triangle"/>
          </a:ln>
        </p:spPr>
      </p:sp>
      <p:sp>
        <p:nvSpPr>
          <p:cNvPr id="10" name="Shape 8"/>
          <p:cNvSpPr/>
          <p:nvPr/>
        </p:nvSpPr>
        <p:spPr>
          <a:xfrm>
            <a:off x="2176272" y="1600200"/>
            <a:ext cx="640080" cy="640080"/>
          </a:xfrm>
          <a:prstGeom prst="ellipse">
            <a:avLst/>
          </a:prstGeom>
          <a:solidFill>
            <a:srgbClr val="1C3D6E"/>
          </a:solidFill>
          <a:ln w="12700">
            <a:solidFill>
              <a:srgbClr val="1C3D6E"/>
            </a:solidFill>
            <a:prstDash val="solid"/>
          </a:ln>
        </p:spPr>
      </p:sp>
      <p:sp>
        <p:nvSpPr>
          <p:cNvPr id="11" name="Text 9"/>
          <p:cNvSpPr txBox="1"/>
          <p:nvPr/>
        </p:nvSpPr>
        <p:spPr>
          <a:xfrm>
            <a:off x="2176272" y="1600200"/>
            <a:ext cx="640080" cy="640080"/>
          </a:xfrm>
          <a:prstGeom prst="rect">
            <a:avLst/>
          </a:prstGeom>
          <a:noFill/>
          <a:ln/>
        </p:spPr>
        <p:txBody>
          <a:bodyPr wrap="square" lIns="0" tIns="0" rIns="0" bIns="0" rtlCol="0" anchor="ctr"/>
          <a:lstStyle/>
          <a:p>
            <a:pPr marL="0" indent="0" algn="ctr">
              <a:buNone/>
            </a:pPr>
            <a:r>
              <a:rPr lang="en-US" sz="2000" b="1" dirty="0">
                <a:solidFill>
                  <a:srgbClr val="25C4B7"/>
                </a:solidFill>
                <a:latin typeface="Times New Roman" panose="02020603050405020304" pitchFamily="18" charset="0"/>
                <a:ea typeface="Calibri" pitchFamily="34" charset="-122"/>
                <a:cs typeface="Times New Roman" panose="02020603050405020304" pitchFamily="18" charset="0"/>
              </a:rPr>
              <a:t>2</a:t>
            </a:r>
            <a:endParaRPr lang="en-US" sz="2000" dirty="0">
              <a:latin typeface="Times New Roman" panose="02020603050405020304" pitchFamily="18" charset="0"/>
              <a:cs typeface="Times New Roman" panose="02020603050405020304" pitchFamily="18" charset="0"/>
            </a:endParaRPr>
          </a:p>
        </p:txBody>
      </p:sp>
      <p:sp>
        <p:nvSpPr>
          <p:cNvPr id="12" name="Text 10"/>
          <p:cNvSpPr txBox="1"/>
          <p:nvPr/>
        </p:nvSpPr>
        <p:spPr>
          <a:xfrm>
            <a:off x="1810512" y="2331720"/>
            <a:ext cx="137160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Exploratory</a:t>
            </a:r>
            <a:endParaRPr lang="en-US" sz="1150" dirty="0">
              <a:latin typeface="Times New Roman" panose="02020603050405020304" pitchFamily="18" charset="0"/>
              <a:cs typeface="Times New Roman" panose="02020603050405020304" pitchFamily="18" charset="0"/>
            </a:endParaRPr>
          </a:p>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Data Analysis</a:t>
            </a:r>
            <a:endParaRPr lang="en-US" sz="1150" dirty="0">
              <a:latin typeface="Times New Roman" panose="02020603050405020304" pitchFamily="18" charset="0"/>
              <a:cs typeface="Times New Roman" panose="02020603050405020304" pitchFamily="18" charset="0"/>
            </a:endParaRPr>
          </a:p>
        </p:txBody>
      </p:sp>
      <p:sp>
        <p:nvSpPr>
          <p:cNvPr id="13" name="Shape 11"/>
          <p:cNvSpPr/>
          <p:nvPr/>
        </p:nvSpPr>
        <p:spPr>
          <a:xfrm>
            <a:off x="2834640" y="1920240"/>
            <a:ext cx="786384" cy="0"/>
          </a:xfrm>
          <a:prstGeom prst="line">
            <a:avLst/>
          </a:prstGeom>
          <a:noFill/>
          <a:ln w="19050">
            <a:solidFill>
              <a:srgbClr val="25C4B7"/>
            </a:solidFill>
            <a:prstDash val="solid"/>
            <a:tailEnd type="triangle"/>
          </a:ln>
        </p:spPr>
      </p:sp>
      <p:sp>
        <p:nvSpPr>
          <p:cNvPr id="14" name="Shape 12"/>
          <p:cNvSpPr/>
          <p:nvPr/>
        </p:nvSpPr>
        <p:spPr>
          <a:xfrm>
            <a:off x="3621024" y="1600200"/>
            <a:ext cx="640080" cy="640080"/>
          </a:xfrm>
          <a:prstGeom prst="ellipse">
            <a:avLst/>
          </a:prstGeom>
          <a:solidFill>
            <a:srgbClr val="1C3D6E"/>
          </a:solidFill>
          <a:ln w="12700">
            <a:solidFill>
              <a:srgbClr val="1C3D6E"/>
            </a:solidFill>
            <a:prstDash val="solid"/>
          </a:ln>
        </p:spPr>
      </p:sp>
      <p:sp>
        <p:nvSpPr>
          <p:cNvPr id="15" name="Text 13"/>
          <p:cNvSpPr txBox="1"/>
          <p:nvPr/>
        </p:nvSpPr>
        <p:spPr>
          <a:xfrm>
            <a:off x="3621024" y="1600200"/>
            <a:ext cx="640080" cy="640080"/>
          </a:xfrm>
          <a:prstGeom prst="rect">
            <a:avLst/>
          </a:prstGeom>
          <a:noFill/>
          <a:ln/>
        </p:spPr>
        <p:txBody>
          <a:bodyPr wrap="square" lIns="0" tIns="0" rIns="0" bIns="0" rtlCol="0" anchor="ctr"/>
          <a:lstStyle/>
          <a:p>
            <a:pPr marL="0" indent="0" algn="ctr">
              <a:buNone/>
            </a:pPr>
            <a:r>
              <a:rPr lang="en-US" sz="2000" b="1" dirty="0">
                <a:solidFill>
                  <a:srgbClr val="25C4B7"/>
                </a:solidFill>
                <a:latin typeface="Times New Roman" panose="02020603050405020304" pitchFamily="18" charset="0"/>
                <a:ea typeface="Calibri" pitchFamily="34" charset="-122"/>
                <a:cs typeface="Times New Roman" panose="02020603050405020304" pitchFamily="18" charset="0"/>
              </a:rPr>
              <a:t>3</a:t>
            </a:r>
            <a:endParaRPr lang="en-US" sz="2000" dirty="0">
              <a:latin typeface="Times New Roman" panose="02020603050405020304" pitchFamily="18" charset="0"/>
              <a:cs typeface="Times New Roman" panose="02020603050405020304" pitchFamily="18" charset="0"/>
            </a:endParaRPr>
          </a:p>
        </p:txBody>
      </p:sp>
      <p:sp>
        <p:nvSpPr>
          <p:cNvPr id="16" name="Text 14"/>
          <p:cNvSpPr txBox="1"/>
          <p:nvPr/>
        </p:nvSpPr>
        <p:spPr>
          <a:xfrm>
            <a:off x="3255264" y="2331720"/>
            <a:ext cx="137160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Image</a:t>
            </a:r>
            <a:endParaRPr lang="en-US" sz="1150" dirty="0">
              <a:latin typeface="Times New Roman" panose="02020603050405020304" pitchFamily="18" charset="0"/>
              <a:cs typeface="Times New Roman" panose="02020603050405020304" pitchFamily="18" charset="0"/>
            </a:endParaRPr>
          </a:p>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Preprocessing</a:t>
            </a:r>
            <a:endParaRPr lang="en-US" sz="1150" dirty="0">
              <a:latin typeface="Times New Roman" panose="02020603050405020304" pitchFamily="18" charset="0"/>
              <a:cs typeface="Times New Roman" panose="02020603050405020304" pitchFamily="18" charset="0"/>
            </a:endParaRPr>
          </a:p>
        </p:txBody>
      </p:sp>
      <p:sp>
        <p:nvSpPr>
          <p:cNvPr id="17" name="Shape 15"/>
          <p:cNvSpPr/>
          <p:nvPr/>
        </p:nvSpPr>
        <p:spPr>
          <a:xfrm>
            <a:off x="4279392" y="1920240"/>
            <a:ext cx="786384" cy="0"/>
          </a:xfrm>
          <a:prstGeom prst="line">
            <a:avLst/>
          </a:prstGeom>
          <a:noFill/>
          <a:ln w="19050">
            <a:solidFill>
              <a:srgbClr val="25C4B7"/>
            </a:solidFill>
            <a:prstDash val="solid"/>
            <a:tailEnd type="triangle"/>
          </a:ln>
        </p:spPr>
      </p:sp>
      <p:sp>
        <p:nvSpPr>
          <p:cNvPr id="18" name="Shape 16"/>
          <p:cNvSpPr/>
          <p:nvPr/>
        </p:nvSpPr>
        <p:spPr>
          <a:xfrm>
            <a:off x="5065776" y="1600200"/>
            <a:ext cx="640080" cy="640080"/>
          </a:xfrm>
          <a:prstGeom prst="ellipse">
            <a:avLst/>
          </a:prstGeom>
          <a:solidFill>
            <a:srgbClr val="1C3D6E"/>
          </a:solidFill>
          <a:ln w="12700">
            <a:solidFill>
              <a:srgbClr val="1C3D6E"/>
            </a:solidFill>
            <a:prstDash val="solid"/>
          </a:ln>
        </p:spPr>
      </p:sp>
      <p:sp>
        <p:nvSpPr>
          <p:cNvPr id="19" name="Text 17"/>
          <p:cNvSpPr txBox="1"/>
          <p:nvPr/>
        </p:nvSpPr>
        <p:spPr>
          <a:xfrm>
            <a:off x="5065776" y="1600200"/>
            <a:ext cx="640080" cy="640080"/>
          </a:xfrm>
          <a:prstGeom prst="rect">
            <a:avLst/>
          </a:prstGeom>
          <a:noFill/>
          <a:ln/>
        </p:spPr>
        <p:txBody>
          <a:bodyPr wrap="square" lIns="0" tIns="0" rIns="0" bIns="0" rtlCol="0" anchor="ctr"/>
          <a:lstStyle/>
          <a:p>
            <a:pPr marL="0" indent="0" algn="ctr">
              <a:buNone/>
            </a:pPr>
            <a:r>
              <a:rPr lang="en-US" sz="2000" b="1" dirty="0">
                <a:solidFill>
                  <a:srgbClr val="25C4B7"/>
                </a:solidFill>
                <a:latin typeface="Times New Roman" panose="02020603050405020304" pitchFamily="18" charset="0"/>
                <a:ea typeface="Calibri" pitchFamily="34" charset="-122"/>
                <a:cs typeface="Times New Roman" panose="02020603050405020304" pitchFamily="18" charset="0"/>
              </a:rPr>
              <a:t>4</a:t>
            </a:r>
            <a:endParaRPr lang="en-US" sz="2000" dirty="0">
              <a:latin typeface="Times New Roman" panose="02020603050405020304" pitchFamily="18" charset="0"/>
              <a:cs typeface="Times New Roman" panose="02020603050405020304" pitchFamily="18" charset="0"/>
            </a:endParaRPr>
          </a:p>
        </p:txBody>
      </p:sp>
      <p:sp>
        <p:nvSpPr>
          <p:cNvPr id="20" name="Text 18"/>
          <p:cNvSpPr txBox="1"/>
          <p:nvPr/>
        </p:nvSpPr>
        <p:spPr>
          <a:xfrm>
            <a:off x="4700016" y="2331720"/>
            <a:ext cx="137160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Dataset</a:t>
            </a:r>
            <a:endParaRPr lang="en-US" sz="1150" dirty="0">
              <a:latin typeface="Times New Roman" panose="02020603050405020304" pitchFamily="18" charset="0"/>
              <a:cs typeface="Times New Roman" panose="02020603050405020304" pitchFamily="18" charset="0"/>
            </a:endParaRPr>
          </a:p>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Preparation</a:t>
            </a:r>
            <a:endParaRPr lang="en-US" sz="1150" dirty="0">
              <a:latin typeface="Times New Roman" panose="02020603050405020304" pitchFamily="18" charset="0"/>
              <a:cs typeface="Times New Roman" panose="02020603050405020304" pitchFamily="18" charset="0"/>
            </a:endParaRPr>
          </a:p>
        </p:txBody>
      </p:sp>
      <p:sp>
        <p:nvSpPr>
          <p:cNvPr id="21" name="Shape 19"/>
          <p:cNvSpPr/>
          <p:nvPr/>
        </p:nvSpPr>
        <p:spPr>
          <a:xfrm>
            <a:off x="5724144" y="1920240"/>
            <a:ext cx="786384" cy="0"/>
          </a:xfrm>
          <a:prstGeom prst="line">
            <a:avLst/>
          </a:prstGeom>
          <a:noFill/>
          <a:ln w="19050">
            <a:solidFill>
              <a:srgbClr val="25C4B7"/>
            </a:solidFill>
            <a:prstDash val="solid"/>
            <a:tailEnd type="triangle"/>
          </a:ln>
        </p:spPr>
      </p:sp>
      <p:sp>
        <p:nvSpPr>
          <p:cNvPr id="22" name="Shape 20"/>
          <p:cNvSpPr/>
          <p:nvPr/>
        </p:nvSpPr>
        <p:spPr>
          <a:xfrm>
            <a:off x="6510528" y="1600200"/>
            <a:ext cx="640080" cy="640080"/>
          </a:xfrm>
          <a:prstGeom prst="ellipse">
            <a:avLst/>
          </a:prstGeom>
          <a:solidFill>
            <a:srgbClr val="25C4B7"/>
          </a:solidFill>
          <a:ln w="12700">
            <a:solidFill>
              <a:srgbClr val="25C4B7"/>
            </a:solidFill>
            <a:prstDash val="solid"/>
          </a:ln>
        </p:spPr>
      </p:sp>
      <p:sp>
        <p:nvSpPr>
          <p:cNvPr id="23" name="Text 21"/>
          <p:cNvSpPr txBox="1"/>
          <p:nvPr/>
        </p:nvSpPr>
        <p:spPr>
          <a:xfrm>
            <a:off x="6510528" y="1600200"/>
            <a:ext cx="640080" cy="640080"/>
          </a:xfrm>
          <a:prstGeom prst="rect">
            <a:avLst/>
          </a:prstGeom>
          <a:noFill/>
          <a:ln/>
        </p:spPr>
        <p:txBody>
          <a:bodyPr wrap="square" lIns="0" tIns="0" rIns="0" bIns="0" rtlCol="0" anchor="ctr"/>
          <a:lstStyle/>
          <a:p>
            <a:pPr marL="0" indent="0" algn="ctr">
              <a:buNone/>
            </a:pPr>
            <a:r>
              <a:rPr lang="en-US" sz="2000" b="1" dirty="0">
                <a:solidFill>
                  <a:srgbClr val="0B132B"/>
                </a:solidFill>
                <a:latin typeface="Times New Roman" panose="02020603050405020304" pitchFamily="18" charset="0"/>
                <a:ea typeface="Calibri" pitchFamily="34" charset="-122"/>
                <a:cs typeface="Times New Roman" panose="02020603050405020304" pitchFamily="18" charset="0"/>
              </a:rPr>
              <a:t>5</a:t>
            </a:r>
            <a:endParaRPr lang="en-US" sz="2000" dirty="0">
              <a:latin typeface="Times New Roman" panose="02020603050405020304" pitchFamily="18" charset="0"/>
              <a:cs typeface="Times New Roman" panose="02020603050405020304" pitchFamily="18" charset="0"/>
            </a:endParaRPr>
          </a:p>
        </p:txBody>
      </p:sp>
      <p:sp>
        <p:nvSpPr>
          <p:cNvPr id="24" name="Text 22"/>
          <p:cNvSpPr txBox="1"/>
          <p:nvPr/>
        </p:nvSpPr>
        <p:spPr>
          <a:xfrm>
            <a:off x="6144768" y="2331720"/>
            <a:ext cx="137160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Model</a:t>
            </a:r>
            <a:endParaRPr lang="en-US" sz="1150" dirty="0">
              <a:latin typeface="Times New Roman" panose="02020603050405020304" pitchFamily="18" charset="0"/>
              <a:cs typeface="Times New Roman" panose="02020603050405020304" pitchFamily="18" charset="0"/>
            </a:endParaRPr>
          </a:p>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Training</a:t>
            </a:r>
            <a:endParaRPr lang="en-US" sz="1150" dirty="0">
              <a:latin typeface="Times New Roman" panose="02020603050405020304" pitchFamily="18" charset="0"/>
              <a:cs typeface="Times New Roman" panose="02020603050405020304" pitchFamily="18" charset="0"/>
            </a:endParaRPr>
          </a:p>
        </p:txBody>
      </p:sp>
      <p:sp>
        <p:nvSpPr>
          <p:cNvPr id="25" name="Shape 23"/>
          <p:cNvSpPr/>
          <p:nvPr/>
        </p:nvSpPr>
        <p:spPr>
          <a:xfrm>
            <a:off x="7168896" y="1920240"/>
            <a:ext cx="786384" cy="0"/>
          </a:xfrm>
          <a:prstGeom prst="line">
            <a:avLst/>
          </a:prstGeom>
          <a:noFill/>
          <a:ln w="19050">
            <a:solidFill>
              <a:srgbClr val="25C4B7"/>
            </a:solidFill>
            <a:prstDash val="solid"/>
            <a:tailEnd type="triangle"/>
          </a:ln>
        </p:spPr>
      </p:sp>
      <p:sp>
        <p:nvSpPr>
          <p:cNvPr id="26" name="Shape 24"/>
          <p:cNvSpPr/>
          <p:nvPr/>
        </p:nvSpPr>
        <p:spPr>
          <a:xfrm>
            <a:off x="7955280" y="1600200"/>
            <a:ext cx="640080" cy="640080"/>
          </a:xfrm>
          <a:prstGeom prst="ellipse">
            <a:avLst/>
          </a:prstGeom>
          <a:solidFill>
            <a:srgbClr val="1C3D6E"/>
          </a:solidFill>
          <a:ln w="12700">
            <a:solidFill>
              <a:srgbClr val="1C3D6E"/>
            </a:solidFill>
            <a:prstDash val="solid"/>
          </a:ln>
        </p:spPr>
      </p:sp>
      <p:sp>
        <p:nvSpPr>
          <p:cNvPr id="27" name="Text 25"/>
          <p:cNvSpPr txBox="1"/>
          <p:nvPr/>
        </p:nvSpPr>
        <p:spPr>
          <a:xfrm>
            <a:off x="7955280" y="1600200"/>
            <a:ext cx="640080" cy="640080"/>
          </a:xfrm>
          <a:prstGeom prst="rect">
            <a:avLst/>
          </a:prstGeom>
          <a:noFill/>
          <a:ln/>
        </p:spPr>
        <p:txBody>
          <a:bodyPr wrap="square" lIns="0" tIns="0" rIns="0" bIns="0" rtlCol="0" anchor="ctr"/>
          <a:lstStyle/>
          <a:p>
            <a:pPr marL="0" indent="0" algn="ctr">
              <a:buNone/>
            </a:pPr>
            <a:r>
              <a:rPr lang="en-US" sz="2000" b="1" dirty="0">
                <a:solidFill>
                  <a:srgbClr val="25C4B7"/>
                </a:solidFill>
                <a:latin typeface="Times New Roman" panose="02020603050405020304" pitchFamily="18" charset="0"/>
                <a:ea typeface="Calibri" pitchFamily="34" charset="-122"/>
                <a:cs typeface="Times New Roman" panose="02020603050405020304" pitchFamily="18" charset="0"/>
              </a:rPr>
              <a:t>6</a:t>
            </a:r>
            <a:endParaRPr lang="en-US" sz="2000" dirty="0">
              <a:latin typeface="Times New Roman" panose="02020603050405020304" pitchFamily="18" charset="0"/>
              <a:cs typeface="Times New Roman" panose="02020603050405020304" pitchFamily="18" charset="0"/>
            </a:endParaRPr>
          </a:p>
        </p:txBody>
      </p:sp>
      <p:sp>
        <p:nvSpPr>
          <p:cNvPr id="28" name="Text 26"/>
          <p:cNvSpPr txBox="1"/>
          <p:nvPr/>
        </p:nvSpPr>
        <p:spPr>
          <a:xfrm>
            <a:off x="7589520" y="2331720"/>
            <a:ext cx="137160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Performance</a:t>
            </a:r>
            <a:endParaRPr lang="en-US" sz="1150" dirty="0">
              <a:latin typeface="Times New Roman" panose="02020603050405020304" pitchFamily="18" charset="0"/>
              <a:cs typeface="Times New Roman" panose="02020603050405020304" pitchFamily="18" charset="0"/>
            </a:endParaRPr>
          </a:p>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Evaluation</a:t>
            </a:r>
            <a:endParaRPr lang="en-US" sz="1150" dirty="0">
              <a:latin typeface="Times New Roman" panose="02020603050405020304" pitchFamily="18" charset="0"/>
              <a:cs typeface="Times New Roman" panose="02020603050405020304" pitchFamily="18" charset="0"/>
            </a:endParaRPr>
          </a:p>
        </p:txBody>
      </p:sp>
      <p:sp>
        <p:nvSpPr>
          <p:cNvPr id="29" name="Shape 27"/>
          <p:cNvSpPr/>
          <p:nvPr/>
        </p:nvSpPr>
        <p:spPr>
          <a:xfrm>
            <a:off x="8613648" y="1920240"/>
            <a:ext cx="786384" cy="0"/>
          </a:xfrm>
          <a:prstGeom prst="line">
            <a:avLst/>
          </a:prstGeom>
          <a:noFill/>
          <a:ln w="19050">
            <a:solidFill>
              <a:srgbClr val="25C4B7"/>
            </a:solidFill>
            <a:prstDash val="solid"/>
            <a:tailEnd type="triangle"/>
          </a:ln>
        </p:spPr>
      </p:sp>
      <p:sp>
        <p:nvSpPr>
          <p:cNvPr id="30" name="Shape 28"/>
          <p:cNvSpPr/>
          <p:nvPr/>
        </p:nvSpPr>
        <p:spPr>
          <a:xfrm>
            <a:off x="9400032" y="1600200"/>
            <a:ext cx="640080" cy="640080"/>
          </a:xfrm>
          <a:prstGeom prst="ellipse">
            <a:avLst/>
          </a:prstGeom>
          <a:solidFill>
            <a:srgbClr val="1C3D6E"/>
          </a:solidFill>
          <a:ln w="12700">
            <a:solidFill>
              <a:srgbClr val="1C3D6E"/>
            </a:solidFill>
            <a:prstDash val="solid"/>
          </a:ln>
        </p:spPr>
      </p:sp>
      <p:sp>
        <p:nvSpPr>
          <p:cNvPr id="31" name="Text 29"/>
          <p:cNvSpPr txBox="1"/>
          <p:nvPr/>
        </p:nvSpPr>
        <p:spPr>
          <a:xfrm>
            <a:off x="9400032" y="1600200"/>
            <a:ext cx="640080" cy="640080"/>
          </a:xfrm>
          <a:prstGeom prst="rect">
            <a:avLst/>
          </a:prstGeom>
          <a:noFill/>
          <a:ln/>
        </p:spPr>
        <p:txBody>
          <a:bodyPr wrap="square" lIns="0" tIns="0" rIns="0" bIns="0" rtlCol="0" anchor="ctr"/>
          <a:lstStyle/>
          <a:p>
            <a:pPr marL="0" indent="0" algn="ctr">
              <a:buNone/>
            </a:pPr>
            <a:r>
              <a:rPr lang="en-US" sz="2000" b="1" dirty="0">
                <a:solidFill>
                  <a:srgbClr val="25C4B7"/>
                </a:solidFill>
                <a:latin typeface="Times New Roman" panose="02020603050405020304" pitchFamily="18" charset="0"/>
                <a:ea typeface="Calibri" pitchFamily="34" charset="-122"/>
                <a:cs typeface="Times New Roman" panose="02020603050405020304" pitchFamily="18" charset="0"/>
              </a:rPr>
              <a:t>7</a:t>
            </a:r>
            <a:endParaRPr lang="en-US" sz="2000" dirty="0">
              <a:latin typeface="Times New Roman" panose="02020603050405020304" pitchFamily="18" charset="0"/>
              <a:cs typeface="Times New Roman" panose="02020603050405020304" pitchFamily="18" charset="0"/>
            </a:endParaRPr>
          </a:p>
        </p:txBody>
      </p:sp>
      <p:sp>
        <p:nvSpPr>
          <p:cNvPr id="32" name="Text 30"/>
          <p:cNvSpPr txBox="1"/>
          <p:nvPr/>
        </p:nvSpPr>
        <p:spPr>
          <a:xfrm>
            <a:off x="9034272" y="2331720"/>
            <a:ext cx="137160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Explainability</a:t>
            </a:r>
            <a:endParaRPr lang="en-US" sz="1150" dirty="0">
              <a:latin typeface="Times New Roman" panose="02020603050405020304" pitchFamily="18" charset="0"/>
              <a:cs typeface="Times New Roman" panose="02020603050405020304" pitchFamily="18" charset="0"/>
            </a:endParaRPr>
          </a:p>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Analysis</a:t>
            </a:r>
            <a:endParaRPr lang="en-US" sz="1150" dirty="0">
              <a:latin typeface="Times New Roman" panose="02020603050405020304" pitchFamily="18" charset="0"/>
              <a:cs typeface="Times New Roman" panose="02020603050405020304" pitchFamily="18" charset="0"/>
            </a:endParaRPr>
          </a:p>
        </p:txBody>
      </p:sp>
      <p:sp>
        <p:nvSpPr>
          <p:cNvPr id="33" name="Shape 31"/>
          <p:cNvSpPr/>
          <p:nvPr/>
        </p:nvSpPr>
        <p:spPr>
          <a:xfrm>
            <a:off x="10058400" y="1920240"/>
            <a:ext cx="786384" cy="0"/>
          </a:xfrm>
          <a:prstGeom prst="line">
            <a:avLst/>
          </a:prstGeom>
          <a:noFill/>
          <a:ln w="19050">
            <a:solidFill>
              <a:srgbClr val="25C4B7"/>
            </a:solidFill>
            <a:prstDash val="solid"/>
            <a:tailEnd type="triangle"/>
          </a:ln>
        </p:spPr>
      </p:sp>
      <p:sp>
        <p:nvSpPr>
          <p:cNvPr id="34" name="Shape 32"/>
          <p:cNvSpPr/>
          <p:nvPr/>
        </p:nvSpPr>
        <p:spPr>
          <a:xfrm>
            <a:off x="10844784" y="1600200"/>
            <a:ext cx="640080" cy="640080"/>
          </a:xfrm>
          <a:prstGeom prst="ellipse">
            <a:avLst/>
          </a:prstGeom>
          <a:solidFill>
            <a:srgbClr val="1C3D6E"/>
          </a:solidFill>
          <a:ln w="12700">
            <a:solidFill>
              <a:srgbClr val="1C3D6E"/>
            </a:solidFill>
            <a:prstDash val="solid"/>
          </a:ln>
        </p:spPr>
      </p:sp>
      <p:sp>
        <p:nvSpPr>
          <p:cNvPr id="35" name="Text 33"/>
          <p:cNvSpPr txBox="1"/>
          <p:nvPr/>
        </p:nvSpPr>
        <p:spPr>
          <a:xfrm>
            <a:off x="10844784" y="1600200"/>
            <a:ext cx="640080" cy="640080"/>
          </a:xfrm>
          <a:prstGeom prst="rect">
            <a:avLst/>
          </a:prstGeom>
          <a:noFill/>
          <a:ln/>
        </p:spPr>
        <p:txBody>
          <a:bodyPr wrap="square" lIns="0" tIns="0" rIns="0" bIns="0" rtlCol="0" anchor="ctr"/>
          <a:lstStyle/>
          <a:p>
            <a:pPr marL="0" indent="0" algn="ctr">
              <a:buNone/>
            </a:pPr>
            <a:r>
              <a:rPr lang="en-US" sz="2000" b="1" dirty="0">
                <a:solidFill>
                  <a:srgbClr val="25C4B7"/>
                </a:solidFill>
                <a:latin typeface="Times New Roman" panose="02020603050405020304" pitchFamily="18" charset="0"/>
                <a:ea typeface="Calibri" pitchFamily="34" charset="-122"/>
                <a:cs typeface="Times New Roman" panose="02020603050405020304" pitchFamily="18" charset="0"/>
              </a:rPr>
              <a:t>8</a:t>
            </a:r>
            <a:endParaRPr lang="en-US" sz="2000" dirty="0">
              <a:latin typeface="Times New Roman" panose="02020603050405020304" pitchFamily="18" charset="0"/>
              <a:cs typeface="Times New Roman" panose="02020603050405020304" pitchFamily="18" charset="0"/>
            </a:endParaRPr>
          </a:p>
        </p:txBody>
      </p:sp>
      <p:sp>
        <p:nvSpPr>
          <p:cNvPr id="36" name="Text 34"/>
          <p:cNvSpPr txBox="1"/>
          <p:nvPr/>
        </p:nvSpPr>
        <p:spPr>
          <a:xfrm>
            <a:off x="10479024" y="2331720"/>
            <a:ext cx="1371600" cy="548640"/>
          </a:xfrm>
          <a:prstGeom prst="rect">
            <a:avLst/>
          </a:prstGeom>
          <a:noFill/>
          <a:ln/>
        </p:spPr>
        <p:txBody>
          <a:bodyPr wrap="square" lIns="0" tIns="0" rIns="0" bIns="0" rtlCol="0" anchor="t"/>
          <a:lstStyle/>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Classification</a:t>
            </a:r>
            <a:endParaRPr lang="en-US" sz="1150" dirty="0">
              <a:latin typeface="Times New Roman" panose="02020603050405020304" pitchFamily="18" charset="0"/>
              <a:cs typeface="Times New Roman" panose="02020603050405020304" pitchFamily="18" charset="0"/>
            </a:endParaRPr>
          </a:p>
          <a:p>
            <a:pPr marL="0" indent="0" algn="ctr">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Output</a:t>
            </a:r>
            <a:endParaRPr lang="en-US" sz="1150" dirty="0">
              <a:latin typeface="Times New Roman" panose="02020603050405020304" pitchFamily="18" charset="0"/>
              <a:cs typeface="Times New Roman" panose="02020603050405020304" pitchFamily="18" charset="0"/>
            </a:endParaRPr>
          </a:p>
        </p:txBody>
      </p:sp>
      <p:sp>
        <p:nvSpPr>
          <p:cNvPr id="37" name="Text 35"/>
          <p:cNvSpPr txBox="1"/>
          <p:nvPr/>
        </p:nvSpPr>
        <p:spPr>
          <a:xfrm>
            <a:off x="640080" y="3291840"/>
            <a:ext cx="5486400" cy="274320"/>
          </a:xfrm>
          <a:prstGeom prst="rect">
            <a:avLst/>
          </a:prstGeom>
          <a:noFill/>
          <a:ln/>
        </p:spPr>
        <p:txBody>
          <a:bodyPr wrap="square" lIns="0" tIns="0" rIns="0" bIns="0" rtlCol="0" anchor="t"/>
          <a:lstStyle/>
          <a:p>
            <a:pPr marL="0" indent="0">
              <a:buNone/>
            </a:pPr>
            <a:r>
              <a:rPr lang="en-US" sz="1100" b="1" kern="0" spc="300" dirty="0">
                <a:solidFill>
                  <a:srgbClr val="25C4B7"/>
                </a:solidFill>
                <a:latin typeface="Times New Roman" panose="02020603050405020304" pitchFamily="18" charset="0"/>
                <a:ea typeface="Calibri" pitchFamily="34" charset="-122"/>
                <a:cs typeface="Times New Roman" panose="02020603050405020304" pitchFamily="18" charset="0"/>
              </a:rPr>
              <a:t>PREPROCESSING PARAMETERS</a:t>
            </a:r>
            <a:endParaRPr lang="en-US" sz="1100" dirty="0">
              <a:latin typeface="Times New Roman" panose="02020603050405020304" pitchFamily="18" charset="0"/>
              <a:cs typeface="Times New Roman" panose="02020603050405020304" pitchFamily="18" charset="0"/>
            </a:endParaRPr>
          </a:p>
        </p:txBody>
      </p:sp>
      <p:sp>
        <p:nvSpPr>
          <p:cNvPr id="38" name="Text 36"/>
          <p:cNvSpPr txBox="1"/>
          <p:nvPr/>
        </p:nvSpPr>
        <p:spPr>
          <a:xfrm>
            <a:off x="640080" y="3657600"/>
            <a:ext cx="2194560" cy="365760"/>
          </a:xfrm>
          <a:prstGeom prst="rect">
            <a:avLst/>
          </a:prstGeom>
          <a:noFill/>
          <a:ln/>
        </p:spPr>
        <p:txBody>
          <a:bodyPr wrap="square" lIns="0" tIns="0" rIns="0" bIns="0" rtlCol="0" anchor="t"/>
          <a:lstStyle/>
          <a:p>
            <a:pPr marL="0" indent="0">
              <a:buNone/>
            </a:pPr>
            <a:r>
              <a:rPr lang="en-US" sz="1300" dirty="0">
                <a:solidFill>
                  <a:srgbClr val="B7C6DD"/>
                </a:solidFill>
                <a:latin typeface="Times New Roman" panose="02020603050405020304" pitchFamily="18" charset="0"/>
                <a:ea typeface="Calibri" pitchFamily="34" charset="-122"/>
                <a:cs typeface="Times New Roman" panose="02020603050405020304" pitchFamily="18" charset="0"/>
              </a:rPr>
              <a:t>Zoom</a:t>
            </a:r>
            <a:endParaRPr lang="en-US" sz="1300" dirty="0">
              <a:latin typeface="Times New Roman" panose="02020603050405020304" pitchFamily="18" charset="0"/>
              <a:cs typeface="Times New Roman" panose="02020603050405020304" pitchFamily="18" charset="0"/>
            </a:endParaRPr>
          </a:p>
        </p:txBody>
      </p:sp>
      <p:sp>
        <p:nvSpPr>
          <p:cNvPr id="39" name="Text 37"/>
          <p:cNvSpPr txBox="1"/>
          <p:nvPr/>
        </p:nvSpPr>
        <p:spPr>
          <a:xfrm>
            <a:off x="2834640" y="3657600"/>
            <a:ext cx="3291840" cy="365760"/>
          </a:xfrm>
          <a:prstGeom prst="rect">
            <a:avLst/>
          </a:prstGeom>
          <a:noFill/>
          <a:ln/>
        </p:spPr>
        <p:txBody>
          <a:bodyPr wrap="square" lIns="0" tIns="0" rIns="0" bIns="0" rtlCol="0" anchor="t"/>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0.83</a:t>
            </a:r>
            <a:endParaRPr lang="en-US" sz="1400" dirty="0">
              <a:latin typeface="Times New Roman" panose="02020603050405020304" pitchFamily="18" charset="0"/>
              <a:cs typeface="Times New Roman" panose="02020603050405020304" pitchFamily="18" charset="0"/>
            </a:endParaRPr>
          </a:p>
        </p:txBody>
      </p:sp>
      <p:sp>
        <p:nvSpPr>
          <p:cNvPr id="40" name="Text 38"/>
          <p:cNvSpPr txBox="1"/>
          <p:nvPr/>
        </p:nvSpPr>
        <p:spPr>
          <a:xfrm>
            <a:off x="640080" y="4114800"/>
            <a:ext cx="2194560" cy="365760"/>
          </a:xfrm>
          <a:prstGeom prst="rect">
            <a:avLst/>
          </a:prstGeom>
          <a:noFill/>
          <a:ln/>
        </p:spPr>
        <p:txBody>
          <a:bodyPr wrap="square" lIns="0" tIns="0" rIns="0" bIns="0" rtlCol="0" anchor="t"/>
          <a:lstStyle/>
          <a:p>
            <a:pPr marL="0" indent="0">
              <a:buNone/>
            </a:pPr>
            <a:r>
              <a:rPr lang="en-US" sz="1300" dirty="0">
                <a:solidFill>
                  <a:srgbClr val="B7C6DD"/>
                </a:solidFill>
                <a:latin typeface="Times New Roman" panose="02020603050405020304" pitchFamily="18" charset="0"/>
                <a:ea typeface="Calibri" pitchFamily="34" charset="-122"/>
                <a:cs typeface="Times New Roman" panose="02020603050405020304" pitchFamily="18" charset="0"/>
              </a:rPr>
              <a:t>CLAHE clip limit</a:t>
            </a:r>
            <a:endParaRPr lang="en-US" sz="1300" dirty="0">
              <a:latin typeface="Times New Roman" panose="02020603050405020304" pitchFamily="18" charset="0"/>
              <a:cs typeface="Times New Roman" panose="02020603050405020304" pitchFamily="18" charset="0"/>
            </a:endParaRPr>
          </a:p>
        </p:txBody>
      </p:sp>
      <p:sp>
        <p:nvSpPr>
          <p:cNvPr id="41" name="Text 39"/>
          <p:cNvSpPr txBox="1"/>
          <p:nvPr/>
        </p:nvSpPr>
        <p:spPr>
          <a:xfrm>
            <a:off x="2834640" y="4114800"/>
            <a:ext cx="3291840" cy="365760"/>
          </a:xfrm>
          <a:prstGeom prst="rect">
            <a:avLst/>
          </a:prstGeom>
          <a:noFill/>
          <a:ln/>
        </p:spPr>
        <p:txBody>
          <a:bodyPr wrap="square" lIns="0" tIns="0" rIns="0" bIns="0" rtlCol="0" anchor="t"/>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2</a:t>
            </a:r>
            <a:endParaRPr lang="en-US" sz="1400" dirty="0">
              <a:latin typeface="Times New Roman" panose="02020603050405020304" pitchFamily="18" charset="0"/>
              <a:cs typeface="Times New Roman" panose="02020603050405020304" pitchFamily="18" charset="0"/>
            </a:endParaRPr>
          </a:p>
        </p:txBody>
      </p:sp>
      <p:sp>
        <p:nvSpPr>
          <p:cNvPr id="42" name="Text 40"/>
          <p:cNvSpPr txBox="1"/>
          <p:nvPr/>
        </p:nvSpPr>
        <p:spPr>
          <a:xfrm>
            <a:off x="640080" y="4572000"/>
            <a:ext cx="2194560" cy="365760"/>
          </a:xfrm>
          <a:prstGeom prst="rect">
            <a:avLst/>
          </a:prstGeom>
          <a:noFill/>
          <a:ln/>
        </p:spPr>
        <p:txBody>
          <a:bodyPr wrap="square" lIns="0" tIns="0" rIns="0" bIns="0" rtlCol="0" anchor="t"/>
          <a:lstStyle/>
          <a:p>
            <a:pPr marL="0" indent="0">
              <a:buNone/>
            </a:pPr>
            <a:r>
              <a:rPr lang="en-US" sz="1300" dirty="0">
                <a:solidFill>
                  <a:srgbClr val="B7C6DD"/>
                </a:solidFill>
                <a:latin typeface="Times New Roman" panose="02020603050405020304" pitchFamily="18" charset="0"/>
                <a:ea typeface="Calibri" pitchFamily="34" charset="-122"/>
                <a:cs typeface="Times New Roman" panose="02020603050405020304" pitchFamily="18" charset="0"/>
              </a:rPr>
              <a:t>CLAHE grid size</a:t>
            </a:r>
            <a:endParaRPr lang="en-US" sz="1300" dirty="0">
              <a:latin typeface="Times New Roman" panose="02020603050405020304" pitchFamily="18" charset="0"/>
              <a:cs typeface="Times New Roman" panose="02020603050405020304" pitchFamily="18" charset="0"/>
            </a:endParaRPr>
          </a:p>
        </p:txBody>
      </p:sp>
      <p:sp>
        <p:nvSpPr>
          <p:cNvPr id="43" name="Text 41"/>
          <p:cNvSpPr txBox="1"/>
          <p:nvPr/>
        </p:nvSpPr>
        <p:spPr>
          <a:xfrm>
            <a:off x="2834640" y="4572000"/>
            <a:ext cx="3291840" cy="365760"/>
          </a:xfrm>
          <a:prstGeom prst="rect">
            <a:avLst/>
          </a:prstGeom>
          <a:noFill/>
          <a:ln/>
        </p:spPr>
        <p:txBody>
          <a:bodyPr wrap="square" lIns="0" tIns="0" rIns="0" bIns="0" rtlCol="0" anchor="t"/>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15</a:t>
            </a:r>
            <a:endParaRPr lang="en-US" sz="1400" dirty="0">
              <a:latin typeface="Times New Roman" panose="02020603050405020304" pitchFamily="18" charset="0"/>
              <a:cs typeface="Times New Roman" panose="02020603050405020304" pitchFamily="18" charset="0"/>
            </a:endParaRPr>
          </a:p>
        </p:txBody>
      </p:sp>
      <p:sp>
        <p:nvSpPr>
          <p:cNvPr id="44" name="Text 42"/>
          <p:cNvSpPr txBox="1"/>
          <p:nvPr/>
        </p:nvSpPr>
        <p:spPr>
          <a:xfrm>
            <a:off x="640080" y="5029200"/>
            <a:ext cx="2194560" cy="365760"/>
          </a:xfrm>
          <a:prstGeom prst="rect">
            <a:avLst/>
          </a:prstGeom>
          <a:noFill/>
          <a:ln/>
        </p:spPr>
        <p:txBody>
          <a:bodyPr wrap="square" lIns="0" tIns="0" rIns="0" bIns="0" rtlCol="0" anchor="t"/>
          <a:lstStyle/>
          <a:p>
            <a:pPr marL="0" indent="0">
              <a:buNone/>
            </a:pPr>
            <a:r>
              <a:rPr lang="en-US" sz="1300" dirty="0">
                <a:solidFill>
                  <a:srgbClr val="B7C6DD"/>
                </a:solidFill>
                <a:latin typeface="Times New Roman" panose="02020603050405020304" pitchFamily="18" charset="0"/>
                <a:ea typeface="Calibri" pitchFamily="34" charset="-122"/>
                <a:cs typeface="Times New Roman" panose="02020603050405020304" pitchFamily="18" charset="0"/>
              </a:rPr>
              <a:t>Sharpening kernel</a:t>
            </a:r>
            <a:endParaRPr lang="en-US" sz="1300" dirty="0">
              <a:latin typeface="Times New Roman" panose="02020603050405020304" pitchFamily="18" charset="0"/>
              <a:cs typeface="Times New Roman" panose="02020603050405020304" pitchFamily="18" charset="0"/>
            </a:endParaRPr>
          </a:p>
        </p:txBody>
      </p:sp>
      <p:sp>
        <p:nvSpPr>
          <p:cNvPr id="45" name="Text 43"/>
          <p:cNvSpPr txBox="1"/>
          <p:nvPr/>
        </p:nvSpPr>
        <p:spPr>
          <a:xfrm>
            <a:off x="2834640" y="5029200"/>
            <a:ext cx="3291840" cy="365760"/>
          </a:xfrm>
          <a:prstGeom prst="rect">
            <a:avLst/>
          </a:prstGeom>
          <a:noFill/>
          <a:ln/>
        </p:spPr>
        <p:txBody>
          <a:bodyPr wrap="square" lIns="0" tIns="0" rIns="0" bIns="0" rtlCol="0" anchor="t"/>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centre 5, four neighbours −1</a:t>
            </a:r>
            <a:endParaRPr lang="en-US" sz="1400" dirty="0">
              <a:latin typeface="Times New Roman" panose="02020603050405020304" pitchFamily="18" charset="0"/>
              <a:cs typeface="Times New Roman" panose="02020603050405020304" pitchFamily="18" charset="0"/>
            </a:endParaRPr>
          </a:p>
        </p:txBody>
      </p:sp>
      <p:sp>
        <p:nvSpPr>
          <p:cNvPr id="46" name="Text 44"/>
          <p:cNvSpPr txBox="1"/>
          <p:nvPr/>
        </p:nvSpPr>
        <p:spPr>
          <a:xfrm>
            <a:off x="640080" y="5486400"/>
            <a:ext cx="2194560" cy="365760"/>
          </a:xfrm>
          <a:prstGeom prst="rect">
            <a:avLst/>
          </a:prstGeom>
          <a:noFill/>
          <a:ln/>
        </p:spPr>
        <p:txBody>
          <a:bodyPr wrap="square" lIns="0" tIns="0" rIns="0" bIns="0" rtlCol="0" anchor="t"/>
          <a:lstStyle/>
          <a:p>
            <a:pPr marL="0" indent="0">
              <a:buNone/>
            </a:pPr>
            <a:r>
              <a:rPr lang="en-US" sz="1300" dirty="0">
                <a:solidFill>
                  <a:srgbClr val="B7C6DD"/>
                </a:solidFill>
                <a:latin typeface="Times New Roman" panose="02020603050405020304" pitchFamily="18" charset="0"/>
                <a:ea typeface="Calibri" pitchFamily="34" charset="-122"/>
                <a:cs typeface="Times New Roman" panose="02020603050405020304" pitchFamily="18" charset="0"/>
              </a:rPr>
              <a:t>Then</a:t>
            </a:r>
            <a:endParaRPr lang="en-US" sz="1300" dirty="0">
              <a:latin typeface="Times New Roman" panose="02020603050405020304" pitchFamily="18" charset="0"/>
              <a:cs typeface="Times New Roman" panose="02020603050405020304" pitchFamily="18" charset="0"/>
            </a:endParaRPr>
          </a:p>
        </p:txBody>
      </p:sp>
      <p:sp>
        <p:nvSpPr>
          <p:cNvPr id="47" name="Text 45"/>
          <p:cNvSpPr txBox="1"/>
          <p:nvPr/>
        </p:nvSpPr>
        <p:spPr>
          <a:xfrm>
            <a:off x="2834640" y="5486400"/>
            <a:ext cx="3291840" cy="365760"/>
          </a:xfrm>
          <a:prstGeom prst="rect">
            <a:avLst/>
          </a:prstGeom>
          <a:noFill/>
          <a:ln/>
        </p:spPr>
        <p:txBody>
          <a:bodyPr wrap="square" lIns="0" tIns="0" rIns="0" bIns="0" rtlCol="0" anchor="t"/>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rescaling · zero-centering</a:t>
            </a:r>
            <a:endParaRPr lang="en-US" sz="1400" dirty="0">
              <a:latin typeface="Times New Roman" panose="02020603050405020304" pitchFamily="18" charset="0"/>
              <a:cs typeface="Times New Roman" panose="02020603050405020304" pitchFamily="18" charset="0"/>
            </a:endParaRPr>
          </a:p>
        </p:txBody>
      </p:sp>
      <p:sp>
        <p:nvSpPr>
          <p:cNvPr id="48" name="Text 46"/>
          <p:cNvSpPr txBox="1"/>
          <p:nvPr/>
        </p:nvSpPr>
        <p:spPr>
          <a:xfrm>
            <a:off x="6583680" y="3291840"/>
            <a:ext cx="5486400" cy="274320"/>
          </a:xfrm>
          <a:prstGeom prst="rect">
            <a:avLst/>
          </a:prstGeom>
          <a:noFill/>
          <a:ln/>
        </p:spPr>
        <p:txBody>
          <a:bodyPr wrap="square" lIns="0" tIns="0" rIns="0" bIns="0" rtlCol="0" anchor="t"/>
          <a:lstStyle/>
          <a:p>
            <a:pPr marL="0" indent="0">
              <a:buNone/>
            </a:pPr>
            <a:r>
              <a:rPr lang="en-US" sz="1100" b="1" kern="0" spc="300" dirty="0">
                <a:solidFill>
                  <a:srgbClr val="25C4B7"/>
                </a:solidFill>
                <a:latin typeface="Times New Roman" panose="02020603050405020304" pitchFamily="18" charset="0"/>
                <a:ea typeface="Calibri" pitchFamily="34" charset="-122"/>
                <a:cs typeface="Times New Roman" panose="02020603050405020304" pitchFamily="18" charset="0"/>
              </a:rPr>
              <a:t>TRAINING STRATEGY</a:t>
            </a:r>
            <a:endParaRPr lang="en-US" sz="1100" dirty="0">
              <a:latin typeface="Times New Roman" panose="02020603050405020304" pitchFamily="18" charset="0"/>
              <a:cs typeface="Times New Roman" panose="02020603050405020304" pitchFamily="18" charset="0"/>
            </a:endParaRPr>
          </a:p>
        </p:txBody>
      </p:sp>
      <p:sp>
        <p:nvSpPr>
          <p:cNvPr id="49" name="Shape 47"/>
          <p:cNvSpPr/>
          <p:nvPr/>
        </p:nvSpPr>
        <p:spPr>
          <a:xfrm>
            <a:off x="6583680" y="3767328"/>
            <a:ext cx="128016" cy="128016"/>
          </a:xfrm>
          <a:prstGeom prst="ellipse">
            <a:avLst/>
          </a:prstGeom>
          <a:solidFill>
            <a:srgbClr val="8B7CF6"/>
          </a:solidFill>
          <a:ln w="12700">
            <a:solidFill>
              <a:srgbClr val="8B7CF6"/>
            </a:solidFill>
            <a:prstDash val="solid"/>
          </a:ln>
        </p:spPr>
      </p:sp>
      <p:sp>
        <p:nvSpPr>
          <p:cNvPr id="50" name="Text 48"/>
          <p:cNvSpPr txBox="1"/>
          <p:nvPr/>
        </p:nvSpPr>
        <p:spPr>
          <a:xfrm>
            <a:off x="6858000" y="3657600"/>
            <a:ext cx="4846320" cy="457200"/>
          </a:xfrm>
          <a:prstGeom prst="rect">
            <a:avLst/>
          </a:prstGeom>
          <a:noFill/>
          <a:ln/>
        </p:spPr>
        <p:txBody>
          <a:bodyPr wrap="square" lIns="0" tIns="0" rIns="0" bIns="0" rtlCol="0" anchor="t"/>
          <a:lstStyle/>
          <a:p>
            <a:pPr marL="0" indent="0">
              <a:buNone/>
            </a:pPr>
            <a:r>
              <a:rPr lang="en-US" sz="1350" dirty="0">
                <a:solidFill>
                  <a:srgbClr val="FFFFFF"/>
                </a:solidFill>
                <a:latin typeface="Times New Roman" panose="02020603050405020304" pitchFamily="18" charset="0"/>
                <a:ea typeface="Calibri" pitchFamily="34" charset="-122"/>
                <a:cs typeface="Times New Roman" panose="02020603050405020304" pitchFamily="18" charset="0"/>
              </a:rPr>
              <a:t>Baseline CNN · VGG19 · ResNet50 · Custom CNN · ViT</a:t>
            </a:r>
            <a:endParaRPr lang="en-US" sz="1350" dirty="0">
              <a:latin typeface="Times New Roman" panose="02020603050405020304" pitchFamily="18" charset="0"/>
              <a:cs typeface="Times New Roman" panose="02020603050405020304" pitchFamily="18" charset="0"/>
            </a:endParaRPr>
          </a:p>
        </p:txBody>
      </p:sp>
      <p:sp>
        <p:nvSpPr>
          <p:cNvPr id="51" name="Shape 49"/>
          <p:cNvSpPr/>
          <p:nvPr/>
        </p:nvSpPr>
        <p:spPr>
          <a:xfrm>
            <a:off x="6583680" y="4270248"/>
            <a:ext cx="128016" cy="128016"/>
          </a:xfrm>
          <a:prstGeom prst="ellipse">
            <a:avLst/>
          </a:prstGeom>
          <a:solidFill>
            <a:srgbClr val="8B7CF6"/>
          </a:solidFill>
          <a:ln w="12700">
            <a:solidFill>
              <a:srgbClr val="8B7CF6"/>
            </a:solidFill>
            <a:prstDash val="solid"/>
          </a:ln>
        </p:spPr>
      </p:sp>
      <p:sp>
        <p:nvSpPr>
          <p:cNvPr id="52" name="Text 50"/>
          <p:cNvSpPr txBox="1"/>
          <p:nvPr/>
        </p:nvSpPr>
        <p:spPr>
          <a:xfrm>
            <a:off x="6858000" y="4160520"/>
            <a:ext cx="4846320" cy="457200"/>
          </a:xfrm>
          <a:prstGeom prst="rect">
            <a:avLst/>
          </a:prstGeom>
          <a:noFill/>
          <a:ln/>
        </p:spPr>
        <p:txBody>
          <a:bodyPr wrap="square" lIns="0" tIns="0" rIns="0" bIns="0" rtlCol="0" anchor="t"/>
          <a:lstStyle/>
          <a:p>
            <a:pPr marL="0" indent="0">
              <a:buNone/>
            </a:pPr>
            <a:r>
              <a:rPr lang="en-US" sz="1350" dirty="0">
                <a:solidFill>
                  <a:srgbClr val="FFFFFF"/>
                </a:solidFill>
                <a:latin typeface="Times New Roman" panose="02020603050405020304" pitchFamily="18" charset="0"/>
                <a:ea typeface="Calibri" pitchFamily="34" charset="-122"/>
                <a:cs typeface="Times New Roman" panose="02020603050405020304" pitchFamily="18" charset="0"/>
              </a:rPr>
              <a:t>Same fixed split (test set 6,540) for all models</a:t>
            </a:r>
            <a:endParaRPr lang="en-US" sz="1350" dirty="0">
              <a:latin typeface="Times New Roman" panose="02020603050405020304" pitchFamily="18" charset="0"/>
              <a:cs typeface="Times New Roman" panose="02020603050405020304" pitchFamily="18" charset="0"/>
            </a:endParaRPr>
          </a:p>
        </p:txBody>
      </p:sp>
      <p:sp>
        <p:nvSpPr>
          <p:cNvPr id="53" name="Shape 51"/>
          <p:cNvSpPr/>
          <p:nvPr/>
        </p:nvSpPr>
        <p:spPr>
          <a:xfrm>
            <a:off x="6583680" y="4773168"/>
            <a:ext cx="128016" cy="128016"/>
          </a:xfrm>
          <a:prstGeom prst="ellipse">
            <a:avLst/>
          </a:prstGeom>
          <a:solidFill>
            <a:srgbClr val="8B7CF6"/>
          </a:solidFill>
          <a:ln w="12700">
            <a:solidFill>
              <a:srgbClr val="8B7CF6"/>
            </a:solidFill>
            <a:prstDash val="solid"/>
          </a:ln>
        </p:spPr>
      </p:sp>
      <p:sp>
        <p:nvSpPr>
          <p:cNvPr id="54" name="Text 52"/>
          <p:cNvSpPr txBox="1"/>
          <p:nvPr/>
        </p:nvSpPr>
        <p:spPr>
          <a:xfrm>
            <a:off x="6858000" y="4663440"/>
            <a:ext cx="4846320" cy="457200"/>
          </a:xfrm>
          <a:prstGeom prst="rect">
            <a:avLst/>
          </a:prstGeom>
          <a:noFill/>
          <a:ln/>
        </p:spPr>
        <p:txBody>
          <a:bodyPr wrap="square" lIns="0" tIns="0" rIns="0" bIns="0" rtlCol="0" anchor="t"/>
          <a:lstStyle/>
          <a:p>
            <a:pPr marL="0" indent="0">
              <a:buNone/>
            </a:pPr>
            <a:r>
              <a:rPr lang="en-US" sz="1350" dirty="0">
                <a:solidFill>
                  <a:srgbClr val="FFFFFF"/>
                </a:solidFill>
                <a:latin typeface="Times New Roman" panose="02020603050405020304" pitchFamily="18" charset="0"/>
                <a:ea typeface="Calibri" pitchFamily="34" charset="-122"/>
                <a:cs typeface="Times New Roman" panose="02020603050405020304" pitchFamily="18" charset="0"/>
              </a:rPr>
              <a:t>Class-weighted loss to address imbalance</a:t>
            </a:r>
            <a:endParaRPr lang="en-US" sz="1350" dirty="0">
              <a:latin typeface="Times New Roman" panose="02020603050405020304" pitchFamily="18" charset="0"/>
              <a:cs typeface="Times New Roman" panose="02020603050405020304" pitchFamily="18" charset="0"/>
            </a:endParaRPr>
          </a:p>
        </p:txBody>
      </p:sp>
      <p:sp>
        <p:nvSpPr>
          <p:cNvPr id="55" name="Shape 53"/>
          <p:cNvSpPr/>
          <p:nvPr/>
        </p:nvSpPr>
        <p:spPr>
          <a:xfrm>
            <a:off x="6583680" y="5276088"/>
            <a:ext cx="128016" cy="128016"/>
          </a:xfrm>
          <a:prstGeom prst="ellipse">
            <a:avLst/>
          </a:prstGeom>
          <a:solidFill>
            <a:srgbClr val="8B7CF6"/>
          </a:solidFill>
          <a:ln w="12700">
            <a:solidFill>
              <a:srgbClr val="8B7CF6"/>
            </a:solidFill>
            <a:prstDash val="solid"/>
          </a:ln>
        </p:spPr>
      </p:sp>
      <p:sp>
        <p:nvSpPr>
          <p:cNvPr id="56" name="Text 54"/>
          <p:cNvSpPr txBox="1"/>
          <p:nvPr/>
        </p:nvSpPr>
        <p:spPr>
          <a:xfrm>
            <a:off x="6858000" y="5166360"/>
            <a:ext cx="4846320" cy="457200"/>
          </a:xfrm>
          <a:prstGeom prst="rect">
            <a:avLst/>
          </a:prstGeom>
          <a:noFill/>
          <a:ln/>
        </p:spPr>
        <p:txBody>
          <a:bodyPr wrap="square" lIns="0" tIns="0" rIns="0" bIns="0" rtlCol="0" anchor="t"/>
          <a:lstStyle/>
          <a:p>
            <a:pPr marL="0" indent="0">
              <a:buNone/>
            </a:pPr>
            <a:r>
              <a:rPr lang="en-US" sz="1350" dirty="0">
                <a:solidFill>
                  <a:srgbClr val="FFFFFF"/>
                </a:solidFill>
                <a:latin typeface="Times New Roman" panose="02020603050405020304" pitchFamily="18" charset="0"/>
                <a:ea typeface="Calibri" pitchFamily="34" charset="-122"/>
                <a:cs typeface="Times New Roman" panose="02020603050405020304" pitchFamily="18" charset="0"/>
              </a:rPr>
              <a:t>VGG19 / ResNet50: two-stage fine-tuning</a:t>
            </a:r>
            <a:endParaRPr lang="en-US" sz="1350" dirty="0">
              <a:latin typeface="Times New Roman" panose="02020603050405020304" pitchFamily="18" charset="0"/>
              <a:cs typeface="Times New Roman" panose="02020603050405020304" pitchFamily="18" charset="0"/>
            </a:endParaRPr>
          </a:p>
        </p:txBody>
      </p:sp>
      <p:sp>
        <p:nvSpPr>
          <p:cNvPr id="57" name="Text 55"/>
          <p:cNvSpPr txBox="1"/>
          <p:nvPr/>
        </p:nvSpPr>
        <p:spPr>
          <a:xfrm>
            <a:off x="10881360" y="6446520"/>
            <a:ext cx="822960" cy="274320"/>
          </a:xfrm>
          <a:prstGeom prst="rect">
            <a:avLst/>
          </a:prstGeom>
          <a:noFill/>
          <a:ln/>
        </p:spPr>
        <p:txBody>
          <a:bodyPr wrap="square" lIns="0" tIns="0" rIns="0" bIns="0" rtlCol="0" anchor="t"/>
          <a:lstStyle/>
          <a:p>
            <a:pPr marL="0" indent="0" algn="r">
              <a:buNone/>
            </a:pPr>
            <a:r>
              <a:rPr lang="en-US" sz="1000" dirty="0">
                <a:solidFill>
                  <a:srgbClr val="25C4B7"/>
                </a:solidFill>
                <a:latin typeface="Times New Roman" panose="02020603050405020304" pitchFamily="18" charset="0"/>
                <a:ea typeface="Calibri" pitchFamily="34" charset="-122"/>
                <a:cs typeface="Times New Roman" panose="02020603050405020304" pitchFamily="18" charset="0"/>
              </a:rPr>
              <a:t>6 / 13</a:t>
            </a:r>
            <a:endParaRPr lang="en-US" sz="1000" dirty="0">
              <a:latin typeface="Times New Roman" panose="02020603050405020304" pitchFamily="18" charset="0"/>
              <a:cs typeface="Times New Roman" panose="02020603050405020304" pitchFamily="18" charset="0"/>
            </a:endParaRPr>
          </a:p>
        </p:txBody>
      </p:sp>
      <p:sp>
        <p:nvSpPr>
          <p:cNvPr id="58" name="Shape 56"/>
          <p:cNvSpPr/>
          <p:nvPr/>
        </p:nvSpPr>
        <p:spPr>
          <a:xfrm>
            <a:off x="548640" y="6400800"/>
            <a:ext cx="11064240" cy="9144"/>
          </a:xfrm>
          <a:prstGeom prst="rect">
            <a:avLst/>
          </a:prstGeom>
          <a:solidFill>
            <a:srgbClr val="1C3D6E"/>
          </a:solidFill>
          <a:ln w="12700">
            <a:solidFill>
              <a:srgbClr val="1C3D6E"/>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4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25C4B7"/>
          </a:solidFill>
          <a:ln w="12700">
            <a:solidFill>
              <a:srgbClr val="25C4B7"/>
            </a:solidFill>
            <a:prstDash val="solid"/>
          </a:ln>
        </p:spPr>
      </p:sp>
      <p:sp>
        <p:nvSpPr>
          <p:cNvPr id="3" name="Shape 1"/>
          <p:cNvSpPr/>
          <p:nvPr/>
        </p:nvSpPr>
        <p:spPr>
          <a:xfrm>
            <a:off x="548640" y="475488"/>
            <a:ext cx="128016" cy="128016"/>
          </a:xfrm>
          <a:prstGeom prst="ellipse">
            <a:avLst/>
          </a:prstGeom>
          <a:solidFill>
            <a:srgbClr val="25C4B7"/>
          </a:solidFill>
          <a:ln w="12700">
            <a:solidFill>
              <a:srgbClr val="25C4B7"/>
            </a:solidFill>
            <a:prstDash val="solid"/>
          </a:ln>
        </p:spPr>
      </p:sp>
      <p:sp>
        <p:nvSpPr>
          <p:cNvPr id="4" name="Text 2"/>
          <p:cNvSpPr txBox="1"/>
          <p:nvPr/>
        </p:nvSpPr>
        <p:spPr>
          <a:xfrm>
            <a:off x="777240" y="365760"/>
            <a:ext cx="10881360" cy="566928"/>
          </a:xfrm>
          <a:prstGeom prst="rect">
            <a:avLst/>
          </a:prstGeom>
          <a:noFill/>
          <a:ln/>
        </p:spPr>
        <p:txBody>
          <a:bodyPr wrap="square" lIns="0" tIns="0" rIns="0" bIns="0" rtlCol="0" anchor="t"/>
          <a:lstStyle/>
          <a:p>
            <a:pPr marL="0" indent="0">
              <a:buNone/>
            </a:pPr>
            <a:r>
              <a:rPr lang="en-US" sz="3000" b="1" dirty="0">
                <a:solidFill>
                  <a:srgbClr val="0B132B"/>
                </a:solidFill>
                <a:latin typeface="Times New Roman" panose="02020603050405020304" pitchFamily="18" charset="0"/>
                <a:ea typeface="Calibri" pitchFamily="34" charset="-122"/>
                <a:cs typeface="Times New Roman" panose="02020603050405020304" pitchFamily="18" charset="0"/>
              </a:rPr>
              <a:t>Models and Tools Used</a:t>
            </a:r>
            <a:endParaRPr lang="en-US" sz="3000" dirty="0">
              <a:latin typeface="Times New Roman" panose="02020603050405020304" pitchFamily="18" charset="0"/>
              <a:cs typeface="Times New Roman" panose="02020603050405020304" pitchFamily="18" charset="0"/>
            </a:endParaRPr>
          </a:p>
        </p:txBody>
      </p:sp>
      <p:sp>
        <p:nvSpPr>
          <p:cNvPr id="5" name="Text 3"/>
          <p:cNvSpPr txBox="1"/>
          <p:nvPr/>
        </p:nvSpPr>
        <p:spPr>
          <a:xfrm>
            <a:off x="777240" y="932688"/>
            <a:ext cx="10881360" cy="320040"/>
          </a:xfrm>
          <a:prstGeom prst="rect">
            <a:avLst/>
          </a:prstGeom>
          <a:noFill/>
          <a:ln/>
        </p:spPr>
        <p:txBody>
          <a:bodyPr wrap="square" lIns="0" tIns="0" rIns="0" bIns="0" rtlCol="0" anchor="t"/>
          <a:lstStyle/>
          <a:p>
            <a:pPr marL="0" indent="0">
              <a:buNone/>
            </a:pPr>
            <a:r>
              <a:rPr lang="en-US" sz="1400" dirty="0">
                <a:solidFill>
                  <a:srgbClr val="5B6B82"/>
                </a:solidFill>
                <a:latin typeface="Times New Roman" panose="02020603050405020304" pitchFamily="18" charset="0"/>
                <a:ea typeface="Calibri" pitchFamily="34" charset="-122"/>
                <a:cs typeface="Times New Roman" panose="02020603050405020304" pitchFamily="18" charset="0"/>
              </a:rPr>
              <a:t>Five architectures on a Python deep-learning stack</a:t>
            </a:r>
            <a:endParaRPr lang="en-US" sz="1400" dirty="0">
              <a:latin typeface="Times New Roman" panose="02020603050405020304" pitchFamily="18" charset="0"/>
              <a:cs typeface="Times New Roman" panose="02020603050405020304" pitchFamily="18" charset="0"/>
            </a:endParaRPr>
          </a:p>
        </p:txBody>
      </p:sp>
      <p:sp>
        <p:nvSpPr>
          <p:cNvPr id="6" name="Text 4"/>
          <p:cNvSpPr txBox="1"/>
          <p:nvPr/>
        </p:nvSpPr>
        <p:spPr>
          <a:xfrm>
            <a:off x="640080" y="1417320"/>
            <a:ext cx="2743200" cy="274320"/>
          </a:xfrm>
          <a:prstGeom prst="rect">
            <a:avLst/>
          </a:prstGeom>
          <a:noFill/>
          <a:ln/>
        </p:spPr>
        <p:txBody>
          <a:bodyPr wrap="square" lIns="0" tIns="0" rIns="0" bIns="0" rtlCol="0" anchor="t"/>
          <a:lstStyle/>
          <a:p>
            <a:pPr marL="0" indent="0">
              <a:buNone/>
            </a:pPr>
            <a:r>
              <a:rPr lang="en-US" sz="1100" b="1" kern="0" spc="300" dirty="0">
                <a:solidFill>
                  <a:srgbClr val="25C4B7"/>
                </a:solidFill>
                <a:latin typeface="Times New Roman" panose="02020603050405020304" pitchFamily="18" charset="0"/>
                <a:ea typeface="Calibri" pitchFamily="34" charset="-122"/>
                <a:cs typeface="Times New Roman" panose="02020603050405020304" pitchFamily="18" charset="0"/>
              </a:rPr>
              <a:t>TOOLS</a:t>
            </a:r>
            <a:endParaRPr lang="en-US" sz="1100" dirty="0">
              <a:latin typeface="Times New Roman" panose="02020603050405020304" pitchFamily="18" charset="0"/>
              <a:cs typeface="Times New Roman" panose="02020603050405020304" pitchFamily="18" charset="0"/>
            </a:endParaRPr>
          </a:p>
        </p:txBody>
      </p:sp>
      <p:sp>
        <p:nvSpPr>
          <p:cNvPr id="7" name="Shape 5"/>
          <p:cNvSpPr/>
          <p:nvPr/>
        </p:nvSpPr>
        <p:spPr>
          <a:xfrm>
            <a:off x="640080" y="1783080"/>
            <a:ext cx="54864" cy="384048"/>
          </a:xfrm>
          <a:prstGeom prst="rect">
            <a:avLst/>
          </a:prstGeom>
          <a:solidFill>
            <a:srgbClr val="25C4B7"/>
          </a:solidFill>
          <a:ln w="12700">
            <a:solidFill>
              <a:srgbClr val="25C4B7"/>
            </a:solidFill>
            <a:prstDash val="solid"/>
          </a:ln>
        </p:spPr>
      </p:sp>
      <p:sp>
        <p:nvSpPr>
          <p:cNvPr id="8" name="Text 6"/>
          <p:cNvSpPr txBox="1"/>
          <p:nvPr/>
        </p:nvSpPr>
        <p:spPr>
          <a:xfrm>
            <a:off x="868680" y="1783080"/>
            <a:ext cx="2743200" cy="384048"/>
          </a:xfrm>
          <a:prstGeom prst="rect">
            <a:avLst/>
          </a:prstGeom>
          <a:noFill/>
          <a:ln/>
        </p:spPr>
        <p:txBody>
          <a:bodyPr wrap="square" lIns="0" tIns="0" rIns="0" bIns="0" rtlCol="0" anchor="ctr"/>
          <a:lstStyle/>
          <a:p>
            <a:pPr marL="0" indent="0">
              <a:buNone/>
            </a:pPr>
            <a:r>
              <a:rPr lang="en-US" sz="1500" b="1" dirty="0">
                <a:solidFill>
                  <a:srgbClr val="0B132B"/>
                </a:solidFill>
                <a:latin typeface="Times New Roman" panose="02020603050405020304" pitchFamily="18" charset="0"/>
                <a:ea typeface="Calibri" pitchFamily="34" charset="-122"/>
                <a:cs typeface="Times New Roman" panose="02020603050405020304" pitchFamily="18" charset="0"/>
              </a:rPr>
              <a:t>Python 3</a:t>
            </a:r>
            <a:endParaRPr lang="en-US" sz="1500" dirty="0">
              <a:latin typeface="Times New Roman" panose="02020603050405020304" pitchFamily="18" charset="0"/>
              <a:cs typeface="Times New Roman" panose="02020603050405020304" pitchFamily="18" charset="0"/>
            </a:endParaRPr>
          </a:p>
        </p:txBody>
      </p:sp>
      <p:sp>
        <p:nvSpPr>
          <p:cNvPr id="9" name="Shape 7"/>
          <p:cNvSpPr/>
          <p:nvPr/>
        </p:nvSpPr>
        <p:spPr>
          <a:xfrm>
            <a:off x="640080" y="2350008"/>
            <a:ext cx="54864" cy="384048"/>
          </a:xfrm>
          <a:prstGeom prst="rect">
            <a:avLst/>
          </a:prstGeom>
          <a:solidFill>
            <a:srgbClr val="8B7CF6"/>
          </a:solidFill>
          <a:ln w="12700">
            <a:solidFill>
              <a:srgbClr val="8B7CF6"/>
            </a:solidFill>
            <a:prstDash val="solid"/>
          </a:ln>
        </p:spPr>
      </p:sp>
      <p:sp>
        <p:nvSpPr>
          <p:cNvPr id="10" name="Text 8"/>
          <p:cNvSpPr txBox="1"/>
          <p:nvPr/>
        </p:nvSpPr>
        <p:spPr>
          <a:xfrm>
            <a:off x="868680" y="2350008"/>
            <a:ext cx="2743200" cy="384048"/>
          </a:xfrm>
          <a:prstGeom prst="rect">
            <a:avLst/>
          </a:prstGeom>
          <a:noFill/>
          <a:ln/>
        </p:spPr>
        <p:txBody>
          <a:bodyPr wrap="square" lIns="0" tIns="0" rIns="0" bIns="0" rtlCol="0" anchor="ctr"/>
          <a:lstStyle/>
          <a:p>
            <a:pPr marL="0" indent="0">
              <a:buNone/>
            </a:pPr>
            <a:r>
              <a:rPr lang="en-US" sz="1500" b="1" dirty="0">
                <a:solidFill>
                  <a:srgbClr val="0B132B"/>
                </a:solidFill>
                <a:latin typeface="Times New Roman" panose="02020603050405020304" pitchFamily="18" charset="0"/>
                <a:ea typeface="Calibri" pitchFamily="34" charset="-122"/>
                <a:cs typeface="Times New Roman" panose="02020603050405020304" pitchFamily="18" charset="0"/>
              </a:rPr>
              <a:t>TensorFlow / Keras</a:t>
            </a:r>
            <a:endParaRPr lang="en-US" sz="1500" dirty="0">
              <a:latin typeface="Times New Roman" panose="02020603050405020304" pitchFamily="18" charset="0"/>
              <a:cs typeface="Times New Roman" panose="02020603050405020304" pitchFamily="18" charset="0"/>
            </a:endParaRPr>
          </a:p>
        </p:txBody>
      </p:sp>
      <p:sp>
        <p:nvSpPr>
          <p:cNvPr id="11" name="Shape 9"/>
          <p:cNvSpPr/>
          <p:nvPr/>
        </p:nvSpPr>
        <p:spPr>
          <a:xfrm>
            <a:off x="640080" y="2916936"/>
            <a:ext cx="54864" cy="384048"/>
          </a:xfrm>
          <a:prstGeom prst="rect">
            <a:avLst/>
          </a:prstGeom>
          <a:solidFill>
            <a:srgbClr val="25C4B7"/>
          </a:solidFill>
          <a:ln w="12700">
            <a:solidFill>
              <a:srgbClr val="25C4B7"/>
            </a:solidFill>
            <a:prstDash val="solid"/>
          </a:ln>
        </p:spPr>
      </p:sp>
      <p:sp>
        <p:nvSpPr>
          <p:cNvPr id="12" name="Text 10"/>
          <p:cNvSpPr txBox="1"/>
          <p:nvPr/>
        </p:nvSpPr>
        <p:spPr>
          <a:xfrm>
            <a:off x="868680" y="2916936"/>
            <a:ext cx="2743200" cy="384048"/>
          </a:xfrm>
          <a:prstGeom prst="rect">
            <a:avLst/>
          </a:prstGeom>
          <a:noFill/>
          <a:ln/>
        </p:spPr>
        <p:txBody>
          <a:bodyPr wrap="square" lIns="0" tIns="0" rIns="0" bIns="0" rtlCol="0" anchor="ctr"/>
          <a:lstStyle/>
          <a:p>
            <a:pPr marL="0" indent="0">
              <a:buNone/>
            </a:pPr>
            <a:r>
              <a:rPr lang="en-US" sz="1500" b="1" dirty="0">
                <a:solidFill>
                  <a:srgbClr val="0B132B"/>
                </a:solidFill>
                <a:latin typeface="Times New Roman" panose="02020603050405020304" pitchFamily="18" charset="0"/>
                <a:ea typeface="Calibri" pitchFamily="34" charset="-122"/>
                <a:cs typeface="Times New Roman" panose="02020603050405020304" pitchFamily="18" charset="0"/>
              </a:rPr>
              <a:t>OpenCV</a:t>
            </a:r>
            <a:endParaRPr lang="en-US" sz="1500" dirty="0">
              <a:latin typeface="Times New Roman" panose="02020603050405020304" pitchFamily="18" charset="0"/>
              <a:cs typeface="Times New Roman" panose="02020603050405020304" pitchFamily="18" charset="0"/>
            </a:endParaRPr>
          </a:p>
        </p:txBody>
      </p:sp>
      <p:sp>
        <p:nvSpPr>
          <p:cNvPr id="13" name="Shape 11"/>
          <p:cNvSpPr/>
          <p:nvPr/>
        </p:nvSpPr>
        <p:spPr>
          <a:xfrm>
            <a:off x="640080" y="3483864"/>
            <a:ext cx="54864" cy="384048"/>
          </a:xfrm>
          <a:prstGeom prst="rect">
            <a:avLst/>
          </a:prstGeom>
          <a:solidFill>
            <a:srgbClr val="8B7CF6"/>
          </a:solidFill>
          <a:ln w="12700">
            <a:solidFill>
              <a:srgbClr val="8B7CF6"/>
            </a:solidFill>
            <a:prstDash val="solid"/>
          </a:ln>
        </p:spPr>
      </p:sp>
      <p:sp>
        <p:nvSpPr>
          <p:cNvPr id="14" name="Text 12"/>
          <p:cNvSpPr txBox="1"/>
          <p:nvPr/>
        </p:nvSpPr>
        <p:spPr>
          <a:xfrm>
            <a:off x="868680" y="3483864"/>
            <a:ext cx="2743200" cy="384048"/>
          </a:xfrm>
          <a:prstGeom prst="rect">
            <a:avLst/>
          </a:prstGeom>
          <a:noFill/>
          <a:ln/>
        </p:spPr>
        <p:txBody>
          <a:bodyPr wrap="square" lIns="0" tIns="0" rIns="0" bIns="0" rtlCol="0" anchor="ctr"/>
          <a:lstStyle/>
          <a:p>
            <a:pPr marL="0" indent="0">
              <a:buNone/>
            </a:pPr>
            <a:r>
              <a:rPr lang="en-US" sz="1500" b="1" dirty="0">
                <a:solidFill>
                  <a:srgbClr val="0B132B"/>
                </a:solidFill>
                <a:latin typeface="Times New Roman" panose="02020603050405020304" pitchFamily="18" charset="0"/>
                <a:ea typeface="Calibri" pitchFamily="34" charset="-122"/>
                <a:cs typeface="Times New Roman" panose="02020603050405020304" pitchFamily="18" charset="0"/>
              </a:rPr>
              <a:t>NumPy · Pandas</a:t>
            </a:r>
            <a:endParaRPr lang="en-US" sz="1500" dirty="0">
              <a:latin typeface="Times New Roman" panose="02020603050405020304" pitchFamily="18" charset="0"/>
              <a:cs typeface="Times New Roman" panose="02020603050405020304" pitchFamily="18" charset="0"/>
            </a:endParaRPr>
          </a:p>
        </p:txBody>
      </p:sp>
      <p:sp>
        <p:nvSpPr>
          <p:cNvPr id="15" name="Shape 13"/>
          <p:cNvSpPr/>
          <p:nvPr/>
        </p:nvSpPr>
        <p:spPr>
          <a:xfrm>
            <a:off x="640080" y="4050792"/>
            <a:ext cx="54864" cy="384048"/>
          </a:xfrm>
          <a:prstGeom prst="rect">
            <a:avLst/>
          </a:prstGeom>
          <a:solidFill>
            <a:srgbClr val="25C4B7"/>
          </a:solidFill>
          <a:ln w="12700">
            <a:solidFill>
              <a:srgbClr val="25C4B7"/>
            </a:solidFill>
            <a:prstDash val="solid"/>
          </a:ln>
        </p:spPr>
      </p:sp>
      <p:sp>
        <p:nvSpPr>
          <p:cNvPr id="16" name="Text 14"/>
          <p:cNvSpPr txBox="1"/>
          <p:nvPr/>
        </p:nvSpPr>
        <p:spPr>
          <a:xfrm>
            <a:off x="868680" y="4050792"/>
            <a:ext cx="2743200" cy="384048"/>
          </a:xfrm>
          <a:prstGeom prst="rect">
            <a:avLst/>
          </a:prstGeom>
          <a:noFill/>
          <a:ln/>
        </p:spPr>
        <p:txBody>
          <a:bodyPr wrap="square" lIns="0" tIns="0" rIns="0" bIns="0" rtlCol="0" anchor="ctr"/>
          <a:lstStyle/>
          <a:p>
            <a:pPr marL="0" indent="0">
              <a:buNone/>
            </a:pPr>
            <a:r>
              <a:rPr lang="en-US" sz="1500" b="1" dirty="0">
                <a:solidFill>
                  <a:srgbClr val="0B132B"/>
                </a:solidFill>
                <a:latin typeface="Times New Roman" panose="02020603050405020304" pitchFamily="18" charset="0"/>
                <a:ea typeface="Calibri" pitchFamily="34" charset="-122"/>
                <a:cs typeface="Times New Roman" panose="02020603050405020304" pitchFamily="18" charset="0"/>
              </a:rPr>
              <a:t>Matplotlib · Seaborn</a:t>
            </a:r>
            <a:endParaRPr lang="en-US" sz="1500" dirty="0">
              <a:latin typeface="Times New Roman" panose="02020603050405020304" pitchFamily="18" charset="0"/>
              <a:cs typeface="Times New Roman" panose="02020603050405020304" pitchFamily="18" charset="0"/>
            </a:endParaRPr>
          </a:p>
        </p:txBody>
      </p:sp>
      <p:sp>
        <p:nvSpPr>
          <p:cNvPr id="17" name="Text 15"/>
          <p:cNvSpPr txBox="1"/>
          <p:nvPr/>
        </p:nvSpPr>
        <p:spPr>
          <a:xfrm>
            <a:off x="640080" y="4800600"/>
            <a:ext cx="3108960" cy="548640"/>
          </a:xfrm>
          <a:prstGeom prst="rect">
            <a:avLst/>
          </a:prstGeom>
          <a:noFill/>
          <a:ln/>
        </p:spPr>
        <p:txBody>
          <a:bodyPr wrap="square" lIns="0" tIns="0" rIns="0" bIns="0" rtlCol="0" anchor="t"/>
          <a:lstStyle/>
          <a:p>
            <a:pPr marL="0" indent="0">
              <a:buNone/>
            </a:pPr>
            <a:r>
              <a:rPr lang="en-US" sz="1000" i="1" dirty="0">
                <a:solidFill>
                  <a:srgbClr val="F2784B"/>
                </a:solidFill>
                <a:latin typeface="Times New Roman" panose="02020603050405020304" pitchFamily="18" charset="0"/>
                <a:ea typeface="Calibri" pitchFamily="34" charset="-122"/>
                <a:cs typeface="Times New Roman" panose="02020603050405020304" pitchFamily="18" charset="0"/>
              </a:rPr>
              <a:t>Implementation screenshots / code modules: not available in the supplied files.</a:t>
            </a:r>
            <a:endParaRPr lang="en-US" sz="1000" dirty="0">
              <a:latin typeface="Times New Roman" panose="02020603050405020304" pitchFamily="18" charset="0"/>
              <a:cs typeface="Times New Roman" panose="02020603050405020304" pitchFamily="18" charset="0"/>
            </a:endParaRPr>
          </a:p>
        </p:txBody>
      </p:sp>
      <p:sp>
        <p:nvSpPr>
          <p:cNvPr id="18" name="Shape 16"/>
          <p:cNvSpPr/>
          <p:nvPr/>
        </p:nvSpPr>
        <p:spPr>
          <a:xfrm>
            <a:off x="4023360" y="1463040"/>
            <a:ext cx="1417320" cy="2926080"/>
          </a:xfrm>
          <a:prstGeom prst="roundRect">
            <a:avLst>
              <a:gd name="adj" fmla="val 6452"/>
            </a:avLst>
          </a:prstGeom>
          <a:solidFill>
            <a:srgbClr val="FFFFFF"/>
          </a:solidFill>
          <a:ln w="9525">
            <a:solidFill>
              <a:srgbClr val="D5E1EC"/>
            </a:solidFill>
            <a:prstDash val="solid"/>
          </a:ln>
          <a:effectLst>
            <a:outerShdw blurRad="101600" dist="25400" dir="5400000" algn="bl" rotWithShape="0">
              <a:srgbClr val="000000">
                <a:alpha val="15000"/>
              </a:srgbClr>
            </a:outerShdw>
          </a:effectLst>
        </p:spPr>
      </p:sp>
      <p:sp>
        <p:nvSpPr>
          <p:cNvPr id="19" name="Shape 17"/>
          <p:cNvSpPr/>
          <p:nvPr/>
        </p:nvSpPr>
        <p:spPr>
          <a:xfrm>
            <a:off x="4279392" y="1828800"/>
            <a:ext cx="182880" cy="731520"/>
          </a:xfrm>
          <a:prstGeom prst="rect">
            <a:avLst/>
          </a:prstGeom>
          <a:solidFill>
            <a:srgbClr val="25C4B7"/>
          </a:solidFill>
          <a:ln w="12700">
            <a:solidFill>
              <a:srgbClr val="25C4B7"/>
            </a:solidFill>
            <a:prstDash val="solid"/>
          </a:ln>
        </p:spPr>
      </p:sp>
      <p:sp>
        <p:nvSpPr>
          <p:cNvPr id="20" name="Shape 18"/>
          <p:cNvSpPr/>
          <p:nvPr/>
        </p:nvSpPr>
        <p:spPr>
          <a:xfrm>
            <a:off x="4526280" y="1828800"/>
            <a:ext cx="182880" cy="658368"/>
          </a:xfrm>
          <a:prstGeom prst="rect">
            <a:avLst/>
          </a:prstGeom>
          <a:solidFill>
            <a:srgbClr val="25C4B7"/>
          </a:solidFill>
          <a:ln w="12700">
            <a:solidFill>
              <a:srgbClr val="25C4B7"/>
            </a:solidFill>
            <a:prstDash val="solid"/>
          </a:ln>
        </p:spPr>
      </p:sp>
      <p:sp>
        <p:nvSpPr>
          <p:cNvPr id="21" name="Shape 19"/>
          <p:cNvSpPr/>
          <p:nvPr/>
        </p:nvSpPr>
        <p:spPr>
          <a:xfrm>
            <a:off x="4773168" y="1828800"/>
            <a:ext cx="182880" cy="585216"/>
          </a:xfrm>
          <a:prstGeom prst="rect">
            <a:avLst/>
          </a:prstGeom>
          <a:solidFill>
            <a:srgbClr val="25C4B7"/>
          </a:solidFill>
          <a:ln w="12700">
            <a:solidFill>
              <a:srgbClr val="25C4B7"/>
            </a:solidFill>
            <a:prstDash val="solid"/>
          </a:ln>
        </p:spPr>
      </p:sp>
      <p:sp>
        <p:nvSpPr>
          <p:cNvPr id="22" name="Shape 20"/>
          <p:cNvSpPr/>
          <p:nvPr/>
        </p:nvSpPr>
        <p:spPr>
          <a:xfrm>
            <a:off x="5020056" y="1828800"/>
            <a:ext cx="182880" cy="512064"/>
          </a:xfrm>
          <a:prstGeom prst="rect">
            <a:avLst/>
          </a:prstGeom>
          <a:solidFill>
            <a:srgbClr val="25C4B7"/>
          </a:solidFill>
          <a:ln w="12700">
            <a:solidFill>
              <a:srgbClr val="25C4B7"/>
            </a:solidFill>
            <a:prstDash val="solid"/>
          </a:ln>
        </p:spPr>
      </p:sp>
      <p:sp>
        <p:nvSpPr>
          <p:cNvPr id="23" name="Text 21"/>
          <p:cNvSpPr txBox="1"/>
          <p:nvPr/>
        </p:nvSpPr>
        <p:spPr>
          <a:xfrm>
            <a:off x="4069080" y="2834640"/>
            <a:ext cx="1325880" cy="320040"/>
          </a:xfrm>
          <a:prstGeom prst="rect">
            <a:avLst/>
          </a:prstGeom>
          <a:noFill/>
          <a:ln/>
        </p:spPr>
        <p:txBody>
          <a:bodyPr wrap="square" lIns="0" tIns="0" rIns="0" bIns="0" rtlCol="0" anchor="t"/>
          <a:lstStyle/>
          <a:p>
            <a:pPr marL="0" indent="0" algn="ctr">
              <a:buNone/>
            </a:pPr>
            <a:r>
              <a:rPr lang="en-US" sz="1300" b="1" dirty="0">
                <a:solidFill>
                  <a:srgbClr val="0B132B"/>
                </a:solidFill>
                <a:latin typeface="Times New Roman" panose="02020603050405020304" pitchFamily="18" charset="0"/>
                <a:ea typeface="Calibri" pitchFamily="34" charset="-122"/>
                <a:cs typeface="Times New Roman" panose="02020603050405020304" pitchFamily="18" charset="0"/>
              </a:rPr>
              <a:t>Baseline CNN</a:t>
            </a:r>
            <a:endParaRPr lang="en-US" sz="1300" dirty="0">
              <a:latin typeface="Times New Roman" panose="02020603050405020304" pitchFamily="18" charset="0"/>
              <a:cs typeface="Times New Roman" panose="02020603050405020304" pitchFamily="18" charset="0"/>
            </a:endParaRPr>
          </a:p>
        </p:txBody>
      </p:sp>
      <p:sp>
        <p:nvSpPr>
          <p:cNvPr id="24" name="Text 22"/>
          <p:cNvSpPr txBox="1"/>
          <p:nvPr/>
        </p:nvSpPr>
        <p:spPr>
          <a:xfrm>
            <a:off x="4069080" y="3200400"/>
            <a:ext cx="1325880" cy="365760"/>
          </a:xfrm>
          <a:prstGeom prst="rect">
            <a:avLst/>
          </a:prstGeom>
          <a:noFill/>
          <a:ln/>
        </p:spPr>
        <p:txBody>
          <a:bodyPr wrap="square" lIns="0" tIns="0" rIns="0" bIns="0" rtlCol="0" anchor="t"/>
          <a:lstStyle/>
          <a:p>
            <a:pPr marL="0" indent="0" algn="ctr">
              <a:buNone/>
            </a:pPr>
            <a:r>
              <a:rPr lang="en-US" sz="1800" b="1" dirty="0">
                <a:solidFill>
                  <a:srgbClr val="25C4B7"/>
                </a:solidFill>
                <a:latin typeface="Times New Roman" panose="02020603050405020304" pitchFamily="18" charset="0"/>
                <a:ea typeface="Calibri" pitchFamily="34" charset="-122"/>
                <a:cs typeface="Times New Roman" panose="02020603050405020304" pitchFamily="18" charset="0"/>
              </a:rPr>
              <a:t>104.0 M</a:t>
            </a:r>
            <a:endParaRPr lang="en-US" sz="1800" dirty="0">
              <a:latin typeface="Times New Roman" panose="02020603050405020304" pitchFamily="18" charset="0"/>
              <a:cs typeface="Times New Roman" panose="02020603050405020304" pitchFamily="18" charset="0"/>
            </a:endParaRPr>
          </a:p>
        </p:txBody>
      </p:sp>
      <p:sp>
        <p:nvSpPr>
          <p:cNvPr id="25" name="Text 23"/>
          <p:cNvSpPr txBox="1"/>
          <p:nvPr/>
        </p:nvSpPr>
        <p:spPr>
          <a:xfrm>
            <a:off x="4114800" y="3657600"/>
            <a:ext cx="1234440" cy="640080"/>
          </a:xfrm>
          <a:prstGeom prst="rect">
            <a:avLst/>
          </a:prstGeom>
          <a:noFill/>
          <a:ln/>
        </p:spPr>
        <p:txBody>
          <a:bodyPr wrap="square" lIns="0" tIns="0" rIns="0" bIns="0" rtlCol="0" anchor="t"/>
          <a:lstStyle/>
          <a:p>
            <a:pPr marL="0" indent="0" algn="ctr">
              <a:buNone/>
            </a:pPr>
            <a:r>
              <a:rPr lang="en-US" sz="1000" dirty="0">
                <a:solidFill>
                  <a:srgbClr val="5B6B82"/>
                </a:solidFill>
                <a:latin typeface="Times New Roman" panose="02020603050405020304" pitchFamily="18" charset="0"/>
                <a:ea typeface="Calibri" pitchFamily="34" charset="-122"/>
                <a:cs typeface="Times New Roman" panose="02020603050405020304" pitchFamily="18" charset="0"/>
              </a:rPr>
              <a:t>Conv stack</a:t>
            </a:r>
            <a:endParaRPr lang="en-US" sz="1000" dirty="0">
              <a:latin typeface="Times New Roman" panose="02020603050405020304" pitchFamily="18" charset="0"/>
              <a:cs typeface="Times New Roman" panose="02020603050405020304" pitchFamily="18" charset="0"/>
            </a:endParaRPr>
          </a:p>
        </p:txBody>
      </p:sp>
      <p:sp>
        <p:nvSpPr>
          <p:cNvPr id="26" name="Shape 24"/>
          <p:cNvSpPr/>
          <p:nvPr/>
        </p:nvSpPr>
        <p:spPr>
          <a:xfrm>
            <a:off x="5577840" y="1463040"/>
            <a:ext cx="1417320" cy="2926080"/>
          </a:xfrm>
          <a:prstGeom prst="roundRect">
            <a:avLst>
              <a:gd name="adj" fmla="val 6452"/>
            </a:avLst>
          </a:prstGeom>
          <a:solidFill>
            <a:srgbClr val="FFFFFF"/>
          </a:solidFill>
          <a:ln w="9525">
            <a:solidFill>
              <a:srgbClr val="D5E1EC"/>
            </a:solidFill>
            <a:prstDash val="solid"/>
          </a:ln>
          <a:effectLst>
            <a:outerShdw blurRad="101600" dist="25400" dir="5400000" algn="bl" rotWithShape="0">
              <a:srgbClr val="000000">
                <a:alpha val="15000"/>
              </a:srgbClr>
            </a:outerShdw>
          </a:effectLst>
        </p:spPr>
      </p:sp>
      <p:sp>
        <p:nvSpPr>
          <p:cNvPr id="27" name="Shape 25"/>
          <p:cNvSpPr/>
          <p:nvPr/>
        </p:nvSpPr>
        <p:spPr>
          <a:xfrm>
            <a:off x="5833872" y="1828800"/>
            <a:ext cx="146304" cy="731520"/>
          </a:xfrm>
          <a:prstGeom prst="rect">
            <a:avLst/>
          </a:prstGeom>
          <a:solidFill>
            <a:srgbClr val="25C4B7"/>
          </a:solidFill>
          <a:ln w="12700">
            <a:solidFill>
              <a:srgbClr val="25C4B7"/>
            </a:solidFill>
            <a:prstDash val="solid"/>
          </a:ln>
        </p:spPr>
      </p:sp>
      <p:sp>
        <p:nvSpPr>
          <p:cNvPr id="28" name="Shape 26"/>
          <p:cNvSpPr/>
          <p:nvPr/>
        </p:nvSpPr>
        <p:spPr>
          <a:xfrm>
            <a:off x="6035040" y="1828800"/>
            <a:ext cx="146304" cy="676656"/>
          </a:xfrm>
          <a:prstGeom prst="rect">
            <a:avLst/>
          </a:prstGeom>
          <a:solidFill>
            <a:srgbClr val="25C4B7"/>
          </a:solidFill>
          <a:ln w="12700">
            <a:solidFill>
              <a:srgbClr val="25C4B7"/>
            </a:solidFill>
            <a:prstDash val="solid"/>
          </a:ln>
        </p:spPr>
      </p:sp>
      <p:sp>
        <p:nvSpPr>
          <p:cNvPr id="29" name="Shape 27"/>
          <p:cNvSpPr/>
          <p:nvPr/>
        </p:nvSpPr>
        <p:spPr>
          <a:xfrm>
            <a:off x="6236208" y="1828800"/>
            <a:ext cx="146304" cy="621792"/>
          </a:xfrm>
          <a:prstGeom prst="rect">
            <a:avLst/>
          </a:prstGeom>
          <a:solidFill>
            <a:srgbClr val="25C4B7"/>
          </a:solidFill>
          <a:ln w="12700">
            <a:solidFill>
              <a:srgbClr val="25C4B7"/>
            </a:solidFill>
            <a:prstDash val="solid"/>
          </a:ln>
        </p:spPr>
      </p:sp>
      <p:sp>
        <p:nvSpPr>
          <p:cNvPr id="30" name="Shape 28"/>
          <p:cNvSpPr/>
          <p:nvPr/>
        </p:nvSpPr>
        <p:spPr>
          <a:xfrm>
            <a:off x="6437376" y="1828800"/>
            <a:ext cx="146304" cy="566928"/>
          </a:xfrm>
          <a:prstGeom prst="rect">
            <a:avLst/>
          </a:prstGeom>
          <a:solidFill>
            <a:srgbClr val="25C4B7"/>
          </a:solidFill>
          <a:ln w="12700">
            <a:solidFill>
              <a:srgbClr val="25C4B7"/>
            </a:solidFill>
            <a:prstDash val="solid"/>
          </a:ln>
        </p:spPr>
      </p:sp>
      <p:sp>
        <p:nvSpPr>
          <p:cNvPr id="31" name="Shape 29"/>
          <p:cNvSpPr/>
          <p:nvPr/>
        </p:nvSpPr>
        <p:spPr>
          <a:xfrm>
            <a:off x="6638544" y="1828800"/>
            <a:ext cx="146304" cy="512064"/>
          </a:xfrm>
          <a:prstGeom prst="rect">
            <a:avLst/>
          </a:prstGeom>
          <a:solidFill>
            <a:srgbClr val="25C4B7"/>
          </a:solidFill>
          <a:ln w="12700">
            <a:solidFill>
              <a:srgbClr val="25C4B7"/>
            </a:solidFill>
            <a:prstDash val="solid"/>
          </a:ln>
        </p:spPr>
      </p:sp>
      <p:sp>
        <p:nvSpPr>
          <p:cNvPr id="32" name="Text 30"/>
          <p:cNvSpPr txBox="1"/>
          <p:nvPr/>
        </p:nvSpPr>
        <p:spPr>
          <a:xfrm>
            <a:off x="5623560" y="2834640"/>
            <a:ext cx="1325880" cy="320040"/>
          </a:xfrm>
          <a:prstGeom prst="rect">
            <a:avLst/>
          </a:prstGeom>
          <a:noFill/>
          <a:ln/>
        </p:spPr>
        <p:txBody>
          <a:bodyPr wrap="square" lIns="0" tIns="0" rIns="0" bIns="0" rtlCol="0" anchor="t"/>
          <a:lstStyle/>
          <a:p>
            <a:pPr marL="0" indent="0" algn="ctr">
              <a:buNone/>
            </a:pPr>
            <a:r>
              <a:rPr lang="en-US" sz="1300" b="1" dirty="0">
                <a:solidFill>
                  <a:srgbClr val="0B132B"/>
                </a:solidFill>
                <a:latin typeface="Times New Roman" panose="02020603050405020304" pitchFamily="18" charset="0"/>
                <a:ea typeface="Calibri" pitchFamily="34" charset="-122"/>
                <a:cs typeface="Times New Roman" panose="02020603050405020304" pitchFamily="18" charset="0"/>
              </a:rPr>
              <a:t>VGG19</a:t>
            </a:r>
            <a:endParaRPr lang="en-US" sz="1300" dirty="0">
              <a:latin typeface="Times New Roman" panose="02020603050405020304" pitchFamily="18" charset="0"/>
              <a:cs typeface="Times New Roman" panose="02020603050405020304" pitchFamily="18" charset="0"/>
            </a:endParaRPr>
          </a:p>
        </p:txBody>
      </p:sp>
      <p:sp>
        <p:nvSpPr>
          <p:cNvPr id="33" name="Text 31"/>
          <p:cNvSpPr txBox="1"/>
          <p:nvPr/>
        </p:nvSpPr>
        <p:spPr>
          <a:xfrm>
            <a:off x="5623560" y="3200400"/>
            <a:ext cx="1325880" cy="365760"/>
          </a:xfrm>
          <a:prstGeom prst="rect">
            <a:avLst/>
          </a:prstGeom>
          <a:noFill/>
          <a:ln/>
        </p:spPr>
        <p:txBody>
          <a:bodyPr wrap="square" lIns="0" tIns="0" rIns="0" bIns="0" rtlCol="0" anchor="t"/>
          <a:lstStyle/>
          <a:p>
            <a:pPr marL="0" indent="0" algn="ctr">
              <a:buNone/>
            </a:pPr>
            <a:r>
              <a:rPr lang="en-US" sz="1800" b="1" dirty="0">
                <a:solidFill>
                  <a:srgbClr val="25C4B7"/>
                </a:solidFill>
                <a:latin typeface="Times New Roman" panose="02020603050405020304" pitchFamily="18" charset="0"/>
                <a:ea typeface="Calibri" pitchFamily="34" charset="-122"/>
                <a:cs typeface="Times New Roman" panose="02020603050405020304" pitchFamily="18" charset="0"/>
              </a:rPr>
              <a:t>38.9 M</a:t>
            </a:r>
            <a:endParaRPr lang="en-US" sz="1800" dirty="0">
              <a:latin typeface="Times New Roman" panose="02020603050405020304" pitchFamily="18" charset="0"/>
              <a:cs typeface="Times New Roman" panose="02020603050405020304" pitchFamily="18" charset="0"/>
            </a:endParaRPr>
          </a:p>
        </p:txBody>
      </p:sp>
      <p:sp>
        <p:nvSpPr>
          <p:cNvPr id="34" name="Text 32"/>
          <p:cNvSpPr txBox="1"/>
          <p:nvPr/>
        </p:nvSpPr>
        <p:spPr>
          <a:xfrm>
            <a:off x="5669280" y="3657600"/>
            <a:ext cx="1234440" cy="640080"/>
          </a:xfrm>
          <a:prstGeom prst="rect">
            <a:avLst/>
          </a:prstGeom>
          <a:noFill/>
          <a:ln/>
        </p:spPr>
        <p:txBody>
          <a:bodyPr wrap="square" lIns="0" tIns="0" rIns="0" bIns="0" rtlCol="0" anchor="t"/>
          <a:lstStyle/>
          <a:p>
            <a:pPr marL="0" indent="0" algn="ctr">
              <a:buNone/>
            </a:pPr>
            <a:r>
              <a:rPr lang="en-US" sz="1000" dirty="0">
                <a:solidFill>
                  <a:srgbClr val="5B6B82"/>
                </a:solidFill>
                <a:latin typeface="Times New Roman" panose="02020603050405020304" pitchFamily="18" charset="0"/>
                <a:ea typeface="Calibri" pitchFamily="34" charset="-122"/>
                <a:cs typeface="Times New Roman" panose="02020603050405020304" pitchFamily="18" charset="0"/>
              </a:rPr>
              <a:t>Pretrained</a:t>
            </a:r>
            <a:endParaRPr lang="en-US" sz="1000" dirty="0">
              <a:latin typeface="Times New Roman" panose="02020603050405020304" pitchFamily="18" charset="0"/>
              <a:cs typeface="Times New Roman" panose="02020603050405020304" pitchFamily="18" charset="0"/>
            </a:endParaRPr>
          </a:p>
        </p:txBody>
      </p:sp>
      <p:sp>
        <p:nvSpPr>
          <p:cNvPr id="35" name="Shape 33"/>
          <p:cNvSpPr/>
          <p:nvPr/>
        </p:nvSpPr>
        <p:spPr>
          <a:xfrm>
            <a:off x="7132320" y="1463040"/>
            <a:ext cx="1417320" cy="2926080"/>
          </a:xfrm>
          <a:prstGeom prst="roundRect">
            <a:avLst>
              <a:gd name="adj" fmla="val 6452"/>
            </a:avLst>
          </a:prstGeom>
          <a:solidFill>
            <a:srgbClr val="FFFFFF"/>
          </a:solidFill>
          <a:ln w="9525">
            <a:solidFill>
              <a:srgbClr val="D5E1EC"/>
            </a:solidFill>
            <a:prstDash val="solid"/>
          </a:ln>
          <a:effectLst>
            <a:outerShdw blurRad="101600" dist="25400" dir="5400000" algn="bl" rotWithShape="0">
              <a:srgbClr val="000000">
                <a:alpha val="15000"/>
              </a:srgbClr>
            </a:outerShdw>
          </a:effectLst>
        </p:spPr>
      </p:sp>
      <p:sp>
        <p:nvSpPr>
          <p:cNvPr id="36" name="Shape 34"/>
          <p:cNvSpPr/>
          <p:nvPr/>
        </p:nvSpPr>
        <p:spPr>
          <a:xfrm>
            <a:off x="7434072" y="2103120"/>
            <a:ext cx="228600" cy="365760"/>
          </a:xfrm>
          <a:prstGeom prst="rect">
            <a:avLst/>
          </a:prstGeom>
          <a:solidFill>
            <a:srgbClr val="25C4B7"/>
          </a:solidFill>
          <a:ln w="12700">
            <a:solidFill>
              <a:srgbClr val="25C4B7"/>
            </a:solidFill>
            <a:prstDash val="solid"/>
          </a:ln>
        </p:spPr>
      </p:sp>
      <p:sp>
        <p:nvSpPr>
          <p:cNvPr id="37" name="Shape 35"/>
          <p:cNvSpPr/>
          <p:nvPr/>
        </p:nvSpPr>
        <p:spPr>
          <a:xfrm>
            <a:off x="7763256" y="2103120"/>
            <a:ext cx="228600" cy="365760"/>
          </a:xfrm>
          <a:prstGeom prst="rect">
            <a:avLst/>
          </a:prstGeom>
          <a:solidFill>
            <a:srgbClr val="25C4B7"/>
          </a:solidFill>
          <a:ln w="12700">
            <a:solidFill>
              <a:srgbClr val="25C4B7"/>
            </a:solidFill>
            <a:prstDash val="solid"/>
          </a:ln>
        </p:spPr>
      </p:sp>
      <p:sp>
        <p:nvSpPr>
          <p:cNvPr id="38" name="Shape 36"/>
          <p:cNvSpPr/>
          <p:nvPr/>
        </p:nvSpPr>
        <p:spPr>
          <a:xfrm>
            <a:off x="8092440" y="2103120"/>
            <a:ext cx="228600" cy="365760"/>
          </a:xfrm>
          <a:prstGeom prst="rect">
            <a:avLst/>
          </a:prstGeom>
          <a:solidFill>
            <a:srgbClr val="25C4B7"/>
          </a:solidFill>
          <a:ln w="12700">
            <a:solidFill>
              <a:srgbClr val="25C4B7"/>
            </a:solidFill>
            <a:prstDash val="solid"/>
          </a:ln>
        </p:spPr>
      </p:sp>
      <p:sp>
        <p:nvSpPr>
          <p:cNvPr id="39" name="Shape 37"/>
          <p:cNvSpPr/>
          <p:nvPr/>
        </p:nvSpPr>
        <p:spPr>
          <a:xfrm>
            <a:off x="7479792" y="1965960"/>
            <a:ext cx="822960" cy="0"/>
          </a:xfrm>
          <a:prstGeom prst="line">
            <a:avLst/>
          </a:prstGeom>
          <a:noFill/>
          <a:ln w="19050">
            <a:solidFill>
              <a:srgbClr val="F2784B"/>
            </a:solidFill>
            <a:prstDash val="solid"/>
            <a:tailEnd type="triangle"/>
          </a:ln>
        </p:spPr>
      </p:sp>
      <p:sp>
        <p:nvSpPr>
          <p:cNvPr id="40" name="Text 38"/>
          <p:cNvSpPr txBox="1"/>
          <p:nvPr/>
        </p:nvSpPr>
        <p:spPr>
          <a:xfrm>
            <a:off x="7178040" y="2834640"/>
            <a:ext cx="1325880" cy="320040"/>
          </a:xfrm>
          <a:prstGeom prst="rect">
            <a:avLst/>
          </a:prstGeom>
          <a:noFill/>
          <a:ln/>
        </p:spPr>
        <p:txBody>
          <a:bodyPr wrap="square" lIns="0" tIns="0" rIns="0" bIns="0" rtlCol="0" anchor="t"/>
          <a:lstStyle/>
          <a:p>
            <a:pPr marL="0" indent="0" algn="ctr">
              <a:buNone/>
            </a:pPr>
            <a:r>
              <a:rPr lang="en-US" sz="1300" b="1" dirty="0">
                <a:solidFill>
                  <a:srgbClr val="0B132B"/>
                </a:solidFill>
                <a:latin typeface="Times New Roman" panose="02020603050405020304" pitchFamily="18" charset="0"/>
                <a:ea typeface="Calibri" pitchFamily="34" charset="-122"/>
                <a:cs typeface="Times New Roman" panose="02020603050405020304" pitchFamily="18" charset="0"/>
              </a:rPr>
              <a:t>ResNet50</a:t>
            </a:r>
            <a:endParaRPr lang="en-US" sz="1300" dirty="0">
              <a:latin typeface="Times New Roman" panose="02020603050405020304" pitchFamily="18" charset="0"/>
              <a:cs typeface="Times New Roman" panose="02020603050405020304" pitchFamily="18" charset="0"/>
            </a:endParaRPr>
          </a:p>
        </p:txBody>
      </p:sp>
      <p:sp>
        <p:nvSpPr>
          <p:cNvPr id="41" name="Text 39"/>
          <p:cNvSpPr txBox="1"/>
          <p:nvPr/>
        </p:nvSpPr>
        <p:spPr>
          <a:xfrm>
            <a:off x="7178040" y="3200400"/>
            <a:ext cx="1325880" cy="365760"/>
          </a:xfrm>
          <a:prstGeom prst="rect">
            <a:avLst/>
          </a:prstGeom>
          <a:noFill/>
          <a:ln/>
        </p:spPr>
        <p:txBody>
          <a:bodyPr wrap="square" lIns="0" tIns="0" rIns="0" bIns="0" rtlCol="0" anchor="t"/>
          <a:lstStyle/>
          <a:p>
            <a:pPr marL="0" indent="0" algn="ctr">
              <a:buNone/>
            </a:pPr>
            <a:r>
              <a:rPr lang="en-US" sz="1800" b="1" dirty="0">
                <a:solidFill>
                  <a:srgbClr val="25C4B7"/>
                </a:solidFill>
                <a:latin typeface="Times New Roman" panose="02020603050405020304" pitchFamily="18" charset="0"/>
                <a:ea typeface="Calibri" pitchFamily="34" charset="-122"/>
                <a:cs typeface="Times New Roman" panose="02020603050405020304" pitchFamily="18" charset="0"/>
              </a:rPr>
              <a:t>23.6 M</a:t>
            </a:r>
            <a:endParaRPr lang="en-US" sz="1800" dirty="0">
              <a:latin typeface="Times New Roman" panose="02020603050405020304" pitchFamily="18" charset="0"/>
              <a:cs typeface="Times New Roman" panose="02020603050405020304" pitchFamily="18" charset="0"/>
            </a:endParaRPr>
          </a:p>
        </p:txBody>
      </p:sp>
      <p:sp>
        <p:nvSpPr>
          <p:cNvPr id="42" name="Text 40"/>
          <p:cNvSpPr txBox="1"/>
          <p:nvPr/>
        </p:nvSpPr>
        <p:spPr>
          <a:xfrm>
            <a:off x="7223760" y="3657600"/>
            <a:ext cx="1234440" cy="640080"/>
          </a:xfrm>
          <a:prstGeom prst="rect">
            <a:avLst/>
          </a:prstGeom>
          <a:noFill/>
          <a:ln/>
        </p:spPr>
        <p:txBody>
          <a:bodyPr wrap="square" lIns="0" tIns="0" rIns="0" bIns="0" rtlCol="0" anchor="t"/>
          <a:lstStyle/>
          <a:p>
            <a:pPr marL="0" indent="0" algn="ctr">
              <a:buNone/>
            </a:pPr>
            <a:r>
              <a:rPr lang="en-US" sz="1000" dirty="0">
                <a:solidFill>
                  <a:srgbClr val="5B6B82"/>
                </a:solidFill>
                <a:latin typeface="Times New Roman" panose="02020603050405020304" pitchFamily="18" charset="0"/>
                <a:ea typeface="Calibri" pitchFamily="34" charset="-122"/>
                <a:cs typeface="Times New Roman" panose="02020603050405020304" pitchFamily="18" charset="0"/>
              </a:rPr>
              <a:t>Pretrained · skip</a:t>
            </a:r>
            <a:endParaRPr lang="en-US" sz="1000" dirty="0">
              <a:latin typeface="Times New Roman" panose="02020603050405020304" pitchFamily="18" charset="0"/>
              <a:cs typeface="Times New Roman" panose="02020603050405020304" pitchFamily="18" charset="0"/>
            </a:endParaRPr>
          </a:p>
        </p:txBody>
      </p:sp>
      <p:sp>
        <p:nvSpPr>
          <p:cNvPr id="43" name="Shape 41"/>
          <p:cNvSpPr/>
          <p:nvPr/>
        </p:nvSpPr>
        <p:spPr>
          <a:xfrm>
            <a:off x="8686800" y="1463040"/>
            <a:ext cx="1417320" cy="2926080"/>
          </a:xfrm>
          <a:prstGeom prst="roundRect">
            <a:avLst>
              <a:gd name="adj" fmla="val 6452"/>
            </a:avLst>
          </a:prstGeom>
          <a:solidFill>
            <a:srgbClr val="0B132B"/>
          </a:solidFill>
          <a:ln w="9525">
            <a:solidFill>
              <a:srgbClr val="8B7CF6"/>
            </a:solidFill>
            <a:prstDash val="solid"/>
          </a:ln>
          <a:effectLst>
            <a:outerShdw blurRad="101600" dist="25400" dir="5400000" algn="bl" rotWithShape="0">
              <a:srgbClr val="000000">
                <a:alpha val="15000"/>
              </a:srgbClr>
            </a:outerShdw>
          </a:effectLst>
        </p:spPr>
      </p:sp>
      <p:sp>
        <p:nvSpPr>
          <p:cNvPr id="44" name="Shape 42"/>
          <p:cNvSpPr/>
          <p:nvPr/>
        </p:nvSpPr>
        <p:spPr>
          <a:xfrm>
            <a:off x="8942832" y="2103120"/>
            <a:ext cx="228600" cy="411480"/>
          </a:xfrm>
          <a:prstGeom prst="rect">
            <a:avLst/>
          </a:prstGeom>
          <a:solidFill>
            <a:srgbClr val="25C4B7"/>
          </a:solidFill>
          <a:ln w="12700">
            <a:solidFill>
              <a:srgbClr val="25C4B7"/>
            </a:solidFill>
            <a:prstDash val="solid"/>
          </a:ln>
        </p:spPr>
      </p:sp>
      <p:sp>
        <p:nvSpPr>
          <p:cNvPr id="45" name="Shape 43"/>
          <p:cNvSpPr/>
          <p:nvPr/>
        </p:nvSpPr>
        <p:spPr>
          <a:xfrm>
            <a:off x="9272016" y="2103120"/>
            <a:ext cx="228600" cy="411480"/>
          </a:xfrm>
          <a:prstGeom prst="rect">
            <a:avLst/>
          </a:prstGeom>
          <a:solidFill>
            <a:srgbClr val="25C4B7"/>
          </a:solidFill>
          <a:ln w="12700">
            <a:solidFill>
              <a:srgbClr val="25C4B7"/>
            </a:solidFill>
            <a:prstDash val="solid"/>
          </a:ln>
        </p:spPr>
      </p:sp>
      <p:sp>
        <p:nvSpPr>
          <p:cNvPr id="46" name="Shape 44"/>
          <p:cNvSpPr/>
          <p:nvPr/>
        </p:nvSpPr>
        <p:spPr>
          <a:xfrm>
            <a:off x="9601200" y="2103120"/>
            <a:ext cx="228600" cy="411480"/>
          </a:xfrm>
          <a:prstGeom prst="rect">
            <a:avLst/>
          </a:prstGeom>
          <a:solidFill>
            <a:srgbClr val="25C4B7"/>
          </a:solidFill>
          <a:ln w="12700">
            <a:solidFill>
              <a:srgbClr val="25C4B7"/>
            </a:solidFill>
            <a:prstDash val="solid"/>
          </a:ln>
        </p:spPr>
      </p:sp>
      <p:sp>
        <p:nvSpPr>
          <p:cNvPr id="47" name="Shape 45"/>
          <p:cNvSpPr/>
          <p:nvPr/>
        </p:nvSpPr>
        <p:spPr>
          <a:xfrm>
            <a:off x="9308592" y="1828800"/>
            <a:ext cx="164592" cy="164592"/>
          </a:xfrm>
          <a:prstGeom prst="ellipse">
            <a:avLst/>
          </a:prstGeom>
          <a:solidFill>
            <a:srgbClr val="8B7CF6"/>
          </a:solidFill>
          <a:ln w="12700">
            <a:solidFill>
              <a:srgbClr val="8B7CF6"/>
            </a:solidFill>
            <a:prstDash val="solid"/>
          </a:ln>
        </p:spPr>
      </p:sp>
      <p:sp>
        <p:nvSpPr>
          <p:cNvPr id="48" name="Shape 46"/>
          <p:cNvSpPr/>
          <p:nvPr/>
        </p:nvSpPr>
        <p:spPr>
          <a:xfrm>
            <a:off x="9628632" y="1828800"/>
            <a:ext cx="164592" cy="164592"/>
          </a:xfrm>
          <a:prstGeom prst="ellipse">
            <a:avLst/>
          </a:prstGeom>
          <a:solidFill>
            <a:srgbClr val="8B7CF6"/>
          </a:solidFill>
          <a:ln w="12700">
            <a:solidFill>
              <a:srgbClr val="8B7CF6"/>
            </a:solidFill>
            <a:prstDash val="solid"/>
          </a:ln>
        </p:spPr>
      </p:sp>
      <p:sp>
        <p:nvSpPr>
          <p:cNvPr id="49" name="Text 47"/>
          <p:cNvSpPr txBox="1"/>
          <p:nvPr/>
        </p:nvSpPr>
        <p:spPr>
          <a:xfrm>
            <a:off x="8732520" y="2834640"/>
            <a:ext cx="1325880" cy="320040"/>
          </a:xfrm>
          <a:prstGeom prst="rect">
            <a:avLst/>
          </a:prstGeom>
          <a:noFill/>
          <a:ln/>
        </p:spPr>
        <p:txBody>
          <a:bodyPr wrap="square" lIns="0" tIns="0" rIns="0" bIns="0" rtlCol="0" anchor="t"/>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Custom CNN</a:t>
            </a:r>
            <a:endParaRPr lang="en-US" sz="1300" dirty="0">
              <a:latin typeface="Times New Roman" panose="02020603050405020304" pitchFamily="18" charset="0"/>
              <a:cs typeface="Times New Roman" panose="02020603050405020304" pitchFamily="18" charset="0"/>
            </a:endParaRPr>
          </a:p>
        </p:txBody>
      </p:sp>
      <p:sp>
        <p:nvSpPr>
          <p:cNvPr id="50" name="Text 48"/>
          <p:cNvSpPr txBox="1"/>
          <p:nvPr/>
        </p:nvSpPr>
        <p:spPr>
          <a:xfrm>
            <a:off x="8732520" y="3200400"/>
            <a:ext cx="1325880" cy="365760"/>
          </a:xfrm>
          <a:prstGeom prst="rect">
            <a:avLst/>
          </a:prstGeom>
          <a:noFill/>
          <a:ln/>
        </p:spPr>
        <p:txBody>
          <a:bodyPr wrap="square" lIns="0" tIns="0" rIns="0" bIns="0" rtlCol="0" anchor="t"/>
          <a:lstStyle/>
          <a:p>
            <a:pPr marL="0" indent="0" algn="ctr">
              <a:buNone/>
            </a:pPr>
            <a:r>
              <a:rPr lang="en-US" sz="1800" b="1" dirty="0">
                <a:solidFill>
                  <a:srgbClr val="8B7CF6"/>
                </a:solidFill>
                <a:latin typeface="Times New Roman" panose="02020603050405020304" pitchFamily="18" charset="0"/>
                <a:ea typeface="Calibri" pitchFamily="34" charset="-122"/>
                <a:cs typeface="Times New Roman" panose="02020603050405020304" pitchFamily="18" charset="0"/>
              </a:rPr>
              <a:t>2.54 M</a:t>
            </a:r>
            <a:endParaRPr lang="en-US" sz="1800" dirty="0">
              <a:latin typeface="Times New Roman" panose="02020603050405020304" pitchFamily="18" charset="0"/>
              <a:cs typeface="Times New Roman" panose="02020603050405020304" pitchFamily="18" charset="0"/>
            </a:endParaRPr>
          </a:p>
        </p:txBody>
      </p:sp>
      <p:sp>
        <p:nvSpPr>
          <p:cNvPr id="51" name="Text 49"/>
          <p:cNvSpPr txBox="1"/>
          <p:nvPr/>
        </p:nvSpPr>
        <p:spPr>
          <a:xfrm>
            <a:off x="8778240" y="3657600"/>
            <a:ext cx="1234440" cy="640080"/>
          </a:xfrm>
          <a:prstGeom prst="rect">
            <a:avLst/>
          </a:prstGeom>
          <a:noFill/>
          <a:ln/>
        </p:spPr>
        <p:txBody>
          <a:bodyPr wrap="square" lIns="0" tIns="0" rIns="0" bIns="0" rtlCol="0" anchor="t"/>
          <a:lstStyle/>
          <a:p>
            <a:pPr marL="0" indent="0" algn="ctr">
              <a:buNone/>
            </a:pPr>
            <a:r>
              <a:rPr lang="en-US" sz="1000" dirty="0">
                <a:solidFill>
                  <a:srgbClr val="B7C6DD"/>
                </a:solidFill>
                <a:latin typeface="Times New Roman" panose="02020603050405020304" pitchFamily="18" charset="0"/>
                <a:ea typeface="Calibri" pitchFamily="34" charset="-122"/>
                <a:cs typeface="Times New Roman" panose="02020603050405020304" pitchFamily="18" charset="0"/>
              </a:rPr>
              <a:t>Attention gate · DS-conv · skip</a:t>
            </a:r>
            <a:endParaRPr lang="en-US" sz="1000" dirty="0">
              <a:latin typeface="Times New Roman" panose="02020603050405020304" pitchFamily="18" charset="0"/>
              <a:cs typeface="Times New Roman" panose="02020603050405020304" pitchFamily="18" charset="0"/>
            </a:endParaRPr>
          </a:p>
        </p:txBody>
      </p:sp>
      <p:sp>
        <p:nvSpPr>
          <p:cNvPr id="52" name="Shape 50"/>
          <p:cNvSpPr/>
          <p:nvPr/>
        </p:nvSpPr>
        <p:spPr>
          <a:xfrm>
            <a:off x="10241280" y="1463040"/>
            <a:ext cx="1417320" cy="2926080"/>
          </a:xfrm>
          <a:prstGeom prst="roundRect">
            <a:avLst>
              <a:gd name="adj" fmla="val 6452"/>
            </a:avLst>
          </a:prstGeom>
          <a:solidFill>
            <a:srgbClr val="FFFFFF"/>
          </a:solidFill>
          <a:ln w="9525">
            <a:solidFill>
              <a:srgbClr val="D5E1EC"/>
            </a:solidFill>
            <a:prstDash val="solid"/>
          </a:ln>
          <a:effectLst>
            <a:outerShdw blurRad="101600" dist="25400" dir="5400000" algn="bl" rotWithShape="0">
              <a:srgbClr val="000000">
                <a:alpha val="15000"/>
              </a:srgbClr>
            </a:outerShdw>
          </a:effectLst>
        </p:spPr>
      </p:sp>
      <p:sp>
        <p:nvSpPr>
          <p:cNvPr id="53" name="Shape 51"/>
          <p:cNvSpPr/>
          <p:nvPr/>
        </p:nvSpPr>
        <p:spPr>
          <a:xfrm>
            <a:off x="10680192" y="1828800"/>
            <a:ext cx="201168" cy="201168"/>
          </a:xfrm>
          <a:prstGeom prst="rect">
            <a:avLst/>
          </a:prstGeom>
          <a:solidFill>
            <a:srgbClr val="8B7CF6"/>
          </a:solidFill>
          <a:ln w="12700">
            <a:solidFill>
              <a:srgbClr val="8B7CF6"/>
            </a:solidFill>
            <a:prstDash val="solid"/>
          </a:ln>
        </p:spPr>
      </p:sp>
      <p:sp>
        <p:nvSpPr>
          <p:cNvPr id="54" name="Shape 52"/>
          <p:cNvSpPr/>
          <p:nvPr/>
        </p:nvSpPr>
        <p:spPr>
          <a:xfrm>
            <a:off x="10680192" y="2066544"/>
            <a:ext cx="201168" cy="201168"/>
          </a:xfrm>
          <a:prstGeom prst="rect">
            <a:avLst/>
          </a:prstGeom>
          <a:solidFill>
            <a:srgbClr val="8B7CF6"/>
          </a:solidFill>
          <a:ln w="12700">
            <a:solidFill>
              <a:srgbClr val="8B7CF6"/>
            </a:solidFill>
            <a:prstDash val="solid"/>
          </a:ln>
        </p:spPr>
      </p:sp>
      <p:sp>
        <p:nvSpPr>
          <p:cNvPr id="55" name="Shape 53"/>
          <p:cNvSpPr/>
          <p:nvPr/>
        </p:nvSpPr>
        <p:spPr>
          <a:xfrm>
            <a:off x="10680192" y="2304288"/>
            <a:ext cx="201168" cy="201168"/>
          </a:xfrm>
          <a:prstGeom prst="rect">
            <a:avLst/>
          </a:prstGeom>
          <a:solidFill>
            <a:srgbClr val="8B7CF6"/>
          </a:solidFill>
          <a:ln w="12700">
            <a:solidFill>
              <a:srgbClr val="8B7CF6"/>
            </a:solidFill>
            <a:prstDash val="solid"/>
          </a:ln>
        </p:spPr>
      </p:sp>
      <p:sp>
        <p:nvSpPr>
          <p:cNvPr id="56" name="Shape 54"/>
          <p:cNvSpPr/>
          <p:nvPr/>
        </p:nvSpPr>
        <p:spPr>
          <a:xfrm>
            <a:off x="10917936" y="1828800"/>
            <a:ext cx="201168" cy="201168"/>
          </a:xfrm>
          <a:prstGeom prst="rect">
            <a:avLst/>
          </a:prstGeom>
          <a:solidFill>
            <a:srgbClr val="8B7CF6"/>
          </a:solidFill>
          <a:ln w="12700">
            <a:solidFill>
              <a:srgbClr val="8B7CF6"/>
            </a:solidFill>
            <a:prstDash val="solid"/>
          </a:ln>
        </p:spPr>
      </p:sp>
      <p:sp>
        <p:nvSpPr>
          <p:cNvPr id="57" name="Shape 55"/>
          <p:cNvSpPr/>
          <p:nvPr/>
        </p:nvSpPr>
        <p:spPr>
          <a:xfrm>
            <a:off x="10917936" y="2066544"/>
            <a:ext cx="201168" cy="201168"/>
          </a:xfrm>
          <a:prstGeom prst="rect">
            <a:avLst/>
          </a:prstGeom>
          <a:solidFill>
            <a:srgbClr val="8B7CF6"/>
          </a:solidFill>
          <a:ln w="12700">
            <a:solidFill>
              <a:srgbClr val="8B7CF6"/>
            </a:solidFill>
            <a:prstDash val="solid"/>
          </a:ln>
        </p:spPr>
      </p:sp>
      <p:sp>
        <p:nvSpPr>
          <p:cNvPr id="58" name="Shape 56"/>
          <p:cNvSpPr/>
          <p:nvPr/>
        </p:nvSpPr>
        <p:spPr>
          <a:xfrm>
            <a:off x="10917936" y="2304288"/>
            <a:ext cx="201168" cy="201168"/>
          </a:xfrm>
          <a:prstGeom prst="rect">
            <a:avLst/>
          </a:prstGeom>
          <a:solidFill>
            <a:srgbClr val="8B7CF6"/>
          </a:solidFill>
          <a:ln w="12700">
            <a:solidFill>
              <a:srgbClr val="8B7CF6"/>
            </a:solidFill>
            <a:prstDash val="solid"/>
          </a:ln>
        </p:spPr>
      </p:sp>
      <p:sp>
        <p:nvSpPr>
          <p:cNvPr id="59" name="Shape 57"/>
          <p:cNvSpPr/>
          <p:nvPr/>
        </p:nvSpPr>
        <p:spPr>
          <a:xfrm>
            <a:off x="11155680" y="1828800"/>
            <a:ext cx="201168" cy="201168"/>
          </a:xfrm>
          <a:prstGeom prst="rect">
            <a:avLst/>
          </a:prstGeom>
          <a:solidFill>
            <a:srgbClr val="8B7CF6"/>
          </a:solidFill>
          <a:ln w="12700">
            <a:solidFill>
              <a:srgbClr val="8B7CF6"/>
            </a:solidFill>
            <a:prstDash val="solid"/>
          </a:ln>
        </p:spPr>
      </p:sp>
      <p:sp>
        <p:nvSpPr>
          <p:cNvPr id="60" name="Shape 58"/>
          <p:cNvSpPr/>
          <p:nvPr/>
        </p:nvSpPr>
        <p:spPr>
          <a:xfrm>
            <a:off x="11155680" y="2066544"/>
            <a:ext cx="201168" cy="201168"/>
          </a:xfrm>
          <a:prstGeom prst="rect">
            <a:avLst/>
          </a:prstGeom>
          <a:solidFill>
            <a:srgbClr val="8B7CF6"/>
          </a:solidFill>
          <a:ln w="12700">
            <a:solidFill>
              <a:srgbClr val="8B7CF6"/>
            </a:solidFill>
            <a:prstDash val="solid"/>
          </a:ln>
        </p:spPr>
      </p:sp>
      <p:sp>
        <p:nvSpPr>
          <p:cNvPr id="61" name="Shape 59"/>
          <p:cNvSpPr/>
          <p:nvPr/>
        </p:nvSpPr>
        <p:spPr>
          <a:xfrm>
            <a:off x="11155680" y="2304288"/>
            <a:ext cx="201168" cy="201168"/>
          </a:xfrm>
          <a:prstGeom prst="rect">
            <a:avLst/>
          </a:prstGeom>
          <a:solidFill>
            <a:srgbClr val="8B7CF6"/>
          </a:solidFill>
          <a:ln w="12700">
            <a:solidFill>
              <a:srgbClr val="8B7CF6"/>
            </a:solidFill>
            <a:prstDash val="solid"/>
          </a:ln>
        </p:spPr>
      </p:sp>
      <p:sp>
        <p:nvSpPr>
          <p:cNvPr id="62" name="Text 60"/>
          <p:cNvSpPr txBox="1"/>
          <p:nvPr/>
        </p:nvSpPr>
        <p:spPr>
          <a:xfrm>
            <a:off x="10287000" y="2834640"/>
            <a:ext cx="1325880" cy="320040"/>
          </a:xfrm>
          <a:prstGeom prst="rect">
            <a:avLst/>
          </a:prstGeom>
          <a:noFill/>
          <a:ln/>
        </p:spPr>
        <p:txBody>
          <a:bodyPr wrap="square" lIns="0" tIns="0" rIns="0" bIns="0" rtlCol="0" anchor="t"/>
          <a:lstStyle/>
          <a:p>
            <a:pPr marL="0" indent="0" algn="ctr">
              <a:buNone/>
            </a:pPr>
            <a:r>
              <a:rPr lang="en-US" sz="1300" b="1" dirty="0">
                <a:solidFill>
                  <a:srgbClr val="0B132B"/>
                </a:solidFill>
                <a:latin typeface="Times New Roman" panose="02020603050405020304" pitchFamily="18" charset="0"/>
                <a:ea typeface="Calibri" pitchFamily="34" charset="-122"/>
                <a:cs typeface="Times New Roman" panose="02020603050405020304" pitchFamily="18" charset="0"/>
              </a:rPr>
              <a:t>ViT</a:t>
            </a:r>
            <a:endParaRPr lang="en-US" sz="1300" dirty="0">
              <a:latin typeface="Times New Roman" panose="02020603050405020304" pitchFamily="18" charset="0"/>
              <a:cs typeface="Times New Roman" panose="02020603050405020304" pitchFamily="18" charset="0"/>
            </a:endParaRPr>
          </a:p>
        </p:txBody>
      </p:sp>
      <p:sp>
        <p:nvSpPr>
          <p:cNvPr id="63" name="Text 61"/>
          <p:cNvSpPr txBox="1"/>
          <p:nvPr/>
        </p:nvSpPr>
        <p:spPr>
          <a:xfrm>
            <a:off x="10287000" y="3200400"/>
            <a:ext cx="1325880" cy="365760"/>
          </a:xfrm>
          <a:prstGeom prst="rect">
            <a:avLst/>
          </a:prstGeom>
          <a:noFill/>
          <a:ln/>
        </p:spPr>
        <p:txBody>
          <a:bodyPr wrap="square" lIns="0" tIns="0" rIns="0" bIns="0" rtlCol="0" anchor="t"/>
          <a:lstStyle/>
          <a:p>
            <a:pPr marL="0" indent="0" algn="ctr">
              <a:buNone/>
            </a:pPr>
            <a:r>
              <a:rPr lang="en-US" sz="1800" b="1" dirty="0">
                <a:solidFill>
                  <a:srgbClr val="25C4B7"/>
                </a:solidFill>
                <a:latin typeface="Times New Roman" panose="02020603050405020304" pitchFamily="18" charset="0"/>
                <a:ea typeface="Calibri" pitchFamily="34" charset="-122"/>
                <a:cs typeface="Times New Roman" panose="02020603050405020304" pitchFamily="18" charset="0"/>
              </a:rPr>
              <a:t>89.7 M</a:t>
            </a:r>
            <a:endParaRPr lang="en-US" sz="1800" dirty="0">
              <a:latin typeface="Times New Roman" panose="02020603050405020304" pitchFamily="18" charset="0"/>
              <a:cs typeface="Times New Roman" panose="02020603050405020304" pitchFamily="18" charset="0"/>
            </a:endParaRPr>
          </a:p>
        </p:txBody>
      </p:sp>
      <p:sp>
        <p:nvSpPr>
          <p:cNvPr id="64" name="Text 62"/>
          <p:cNvSpPr txBox="1"/>
          <p:nvPr/>
        </p:nvSpPr>
        <p:spPr>
          <a:xfrm>
            <a:off x="10332720" y="3657600"/>
            <a:ext cx="1234440" cy="640080"/>
          </a:xfrm>
          <a:prstGeom prst="rect">
            <a:avLst/>
          </a:prstGeom>
          <a:noFill/>
          <a:ln/>
        </p:spPr>
        <p:txBody>
          <a:bodyPr wrap="square" lIns="0" tIns="0" rIns="0" bIns="0" rtlCol="0" anchor="t"/>
          <a:lstStyle/>
          <a:p>
            <a:pPr marL="0" indent="0" algn="ctr">
              <a:buNone/>
            </a:pPr>
            <a:r>
              <a:rPr lang="en-US" sz="1000" dirty="0">
                <a:solidFill>
                  <a:srgbClr val="5B6B82"/>
                </a:solidFill>
                <a:latin typeface="Times New Roman" panose="02020603050405020304" pitchFamily="18" charset="0"/>
                <a:ea typeface="Calibri" pitchFamily="34" charset="-122"/>
                <a:cs typeface="Times New Roman" panose="02020603050405020304" pitchFamily="18" charset="0"/>
              </a:rPr>
              <a:t>Patches · self-attention</a:t>
            </a:r>
            <a:endParaRPr lang="en-US" sz="1000" dirty="0">
              <a:latin typeface="Times New Roman" panose="02020603050405020304" pitchFamily="18" charset="0"/>
              <a:cs typeface="Times New Roman" panose="02020603050405020304" pitchFamily="18" charset="0"/>
            </a:endParaRPr>
          </a:p>
        </p:txBody>
      </p:sp>
      <p:sp>
        <p:nvSpPr>
          <p:cNvPr id="65" name="Text 63"/>
          <p:cNvSpPr txBox="1"/>
          <p:nvPr/>
        </p:nvSpPr>
        <p:spPr>
          <a:xfrm>
            <a:off x="4023360" y="4526280"/>
            <a:ext cx="7315200" cy="274320"/>
          </a:xfrm>
          <a:prstGeom prst="rect">
            <a:avLst/>
          </a:prstGeom>
          <a:noFill/>
          <a:ln/>
        </p:spPr>
        <p:txBody>
          <a:bodyPr wrap="square" lIns="0" tIns="0" rIns="0" bIns="0" rtlCol="0" anchor="t"/>
          <a:lstStyle/>
          <a:p>
            <a:pPr marL="0" indent="0">
              <a:buNone/>
            </a:pPr>
            <a:r>
              <a:rPr lang="en-US" sz="1000" i="1" dirty="0">
                <a:solidFill>
                  <a:srgbClr val="5B6B82"/>
                </a:solidFill>
                <a:latin typeface="Times New Roman" panose="02020603050405020304" pitchFamily="18" charset="0"/>
                <a:ea typeface="Calibri" pitchFamily="34" charset="-122"/>
                <a:cs typeface="Times New Roman" panose="02020603050405020304" pitchFamily="18" charset="0"/>
              </a:rPr>
              <a:t>Illustrative sketches; exact layer configurations are not documented.</a:t>
            </a:r>
            <a:endParaRPr lang="en-US" sz="1000" dirty="0">
              <a:latin typeface="Times New Roman" panose="02020603050405020304" pitchFamily="18" charset="0"/>
              <a:cs typeface="Times New Roman" panose="02020603050405020304" pitchFamily="18" charset="0"/>
            </a:endParaRPr>
          </a:p>
        </p:txBody>
      </p:sp>
      <p:sp>
        <p:nvSpPr>
          <p:cNvPr id="66" name="Text 64"/>
          <p:cNvSpPr txBox="1"/>
          <p:nvPr/>
        </p:nvSpPr>
        <p:spPr>
          <a:xfrm>
            <a:off x="640080" y="5257800"/>
            <a:ext cx="11064240" cy="640080"/>
          </a:xfrm>
          <a:prstGeom prst="rect">
            <a:avLst/>
          </a:prstGeom>
          <a:noFill/>
          <a:ln/>
        </p:spPr>
        <p:txBody>
          <a:bodyPr wrap="square" lIns="0" tIns="0" rIns="0" bIns="0" rtlCol="0" anchor="t"/>
          <a:lstStyle/>
          <a:p>
            <a:pPr marL="0" indent="0">
              <a:buNone/>
            </a:pPr>
            <a:r>
              <a:rPr lang="en-US" sz="1250" dirty="0">
                <a:solidFill>
                  <a:srgbClr val="1C3D6E"/>
                </a:solidFill>
                <a:latin typeface="Times New Roman" panose="02020603050405020304" pitchFamily="18" charset="0"/>
                <a:ea typeface="Calibri" pitchFamily="34" charset="-122"/>
                <a:cs typeface="Times New Roman" panose="02020603050405020304" pitchFamily="18" charset="0"/>
              </a:rPr>
              <a:t>Custom CNN: custom blocks → spatial-attention gating → depthwise-separable conv → skip connection → 5-class head.   ViT: patch extraction → embedding → multi-head self-attention → encoder blocks → 5-class head.</a:t>
            </a:r>
            <a:endParaRPr lang="en-US" sz="1250" dirty="0">
              <a:latin typeface="Times New Roman" panose="02020603050405020304" pitchFamily="18" charset="0"/>
              <a:cs typeface="Times New Roman" panose="02020603050405020304" pitchFamily="18" charset="0"/>
            </a:endParaRPr>
          </a:p>
        </p:txBody>
      </p:sp>
      <p:sp>
        <p:nvSpPr>
          <p:cNvPr id="67" name="Text 65"/>
          <p:cNvSpPr txBox="1"/>
          <p:nvPr/>
        </p:nvSpPr>
        <p:spPr>
          <a:xfrm>
            <a:off x="640080" y="5943600"/>
            <a:ext cx="11064240" cy="365760"/>
          </a:xfrm>
          <a:prstGeom prst="rect">
            <a:avLst/>
          </a:prstGeom>
          <a:noFill/>
          <a:ln/>
        </p:spPr>
        <p:txBody>
          <a:bodyPr wrap="square" lIns="0" tIns="0" rIns="0" bIns="0" rtlCol="0" anchor="t"/>
          <a:lstStyle/>
          <a:p>
            <a:pPr marL="0" indent="0">
              <a:buNone/>
            </a:pPr>
            <a:r>
              <a:rPr lang="en-US" sz="1200" dirty="0">
                <a:solidFill>
                  <a:srgbClr val="5B6B82"/>
                </a:solidFill>
                <a:latin typeface="Times New Roman" panose="02020603050405020304" pitchFamily="18" charset="0"/>
                <a:ea typeface="Calibri" pitchFamily="34" charset="-122"/>
                <a:cs typeface="Times New Roman" panose="02020603050405020304" pitchFamily="18" charset="0"/>
              </a:rPr>
              <a:t>Pipeline: preprocessing → tf.data input → model training → evaluation → classification output.</a:t>
            </a:r>
            <a:endParaRPr lang="en-US" sz="1200" dirty="0">
              <a:latin typeface="Times New Roman" panose="02020603050405020304" pitchFamily="18" charset="0"/>
              <a:cs typeface="Times New Roman" panose="02020603050405020304" pitchFamily="18" charset="0"/>
            </a:endParaRPr>
          </a:p>
        </p:txBody>
      </p:sp>
      <p:sp>
        <p:nvSpPr>
          <p:cNvPr id="68" name="Text 66"/>
          <p:cNvSpPr txBox="1"/>
          <p:nvPr/>
        </p:nvSpPr>
        <p:spPr>
          <a:xfrm>
            <a:off x="10881360" y="6446520"/>
            <a:ext cx="822960" cy="274320"/>
          </a:xfrm>
          <a:prstGeom prst="rect">
            <a:avLst/>
          </a:prstGeom>
          <a:noFill/>
          <a:ln/>
        </p:spPr>
        <p:txBody>
          <a:bodyPr wrap="square" lIns="0" tIns="0" rIns="0" bIns="0" rtlCol="0" anchor="t"/>
          <a:lstStyle/>
          <a:p>
            <a:pPr marL="0" indent="0" algn="r">
              <a:buNone/>
            </a:pPr>
            <a:r>
              <a:rPr lang="en-US" sz="1000" dirty="0">
                <a:solidFill>
                  <a:srgbClr val="5B6B82"/>
                </a:solidFill>
                <a:latin typeface="Times New Roman" panose="02020603050405020304" pitchFamily="18" charset="0"/>
                <a:ea typeface="Calibri" pitchFamily="34" charset="-122"/>
                <a:cs typeface="Times New Roman" panose="02020603050405020304" pitchFamily="18" charset="0"/>
              </a:rPr>
              <a:t>7 / 13</a:t>
            </a:r>
            <a:endParaRPr lang="en-US" sz="1000" dirty="0">
              <a:latin typeface="Times New Roman" panose="02020603050405020304" pitchFamily="18" charset="0"/>
              <a:cs typeface="Times New Roman" panose="02020603050405020304" pitchFamily="18" charset="0"/>
            </a:endParaRPr>
          </a:p>
        </p:txBody>
      </p:sp>
      <p:sp>
        <p:nvSpPr>
          <p:cNvPr id="69" name="Shape 67"/>
          <p:cNvSpPr/>
          <p:nvPr/>
        </p:nvSpPr>
        <p:spPr>
          <a:xfrm>
            <a:off x="548640" y="6400800"/>
            <a:ext cx="11064240" cy="9144"/>
          </a:xfrm>
          <a:prstGeom prst="rect">
            <a:avLst/>
          </a:prstGeom>
          <a:solidFill>
            <a:srgbClr val="C9D3DF"/>
          </a:solidFill>
          <a:ln w="12700">
            <a:solidFill>
              <a:srgbClr val="C9D3D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4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25C4B7"/>
          </a:solidFill>
          <a:ln w="12700">
            <a:solidFill>
              <a:srgbClr val="25C4B7"/>
            </a:solidFill>
            <a:prstDash val="solid"/>
          </a:ln>
        </p:spPr>
      </p:sp>
      <p:sp>
        <p:nvSpPr>
          <p:cNvPr id="3" name="Shape 1"/>
          <p:cNvSpPr/>
          <p:nvPr/>
        </p:nvSpPr>
        <p:spPr>
          <a:xfrm>
            <a:off x="548640" y="475488"/>
            <a:ext cx="128016" cy="128016"/>
          </a:xfrm>
          <a:prstGeom prst="ellipse">
            <a:avLst/>
          </a:prstGeom>
          <a:solidFill>
            <a:srgbClr val="25C4B7"/>
          </a:solidFill>
          <a:ln w="12700">
            <a:solidFill>
              <a:srgbClr val="25C4B7"/>
            </a:solidFill>
            <a:prstDash val="solid"/>
          </a:ln>
        </p:spPr>
      </p:sp>
      <p:sp>
        <p:nvSpPr>
          <p:cNvPr id="4" name="Text 2"/>
          <p:cNvSpPr txBox="1"/>
          <p:nvPr/>
        </p:nvSpPr>
        <p:spPr>
          <a:xfrm>
            <a:off x="777240" y="365760"/>
            <a:ext cx="10881360" cy="566928"/>
          </a:xfrm>
          <a:prstGeom prst="rect">
            <a:avLst/>
          </a:prstGeom>
          <a:noFill/>
          <a:ln/>
        </p:spPr>
        <p:txBody>
          <a:bodyPr wrap="square" lIns="0" tIns="0" rIns="0" bIns="0" rtlCol="0" anchor="t"/>
          <a:lstStyle/>
          <a:p>
            <a:pPr marL="0" indent="0">
              <a:buNone/>
            </a:pPr>
            <a:r>
              <a:rPr lang="en-US" sz="3000" b="1" dirty="0">
                <a:solidFill>
                  <a:srgbClr val="0B132B"/>
                </a:solidFill>
                <a:latin typeface="Times New Roman" panose="02020603050405020304" pitchFamily="18" charset="0"/>
                <a:ea typeface="Calibri" pitchFamily="34" charset="-122"/>
                <a:cs typeface="Times New Roman" panose="02020603050405020304" pitchFamily="18" charset="0"/>
              </a:rPr>
              <a:t>Algorithms: Custom CNN and Vision Transformer</a:t>
            </a:r>
            <a:endParaRPr lang="en-US" sz="3000" dirty="0">
              <a:latin typeface="Times New Roman" panose="02020603050405020304" pitchFamily="18" charset="0"/>
              <a:cs typeface="Times New Roman" panose="02020603050405020304" pitchFamily="18" charset="0"/>
            </a:endParaRPr>
          </a:p>
        </p:txBody>
      </p:sp>
      <p:sp>
        <p:nvSpPr>
          <p:cNvPr id="5" name="Text 3"/>
          <p:cNvSpPr txBox="1"/>
          <p:nvPr/>
        </p:nvSpPr>
        <p:spPr>
          <a:xfrm>
            <a:off x="777240" y="932688"/>
            <a:ext cx="10881360" cy="320040"/>
          </a:xfrm>
          <a:prstGeom prst="rect">
            <a:avLst/>
          </a:prstGeom>
          <a:noFill/>
          <a:ln/>
        </p:spPr>
        <p:txBody>
          <a:bodyPr wrap="square" lIns="0" tIns="0" rIns="0" bIns="0" rtlCol="0" anchor="t"/>
          <a:lstStyle/>
          <a:p>
            <a:pPr marL="0" indent="0">
              <a:buNone/>
            </a:pPr>
            <a:r>
              <a:rPr lang="en-US" sz="1400" dirty="0">
                <a:solidFill>
                  <a:srgbClr val="5B6B82"/>
                </a:solidFill>
                <a:latin typeface="Times New Roman" panose="02020603050405020304" pitchFamily="18" charset="0"/>
                <a:ea typeface="Calibri" pitchFamily="34" charset="-122"/>
                <a:cs typeface="Times New Roman" panose="02020603050405020304" pitchFamily="18" charset="0"/>
              </a:rPr>
              <a:t>Documented components; illustrative layout</a:t>
            </a:r>
            <a:endParaRPr lang="en-US" sz="1400" dirty="0">
              <a:latin typeface="Times New Roman" panose="02020603050405020304" pitchFamily="18" charset="0"/>
              <a:cs typeface="Times New Roman" panose="02020603050405020304" pitchFamily="18" charset="0"/>
            </a:endParaRPr>
          </a:p>
        </p:txBody>
      </p:sp>
      <p:sp>
        <p:nvSpPr>
          <p:cNvPr id="6" name="Shape 4"/>
          <p:cNvSpPr/>
          <p:nvPr/>
        </p:nvSpPr>
        <p:spPr>
          <a:xfrm>
            <a:off x="548640" y="1463040"/>
            <a:ext cx="5440680" cy="4572000"/>
          </a:xfrm>
          <a:prstGeom prst="roundRect">
            <a:avLst>
              <a:gd name="adj" fmla="val 2000"/>
            </a:avLst>
          </a:prstGeom>
          <a:solidFill>
            <a:srgbClr val="FFFFFF"/>
          </a:solidFill>
          <a:ln w="9525">
            <a:solidFill>
              <a:srgbClr val="D5E1EC"/>
            </a:solidFill>
            <a:prstDash val="solid"/>
          </a:ln>
          <a:effectLst>
            <a:outerShdw blurRad="101600" dist="25400" dir="5400000" algn="bl" rotWithShape="0">
              <a:srgbClr val="000000">
                <a:alpha val="15000"/>
              </a:srgbClr>
            </a:outerShdw>
          </a:effectLst>
        </p:spPr>
      </p:sp>
      <p:sp>
        <p:nvSpPr>
          <p:cNvPr id="7" name="Text 5"/>
          <p:cNvSpPr txBox="1"/>
          <p:nvPr/>
        </p:nvSpPr>
        <p:spPr>
          <a:xfrm>
            <a:off x="777240" y="1554480"/>
            <a:ext cx="4937760" cy="365760"/>
          </a:xfrm>
          <a:prstGeom prst="rect">
            <a:avLst/>
          </a:prstGeom>
          <a:noFill/>
          <a:ln/>
        </p:spPr>
        <p:txBody>
          <a:bodyPr wrap="square" lIns="0" tIns="0" rIns="0" bIns="0" rtlCol="0" anchor="t"/>
          <a:lstStyle/>
          <a:p>
            <a:pPr marL="0" indent="0">
              <a:buNone/>
            </a:pPr>
            <a:r>
              <a:rPr lang="en-US" sz="1800" b="1" dirty="0">
                <a:solidFill>
                  <a:srgbClr val="25C4B7"/>
                </a:solidFill>
                <a:latin typeface="Times New Roman" panose="02020603050405020304" pitchFamily="18" charset="0"/>
                <a:ea typeface="Calibri" pitchFamily="34" charset="-122"/>
                <a:cs typeface="Times New Roman" panose="02020603050405020304" pitchFamily="18" charset="0"/>
              </a:rPr>
              <a:t>Spatial-attention CNN · 2.54 M</a:t>
            </a:r>
            <a:endParaRPr lang="en-US" sz="1800" dirty="0">
              <a:latin typeface="Times New Roman" panose="02020603050405020304" pitchFamily="18" charset="0"/>
              <a:cs typeface="Times New Roman" panose="02020603050405020304" pitchFamily="18" charset="0"/>
            </a:endParaRPr>
          </a:p>
        </p:txBody>
      </p:sp>
      <p:sp>
        <p:nvSpPr>
          <p:cNvPr id="8" name="Shape 6"/>
          <p:cNvSpPr/>
          <p:nvPr/>
        </p:nvSpPr>
        <p:spPr>
          <a:xfrm>
            <a:off x="914400" y="2057400"/>
            <a:ext cx="4709160" cy="457200"/>
          </a:xfrm>
          <a:prstGeom prst="roundRect">
            <a:avLst>
              <a:gd name="adj" fmla="val 20000"/>
            </a:avLst>
          </a:prstGeom>
          <a:solidFill>
            <a:srgbClr val="EEF3F8"/>
          </a:solidFill>
          <a:ln w="9525">
            <a:solidFill>
              <a:srgbClr val="25C4B7"/>
            </a:solidFill>
            <a:prstDash val="solid"/>
          </a:ln>
        </p:spPr>
      </p:sp>
      <p:sp>
        <p:nvSpPr>
          <p:cNvPr id="9" name="Text 7"/>
          <p:cNvSpPr txBox="1"/>
          <p:nvPr/>
        </p:nvSpPr>
        <p:spPr>
          <a:xfrm>
            <a:off x="1097280" y="2057400"/>
            <a:ext cx="4389120" cy="457200"/>
          </a:xfrm>
          <a:prstGeom prst="rect">
            <a:avLst/>
          </a:prstGeom>
          <a:noFill/>
          <a:ln/>
        </p:spPr>
        <p:txBody>
          <a:bodyPr wrap="square" lIns="0" tIns="0" rIns="0" bIns="0" rtlCol="0" anchor="ctr"/>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Input 224×224×3</a:t>
            </a:r>
            <a:endParaRPr lang="en-US" sz="1300" dirty="0">
              <a:latin typeface="Times New Roman" panose="02020603050405020304" pitchFamily="18" charset="0"/>
              <a:cs typeface="Times New Roman" panose="02020603050405020304" pitchFamily="18" charset="0"/>
            </a:endParaRPr>
          </a:p>
        </p:txBody>
      </p:sp>
      <p:sp>
        <p:nvSpPr>
          <p:cNvPr id="10" name="Shape 8"/>
          <p:cNvSpPr/>
          <p:nvPr/>
        </p:nvSpPr>
        <p:spPr>
          <a:xfrm>
            <a:off x="3264408" y="2514600"/>
            <a:ext cx="0" cy="164592"/>
          </a:xfrm>
          <a:prstGeom prst="line">
            <a:avLst/>
          </a:prstGeom>
          <a:noFill/>
          <a:ln w="19050">
            <a:solidFill>
              <a:srgbClr val="25C4B7"/>
            </a:solidFill>
            <a:prstDash val="solid"/>
            <a:tailEnd type="triangle"/>
          </a:ln>
        </p:spPr>
      </p:sp>
      <p:sp>
        <p:nvSpPr>
          <p:cNvPr id="11" name="Shape 9"/>
          <p:cNvSpPr/>
          <p:nvPr/>
        </p:nvSpPr>
        <p:spPr>
          <a:xfrm>
            <a:off x="914400" y="2679192"/>
            <a:ext cx="4709160" cy="457200"/>
          </a:xfrm>
          <a:prstGeom prst="roundRect">
            <a:avLst>
              <a:gd name="adj" fmla="val 20000"/>
            </a:avLst>
          </a:prstGeom>
          <a:solidFill>
            <a:srgbClr val="25C4B7"/>
          </a:solidFill>
          <a:ln w="9525">
            <a:solidFill>
              <a:srgbClr val="25C4B7"/>
            </a:solidFill>
            <a:prstDash val="solid"/>
          </a:ln>
        </p:spPr>
      </p:sp>
      <p:sp>
        <p:nvSpPr>
          <p:cNvPr id="12" name="Text 10"/>
          <p:cNvSpPr txBox="1"/>
          <p:nvPr/>
        </p:nvSpPr>
        <p:spPr>
          <a:xfrm>
            <a:off x="1097280" y="2679192"/>
            <a:ext cx="4389120" cy="457200"/>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Custom conv blocks (from scratch)</a:t>
            </a:r>
            <a:endParaRPr lang="en-US" sz="1300" dirty="0">
              <a:latin typeface="Times New Roman" panose="02020603050405020304" pitchFamily="18" charset="0"/>
              <a:cs typeface="Times New Roman" panose="02020603050405020304" pitchFamily="18" charset="0"/>
            </a:endParaRPr>
          </a:p>
        </p:txBody>
      </p:sp>
      <p:sp>
        <p:nvSpPr>
          <p:cNvPr id="13" name="Shape 11"/>
          <p:cNvSpPr/>
          <p:nvPr/>
        </p:nvSpPr>
        <p:spPr>
          <a:xfrm>
            <a:off x="3264408" y="3136392"/>
            <a:ext cx="0" cy="164592"/>
          </a:xfrm>
          <a:prstGeom prst="line">
            <a:avLst/>
          </a:prstGeom>
          <a:noFill/>
          <a:ln w="19050">
            <a:solidFill>
              <a:srgbClr val="25C4B7"/>
            </a:solidFill>
            <a:prstDash val="solid"/>
            <a:tailEnd type="triangle"/>
          </a:ln>
        </p:spPr>
      </p:sp>
      <p:sp>
        <p:nvSpPr>
          <p:cNvPr id="14" name="Shape 12"/>
          <p:cNvSpPr/>
          <p:nvPr/>
        </p:nvSpPr>
        <p:spPr>
          <a:xfrm>
            <a:off x="914400" y="3300984"/>
            <a:ext cx="4709160" cy="457200"/>
          </a:xfrm>
          <a:prstGeom prst="roundRect">
            <a:avLst>
              <a:gd name="adj" fmla="val 20000"/>
            </a:avLst>
          </a:prstGeom>
          <a:solidFill>
            <a:srgbClr val="25C4B7"/>
          </a:solidFill>
          <a:ln w="9525">
            <a:solidFill>
              <a:srgbClr val="25C4B7"/>
            </a:solidFill>
            <a:prstDash val="solid"/>
          </a:ln>
        </p:spPr>
      </p:sp>
      <p:sp>
        <p:nvSpPr>
          <p:cNvPr id="15" name="Text 13"/>
          <p:cNvSpPr txBox="1"/>
          <p:nvPr/>
        </p:nvSpPr>
        <p:spPr>
          <a:xfrm>
            <a:off x="1097280" y="3300984"/>
            <a:ext cx="4389120" cy="457200"/>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Spatial-attention gating</a:t>
            </a:r>
            <a:endParaRPr lang="en-US" sz="1300" dirty="0">
              <a:latin typeface="Times New Roman" panose="02020603050405020304" pitchFamily="18" charset="0"/>
              <a:cs typeface="Times New Roman" panose="02020603050405020304" pitchFamily="18" charset="0"/>
            </a:endParaRPr>
          </a:p>
        </p:txBody>
      </p:sp>
      <p:sp>
        <p:nvSpPr>
          <p:cNvPr id="16" name="Shape 14"/>
          <p:cNvSpPr/>
          <p:nvPr/>
        </p:nvSpPr>
        <p:spPr>
          <a:xfrm>
            <a:off x="3264408" y="3758184"/>
            <a:ext cx="0" cy="164592"/>
          </a:xfrm>
          <a:prstGeom prst="line">
            <a:avLst/>
          </a:prstGeom>
          <a:noFill/>
          <a:ln w="19050">
            <a:solidFill>
              <a:srgbClr val="25C4B7"/>
            </a:solidFill>
            <a:prstDash val="solid"/>
            <a:tailEnd type="triangle"/>
          </a:ln>
        </p:spPr>
      </p:sp>
      <p:sp>
        <p:nvSpPr>
          <p:cNvPr id="17" name="Shape 15"/>
          <p:cNvSpPr/>
          <p:nvPr/>
        </p:nvSpPr>
        <p:spPr>
          <a:xfrm>
            <a:off x="914400" y="3922776"/>
            <a:ext cx="4709160" cy="457200"/>
          </a:xfrm>
          <a:prstGeom prst="roundRect">
            <a:avLst>
              <a:gd name="adj" fmla="val 20000"/>
            </a:avLst>
          </a:prstGeom>
          <a:solidFill>
            <a:srgbClr val="25C4B7"/>
          </a:solidFill>
          <a:ln w="9525">
            <a:solidFill>
              <a:srgbClr val="25C4B7"/>
            </a:solidFill>
            <a:prstDash val="solid"/>
          </a:ln>
        </p:spPr>
      </p:sp>
      <p:sp>
        <p:nvSpPr>
          <p:cNvPr id="18" name="Text 16"/>
          <p:cNvSpPr txBox="1"/>
          <p:nvPr/>
        </p:nvSpPr>
        <p:spPr>
          <a:xfrm>
            <a:off x="1097280" y="3922776"/>
            <a:ext cx="4389120" cy="457200"/>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Depthwise-separable convolution</a:t>
            </a:r>
            <a:endParaRPr lang="en-US" sz="1300" dirty="0">
              <a:latin typeface="Times New Roman" panose="02020603050405020304" pitchFamily="18" charset="0"/>
              <a:cs typeface="Times New Roman" panose="02020603050405020304" pitchFamily="18" charset="0"/>
            </a:endParaRPr>
          </a:p>
        </p:txBody>
      </p:sp>
      <p:sp>
        <p:nvSpPr>
          <p:cNvPr id="19" name="Shape 17"/>
          <p:cNvSpPr/>
          <p:nvPr/>
        </p:nvSpPr>
        <p:spPr>
          <a:xfrm>
            <a:off x="3264408" y="4379976"/>
            <a:ext cx="0" cy="164592"/>
          </a:xfrm>
          <a:prstGeom prst="line">
            <a:avLst/>
          </a:prstGeom>
          <a:noFill/>
          <a:ln w="19050">
            <a:solidFill>
              <a:srgbClr val="25C4B7"/>
            </a:solidFill>
            <a:prstDash val="solid"/>
            <a:tailEnd type="triangle"/>
          </a:ln>
        </p:spPr>
      </p:sp>
      <p:sp>
        <p:nvSpPr>
          <p:cNvPr id="20" name="Shape 18"/>
          <p:cNvSpPr/>
          <p:nvPr/>
        </p:nvSpPr>
        <p:spPr>
          <a:xfrm>
            <a:off x="914400" y="4544568"/>
            <a:ext cx="4709160" cy="457200"/>
          </a:xfrm>
          <a:prstGeom prst="roundRect">
            <a:avLst>
              <a:gd name="adj" fmla="val 20000"/>
            </a:avLst>
          </a:prstGeom>
          <a:solidFill>
            <a:srgbClr val="25C4B7"/>
          </a:solidFill>
          <a:ln w="9525">
            <a:solidFill>
              <a:srgbClr val="25C4B7"/>
            </a:solidFill>
            <a:prstDash val="solid"/>
          </a:ln>
        </p:spPr>
      </p:sp>
      <p:sp>
        <p:nvSpPr>
          <p:cNvPr id="21" name="Text 19"/>
          <p:cNvSpPr txBox="1"/>
          <p:nvPr/>
        </p:nvSpPr>
        <p:spPr>
          <a:xfrm>
            <a:off x="1097280" y="4544568"/>
            <a:ext cx="4389120" cy="457200"/>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Skip (residual) connection</a:t>
            </a:r>
            <a:endParaRPr lang="en-US" sz="1300" dirty="0">
              <a:latin typeface="Times New Roman" panose="02020603050405020304" pitchFamily="18" charset="0"/>
              <a:cs typeface="Times New Roman" panose="02020603050405020304" pitchFamily="18" charset="0"/>
            </a:endParaRPr>
          </a:p>
        </p:txBody>
      </p:sp>
      <p:sp>
        <p:nvSpPr>
          <p:cNvPr id="22" name="Shape 20"/>
          <p:cNvSpPr/>
          <p:nvPr/>
        </p:nvSpPr>
        <p:spPr>
          <a:xfrm>
            <a:off x="3264408" y="5001768"/>
            <a:ext cx="0" cy="164592"/>
          </a:xfrm>
          <a:prstGeom prst="line">
            <a:avLst/>
          </a:prstGeom>
          <a:noFill/>
          <a:ln w="19050">
            <a:solidFill>
              <a:srgbClr val="25C4B7"/>
            </a:solidFill>
            <a:prstDash val="solid"/>
            <a:tailEnd type="triangle"/>
          </a:ln>
        </p:spPr>
      </p:sp>
      <p:sp>
        <p:nvSpPr>
          <p:cNvPr id="23" name="Shape 21"/>
          <p:cNvSpPr/>
          <p:nvPr/>
        </p:nvSpPr>
        <p:spPr>
          <a:xfrm>
            <a:off x="914400" y="5166360"/>
            <a:ext cx="4709160" cy="457200"/>
          </a:xfrm>
          <a:prstGeom prst="roundRect">
            <a:avLst>
              <a:gd name="adj" fmla="val 20000"/>
            </a:avLst>
          </a:prstGeom>
          <a:solidFill>
            <a:srgbClr val="EEF3F8"/>
          </a:solidFill>
          <a:ln w="9525">
            <a:solidFill>
              <a:srgbClr val="25C4B7"/>
            </a:solidFill>
            <a:prstDash val="solid"/>
          </a:ln>
        </p:spPr>
      </p:sp>
      <p:sp>
        <p:nvSpPr>
          <p:cNvPr id="24" name="Text 22"/>
          <p:cNvSpPr txBox="1"/>
          <p:nvPr/>
        </p:nvSpPr>
        <p:spPr>
          <a:xfrm>
            <a:off x="1097280" y="5166360"/>
            <a:ext cx="4389120" cy="457200"/>
          </a:xfrm>
          <a:prstGeom prst="rect">
            <a:avLst/>
          </a:prstGeom>
          <a:noFill/>
          <a:ln/>
        </p:spPr>
        <p:txBody>
          <a:bodyPr wrap="square" lIns="0" tIns="0" rIns="0" bIns="0" rtlCol="0" anchor="ctr"/>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Dense head → 5 classes</a:t>
            </a:r>
            <a:endParaRPr lang="en-US" sz="1300" dirty="0">
              <a:latin typeface="Times New Roman" panose="02020603050405020304" pitchFamily="18" charset="0"/>
              <a:cs typeface="Times New Roman" panose="02020603050405020304" pitchFamily="18" charset="0"/>
            </a:endParaRPr>
          </a:p>
        </p:txBody>
      </p:sp>
      <p:sp>
        <p:nvSpPr>
          <p:cNvPr id="26" name="Shape 24"/>
          <p:cNvSpPr/>
          <p:nvPr/>
        </p:nvSpPr>
        <p:spPr>
          <a:xfrm>
            <a:off x="6217920" y="1463040"/>
            <a:ext cx="5440680" cy="4572000"/>
          </a:xfrm>
          <a:prstGeom prst="roundRect">
            <a:avLst>
              <a:gd name="adj" fmla="val 2000"/>
            </a:avLst>
          </a:prstGeom>
          <a:solidFill>
            <a:srgbClr val="FFFFFF"/>
          </a:solidFill>
          <a:ln w="9525">
            <a:solidFill>
              <a:srgbClr val="D5E1EC"/>
            </a:solidFill>
            <a:prstDash val="solid"/>
          </a:ln>
          <a:effectLst>
            <a:outerShdw blurRad="101600" dist="25400" dir="5400000" algn="bl" rotWithShape="0">
              <a:srgbClr val="000000">
                <a:alpha val="15000"/>
              </a:srgbClr>
            </a:outerShdw>
          </a:effectLst>
        </p:spPr>
      </p:sp>
      <p:sp>
        <p:nvSpPr>
          <p:cNvPr id="27" name="Text 25"/>
          <p:cNvSpPr txBox="1"/>
          <p:nvPr/>
        </p:nvSpPr>
        <p:spPr>
          <a:xfrm>
            <a:off x="6446520" y="1554480"/>
            <a:ext cx="4937760" cy="365760"/>
          </a:xfrm>
          <a:prstGeom prst="rect">
            <a:avLst/>
          </a:prstGeom>
          <a:noFill/>
          <a:ln/>
        </p:spPr>
        <p:txBody>
          <a:bodyPr wrap="square" lIns="0" tIns="0" rIns="0" bIns="0" rtlCol="0" anchor="t"/>
          <a:lstStyle/>
          <a:p>
            <a:pPr marL="0" indent="0">
              <a:buNone/>
            </a:pPr>
            <a:r>
              <a:rPr lang="en-US" sz="1800" b="1" dirty="0">
                <a:solidFill>
                  <a:srgbClr val="8B7CF6"/>
                </a:solidFill>
                <a:latin typeface="Times New Roman" panose="02020603050405020304" pitchFamily="18" charset="0"/>
                <a:ea typeface="Calibri" pitchFamily="34" charset="-122"/>
                <a:cs typeface="Times New Roman" panose="02020603050405020304" pitchFamily="18" charset="0"/>
              </a:rPr>
              <a:t>Vision Transformer · 89.7 M</a:t>
            </a:r>
            <a:endParaRPr lang="en-US" sz="1800" dirty="0">
              <a:latin typeface="Times New Roman" panose="02020603050405020304" pitchFamily="18" charset="0"/>
              <a:cs typeface="Times New Roman" panose="02020603050405020304" pitchFamily="18" charset="0"/>
            </a:endParaRPr>
          </a:p>
        </p:txBody>
      </p:sp>
      <p:sp>
        <p:nvSpPr>
          <p:cNvPr id="28" name="Shape 26"/>
          <p:cNvSpPr/>
          <p:nvPr/>
        </p:nvSpPr>
        <p:spPr>
          <a:xfrm>
            <a:off x="6583680" y="2057400"/>
            <a:ext cx="4709160" cy="457200"/>
          </a:xfrm>
          <a:prstGeom prst="roundRect">
            <a:avLst>
              <a:gd name="adj" fmla="val 20000"/>
            </a:avLst>
          </a:prstGeom>
          <a:solidFill>
            <a:srgbClr val="EEF3F8"/>
          </a:solidFill>
          <a:ln w="9525">
            <a:solidFill>
              <a:srgbClr val="8B7CF6"/>
            </a:solidFill>
            <a:prstDash val="solid"/>
          </a:ln>
        </p:spPr>
      </p:sp>
      <p:sp>
        <p:nvSpPr>
          <p:cNvPr id="29" name="Text 27"/>
          <p:cNvSpPr txBox="1"/>
          <p:nvPr/>
        </p:nvSpPr>
        <p:spPr>
          <a:xfrm>
            <a:off x="6766560" y="2057400"/>
            <a:ext cx="4389120" cy="457200"/>
          </a:xfrm>
          <a:prstGeom prst="rect">
            <a:avLst/>
          </a:prstGeom>
          <a:noFill/>
          <a:ln/>
        </p:spPr>
        <p:txBody>
          <a:bodyPr wrap="square" lIns="0" tIns="0" rIns="0" bIns="0" rtlCol="0" anchor="ctr"/>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Input 224×224×3</a:t>
            </a:r>
            <a:endParaRPr lang="en-US" sz="1300" dirty="0">
              <a:latin typeface="Times New Roman" panose="02020603050405020304" pitchFamily="18" charset="0"/>
              <a:cs typeface="Times New Roman" panose="02020603050405020304" pitchFamily="18" charset="0"/>
            </a:endParaRPr>
          </a:p>
        </p:txBody>
      </p:sp>
      <p:sp>
        <p:nvSpPr>
          <p:cNvPr id="30" name="Shape 28"/>
          <p:cNvSpPr/>
          <p:nvPr/>
        </p:nvSpPr>
        <p:spPr>
          <a:xfrm>
            <a:off x="8933688" y="2514600"/>
            <a:ext cx="0" cy="164592"/>
          </a:xfrm>
          <a:prstGeom prst="line">
            <a:avLst/>
          </a:prstGeom>
          <a:noFill/>
          <a:ln w="19050">
            <a:solidFill>
              <a:srgbClr val="8B7CF6"/>
            </a:solidFill>
            <a:prstDash val="solid"/>
            <a:tailEnd type="triangle"/>
          </a:ln>
        </p:spPr>
      </p:sp>
      <p:sp>
        <p:nvSpPr>
          <p:cNvPr id="31" name="Shape 29"/>
          <p:cNvSpPr/>
          <p:nvPr/>
        </p:nvSpPr>
        <p:spPr>
          <a:xfrm>
            <a:off x="6583680" y="2679192"/>
            <a:ext cx="4709160" cy="457200"/>
          </a:xfrm>
          <a:prstGeom prst="roundRect">
            <a:avLst>
              <a:gd name="adj" fmla="val 20000"/>
            </a:avLst>
          </a:prstGeom>
          <a:solidFill>
            <a:srgbClr val="EEF3F8"/>
          </a:solidFill>
          <a:ln w="9525">
            <a:solidFill>
              <a:srgbClr val="8B7CF6"/>
            </a:solidFill>
            <a:prstDash val="solid"/>
          </a:ln>
        </p:spPr>
      </p:sp>
      <p:sp>
        <p:nvSpPr>
          <p:cNvPr id="32" name="Text 30"/>
          <p:cNvSpPr txBox="1"/>
          <p:nvPr/>
        </p:nvSpPr>
        <p:spPr>
          <a:xfrm>
            <a:off x="6766560" y="2679192"/>
            <a:ext cx="4389120" cy="457200"/>
          </a:xfrm>
          <a:prstGeom prst="rect">
            <a:avLst/>
          </a:prstGeom>
          <a:noFill/>
          <a:ln/>
        </p:spPr>
        <p:txBody>
          <a:bodyPr wrap="square" lIns="0" tIns="0" rIns="0" bIns="0" rtlCol="0" anchor="ctr"/>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Patch extraction</a:t>
            </a:r>
            <a:endParaRPr lang="en-US" sz="1300" dirty="0">
              <a:latin typeface="Times New Roman" panose="02020603050405020304" pitchFamily="18" charset="0"/>
              <a:cs typeface="Times New Roman" panose="02020603050405020304" pitchFamily="18" charset="0"/>
            </a:endParaRPr>
          </a:p>
        </p:txBody>
      </p:sp>
      <p:sp>
        <p:nvSpPr>
          <p:cNvPr id="33" name="Shape 31"/>
          <p:cNvSpPr/>
          <p:nvPr/>
        </p:nvSpPr>
        <p:spPr>
          <a:xfrm>
            <a:off x="8933688" y="3136392"/>
            <a:ext cx="0" cy="164592"/>
          </a:xfrm>
          <a:prstGeom prst="line">
            <a:avLst/>
          </a:prstGeom>
          <a:noFill/>
          <a:ln w="19050">
            <a:solidFill>
              <a:srgbClr val="8B7CF6"/>
            </a:solidFill>
            <a:prstDash val="solid"/>
            <a:tailEnd type="triangle"/>
          </a:ln>
        </p:spPr>
      </p:sp>
      <p:sp>
        <p:nvSpPr>
          <p:cNvPr id="34" name="Shape 32"/>
          <p:cNvSpPr/>
          <p:nvPr/>
        </p:nvSpPr>
        <p:spPr>
          <a:xfrm>
            <a:off x="6583680" y="3300984"/>
            <a:ext cx="4709160" cy="457200"/>
          </a:xfrm>
          <a:prstGeom prst="roundRect">
            <a:avLst>
              <a:gd name="adj" fmla="val 20000"/>
            </a:avLst>
          </a:prstGeom>
          <a:solidFill>
            <a:srgbClr val="EEF3F8"/>
          </a:solidFill>
          <a:ln w="9525">
            <a:solidFill>
              <a:srgbClr val="8B7CF6"/>
            </a:solidFill>
            <a:prstDash val="solid"/>
          </a:ln>
        </p:spPr>
      </p:sp>
      <p:sp>
        <p:nvSpPr>
          <p:cNvPr id="35" name="Text 33"/>
          <p:cNvSpPr txBox="1"/>
          <p:nvPr/>
        </p:nvSpPr>
        <p:spPr>
          <a:xfrm>
            <a:off x="6766560" y="3300984"/>
            <a:ext cx="4389120" cy="457200"/>
          </a:xfrm>
          <a:prstGeom prst="rect">
            <a:avLst/>
          </a:prstGeom>
          <a:noFill/>
          <a:ln/>
        </p:spPr>
        <p:txBody>
          <a:bodyPr wrap="square" lIns="0" tIns="0" rIns="0" bIns="0" rtlCol="0" anchor="ctr"/>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Patch embedding (768-d) + position</a:t>
            </a:r>
            <a:endParaRPr lang="en-US" sz="1300" dirty="0">
              <a:latin typeface="Times New Roman" panose="02020603050405020304" pitchFamily="18" charset="0"/>
              <a:cs typeface="Times New Roman" panose="02020603050405020304" pitchFamily="18" charset="0"/>
            </a:endParaRPr>
          </a:p>
        </p:txBody>
      </p:sp>
      <p:sp>
        <p:nvSpPr>
          <p:cNvPr id="36" name="Shape 34"/>
          <p:cNvSpPr/>
          <p:nvPr/>
        </p:nvSpPr>
        <p:spPr>
          <a:xfrm>
            <a:off x="8933688" y="3758184"/>
            <a:ext cx="0" cy="164592"/>
          </a:xfrm>
          <a:prstGeom prst="line">
            <a:avLst/>
          </a:prstGeom>
          <a:noFill/>
          <a:ln w="19050">
            <a:solidFill>
              <a:srgbClr val="8B7CF6"/>
            </a:solidFill>
            <a:prstDash val="solid"/>
            <a:tailEnd type="triangle"/>
          </a:ln>
        </p:spPr>
      </p:sp>
      <p:sp>
        <p:nvSpPr>
          <p:cNvPr id="37" name="Shape 35"/>
          <p:cNvSpPr/>
          <p:nvPr/>
        </p:nvSpPr>
        <p:spPr>
          <a:xfrm>
            <a:off x="6583680" y="3922776"/>
            <a:ext cx="4709160" cy="457200"/>
          </a:xfrm>
          <a:prstGeom prst="roundRect">
            <a:avLst>
              <a:gd name="adj" fmla="val 20000"/>
            </a:avLst>
          </a:prstGeom>
          <a:solidFill>
            <a:srgbClr val="8B7CF6"/>
          </a:solidFill>
          <a:ln w="9525">
            <a:solidFill>
              <a:srgbClr val="8B7CF6"/>
            </a:solidFill>
            <a:prstDash val="solid"/>
          </a:ln>
        </p:spPr>
      </p:sp>
      <p:sp>
        <p:nvSpPr>
          <p:cNvPr id="38" name="Text 36"/>
          <p:cNvSpPr txBox="1"/>
          <p:nvPr/>
        </p:nvSpPr>
        <p:spPr>
          <a:xfrm>
            <a:off x="6766560" y="3922776"/>
            <a:ext cx="4389120" cy="457200"/>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Multi-head self-attention</a:t>
            </a:r>
            <a:endParaRPr lang="en-US" sz="1300" dirty="0">
              <a:latin typeface="Times New Roman" panose="02020603050405020304" pitchFamily="18" charset="0"/>
              <a:cs typeface="Times New Roman" panose="02020603050405020304" pitchFamily="18" charset="0"/>
            </a:endParaRPr>
          </a:p>
        </p:txBody>
      </p:sp>
      <p:sp>
        <p:nvSpPr>
          <p:cNvPr id="39" name="Shape 37"/>
          <p:cNvSpPr/>
          <p:nvPr/>
        </p:nvSpPr>
        <p:spPr>
          <a:xfrm>
            <a:off x="8933688" y="4379976"/>
            <a:ext cx="0" cy="164592"/>
          </a:xfrm>
          <a:prstGeom prst="line">
            <a:avLst/>
          </a:prstGeom>
          <a:noFill/>
          <a:ln w="19050">
            <a:solidFill>
              <a:srgbClr val="8B7CF6"/>
            </a:solidFill>
            <a:prstDash val="solid"/>
            <a:tailEnd type="triangle"/>
          </a:ln>
        </p:spPr>
      </p:sp>
      <p:sp>
        <p:nvSpPr>
          <p:cNvPr id="40" name="Shape 38"/>
          <p:cNvSpPr/>
          <p:nvPr/>
        </p:nvSpPr>
        <p:spPr>
          <a:xfrm>
            <a:off x="6583680" y="4544568"/>
            <a:ext cx="4709160" cy="457200"/>
          </a:xfrm>
          <a:prstGeom prst="roundRect">
            <a:avLst>
              <a:gd name="adj" fmla="val 20000"/>
            </a:avLst>
          </a:prstGeom>
          <a:solidFill>
            <a:srgbClr val="8B7CF6"/>
          </a:solidFill>
          <a:ln w="9525">
            <a:solidFill>
              <a:srgbClr val="8B7CF6"/>
            </a:solidFill>
            <a:prstDash val="solid"/>
          </a:ln>
        </p:spPr>
      </p:sp>
      <p:sp>
        <p:nvSpPr>
          <p:cNvPr id="41" name="Text 39"/>
          <p:cNvSpPr txBox="1"/>
          <p:nvPr/>
        </p:nvSpPr>
        <p:spPr>
          <a:xfrm>
            <a:off x="6766560" y="4544568"/>
            <a:ext cx="4389120" cy="457200"/>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Transformer encoder blocks (5)</a:t>
            </a:r>
            <a:endParaRPr lang="en-US" sz="1300" dirty="0">
              <a:latin typeface="Times New Roman" panose="02020603050405020304" pitchFamily="18" charset="0"/>
              <a:cs typeface="Times New Roman" panose="02020603050405020304" pitchFamily="18" charset="0"/>
            </a:endParaRPr>
          </a:p>
        </p:txBody>
      </p:sp>
      <p:sp>
        <p:nvSpPr>
          <p:cNvPr id="42" name="Shape 40"/>
          <p:cNvSpPr/>
          <p:nvPr/>
        </p:nvSpPr>
        <p:spPr>
          <a:xfrm>
            <a:off x="8933688" y="5001768"/>
            <a:ext cx="0" cy="164592"/>
          </a:xfrm>
          <a:prstGeom prst="line">
            <a:avLst/>
          </a:prstGeom>
          <a:noFill/>
          <a:ln w="19050">
            <a:solidFill>
              <a:srgbClr val="8B7CF6"/>
            </a:solidFill>
            <a:prstDash val="solid"/>
            <a:tailEnd type="triangle"/>
          </a:ln>
        </p:spPr>
      </p:sp>
      <p:sp>
        <p:nvSpPr>
          <p:cNvPr id="43" name="Shape 41"/>
          <p:cNvSpPr/>
          <p:nvPr/>
        </p:nvSpPr>
        <p:spPr>
          <a:xfrm>
            <a:off x="6583680" y="5166360"/>
            <a:ext cx="4709160" cy="457200"/>
          </a:xfrm>
          <a:prstGeom prst="roundRect">
            <a:avLst>
              <a:gd name="adj" fmla="val 20000"/>
            </a:avLst>
          </a:prstGeom>
          <a:solidFill>
            <a:srgbClr val="EEF3F8"/>
          </a:solidFill>
          <a:ln w="9525">
            <a:solidFill>
              <a:srgbClr val="8B7CF6"/>
            </a:solidFill>
            <a:prstDash val="solid"/>
          </a:ln>
        </p:spPr>
      </p:sp>
      <p:sp>
        <p:nvSpPr>
          <p:cNvPr id="44" name="Text 42"/>
          <p:cNvSpPr txBox="1"/>
          <p:nvPr/>
        </p:nvSpPr>
        <p:spPr>
          <a:xfrm>
            <a:off x="6766560" y="5166360"/>
            <a:ext cx="4389120" cy="457200"/>
          </a:xfrm>
          <a:prstGeom prst="rect">
            <a:avLst/>
          </a:prstGeom>
          <a:noFill/>
          <a:ln/>
        </p:spPr>
        <p:txBody>
          <a:bodyPr wrap="square" lIns="0" tIns="0" rIns="0" bIns="0" rtlCol="0" anchor="ctr"/>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Dense head → 5 classes</a:t>
            </a:r>
            <a:endParaRPr lang="en-US" sz="1300" dirty="0">
              <a:latin typeface="Times New Roman" panose="02020603050405020304" pitchFamily="18" charset="0"/>
              <a:cs typeface="Times New Roman" panose="02020603050405020304" pitchFamily="18" charset="0"/>
            </a:endParaRPr>
          </a:p>
        </p:txBody>
      </p:sp>
      <p:sp>
        <p:nvSpPr>
          <p:cNvPr id="46" name="Text 44"/>
          <p:cNvSpPr txBox="1"/>
          <p:nvPr/>
        </p:nvSpPr>
        <p:spPr>
          <a:xfrm>
            <a:off x="10881360" y="6446520"/>
            <a:ext cx="822960" cy="274320"/>
          </a:xfrm>
          <a:prstGeom prst="rect">
            <a:avLst/>
          </a:prstGeom>
          <a:noFill/>
          <a:ln/>
        </p:spPr>
        <p:txBody>
          <a:bodyPr wrap="square" lIns="0" tIns="0" rIns="0" bIns="0" rtlCol="0" anchor="t"/>
          <a:lstStyle/>
          <a:p>
            <a:pPr marL="0" indent="0" algn="r">
              <a:buNone/>
            </a:pPr>
            <a:r>
              <a:rPr lang="en-US" sz="1000" dirty="0">
                <a:solidFill>
                  <a:srgbClr val="5B6B82"/>
                </a:solidFill>
                <a:latin typeface="Times New Roman" panose="02020603050405020304" pitchFamily="18" charset="0"/>
                <a:ea typeface="Calibri" pitchFamily="34" charset="-122"/>
                <a:cs typeface="Times New Roman" panose="02020603050405020304" pitchFamily="18" charset="0"/>
              </a:rPr>
              <a:t>8 / 13</a:t>
            </a:r>
            <a:endParaRPr lang="en-US" sz="1000" dirty="0">
              <a:latin typeface="Times New Roman" panose="02020603050405020304" pitchFamily="18" charset="0"/>
              <a:cs typeface="Times New Roman" panose="02020603050405020304" pitchFamily="18" charset="0"/>
            </a:endParaRPr>
          </a:p>
        </p:txBody>
      </p:sp>
      <p:sp>
        <p:nvSpPr>
          <p:cNvPr id="47" name="Shape 45"/>
          <p:cNvSpPr/>
          <p:nvPr/>
        </p:nvSpPr>
        <p:spPr>
          <a:xfrm>
            <a:off x="548640" y="6400800"/>
            <a:ext cx="11064240" cy="9144"/>
          </a:xfrm>
          <a:prstGeom prst="rect">
            <a:avLst/>
          </a:prstGeom>
          <a:solidFill>
            <a:srgbClr val="C9D3DF"/>
          </a:solidFill>
          <a:ln w="12700">
            <a:solidFill>
              <a:srgbClr val="C9D3D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32B"/>
        </a:solidFill>
        <a:effectLst/>
      </p:bgPr>
    </p:bg>
    <p:spTree>
      <p:nvGrpSpPr>
        <p:cNvPr id="1" name=""/>
        <p:cNvGrpSpPr/>
        <p:nvPr/>
      </p:nvGrpSpPr>
      <p:grpSpPr>
        <a:xfrm>
          <a:off x="0" y="0"/>
          <a:ext cx="0" cy="0"/>
          <a:chOff x="0" y="0"/>
          <a:chExt cx="0" cy="0"/>
        </a:xfrm>
      </p:grpSpPr>
      <p:sp>
        <p:nvSpPr>
          <p:cNvPr id="3" name="Shape 1"/>
          <p:cNvSpPr/>
          <p:nvPr/>
        </p:nvSpPr>
        <p:spPr>
          <a:xfrm>
            <a:off x="548640" y="475488"/>
            <a:ext cx="128016" cy="128016"/>
          </a:xfrm>
          <a:prstGeom prst="ellipse">
            <a:avLst/>
          </a:prstGeom>
          <a:solidFill>
            <a:srgbClr val="25C4B7"/>
          </a:solidFill>
          <a:ln w="12700">
            <a:solidFill>
              <a:srgbClr val="25C4B7"/>
            </a:solidFill>
            <a:prstDash val="solid"/>
          </a:ln>
        </p:spPr>
      </p:sp>
      <p:sp>
        <p:nvSpPr>
          <p:cNvPr id="4" name="Text 2"/>
          <p:cNvSpPr txBox="1"/>
          <p:nvPr/>
        </p:nvSpPr>
        <p:spPr>
          <a:xfrm>
            <a:off x="777240" y="365760"/>
            <a:ext cx="10881360" cy="566928"/>
          </a:xfrm>
          <a:prstGeom prst="rect">
            <a:avLst/>
          </a:prstGeom>
          <a:noFill/>
          <a:ln/>
        </p:spPr>
        <p:txBody>
          <a:bodyPr wrap="square" lIns="0" tIns="0" rIns="0" bIns="0" rtlCol="0" anchor="t"/>
          <a:lstStyle/>
          <a:p>
            <a:pPr marL="0" indent="0">
              <a:buNone/>
            </a:pPr>
            <a:r>
              <a:rPr lang="en-US" sz="3000" b="1" dirty="0">
                <a:solidFill>
                  <a:srgbClr val="FFFFFF"/>
                </a:solidFill>
                <a:latin typeface="Times New Roman" panose="02020603050405020304" pitchFamily="18" charset="0"/>
                <a:ea typeface="Calibri" pitchFamily="34" charset="-122"/>
                <a:cs typeface="Times New Roman" panose="02020603050405020304" pitchFamily="18" charset="0"/>
              </a:rPr>
              <a:t>How the System Works: Website Workflow</a:t>
            </a:r>
            <a:endParaRPr lang="en-US" sz="3000" dirty="0">
              <a:latin typeface="Times New Roman" panose="02020603050405020304" pitchFamily="18" charset="0"/>
              <a:cs typeface="Times New Roman" panose="02020603050405020304" pitchFamily="18" charset="0"/>
            </a:endParaRPr>
          </a:p>
        </p:txBody>
      </p:sp>
      <p:sp>
        <p:nvSpPr>
          <p:cNvPr id="5" name="Text 3"/>
          <p:cNvSpPr txBox="1"/>
          <p:nvPr/>
        </p:nvSpPr>
        <p:spPr>
          <a:xfrm>
            <a:off x="777240" y="932688"/>
            <a:ext cx="10881360" cy="320040"/>
          </a:xfrm>
          <a:prstGeom prst="rect">
            <a:avLst/>
          </a:prstGeom>
          <a:noFill/>
          <a:ln/>
        </p:spPr>
        <p:txBody>
          <a:bodyPr wrap="square" lIns="0" tIns="0" rIns="0" bIns="0" rtlCol="0" anchor="t"/>
          <a:lstStyle/>
          <a:p>
            <a:pPr marL="0" indent="0">
              <a:buNone/>
            </a:pPr>
            <a:r>
              <a:rPr lang="en-US" sz="1400" dirty="0">
                <a:solidFill>
                  <a:srgbClr val="9FD8E8"/>
                </a:solidFill>
                <a:latin typeface="Times New Roman" panose="02020603050405020304" pitchFamily="18" charset="0"/>
                <a:ea typeface="Calibri" pitchFamily="34" charset="-122"/>
                <a:cs typeface="Times New Roman" panose="02020603050405020304" pitchFamily="18" charset="0"/>
              </a:rPr>
              <a:t>Upload → model → PDF report</a:t>
            </a:r>
            <a:endParaRPr lang="en-US" sz="1400" dirty="0">
              <a:latin typeface="Times New Roman" panose="02020603050405020304" pitchFamily="18" charset="0"/>
              <a:cs typeface="Times New Roman" panose="02020603050405020304" pitchFamily="18" charset="0"/>
            </a:endParaRPr>
          </a:p>
        </p:txBody>
      </p:sp>
      <p:sp>
        <p:nvSpPr>
          <p:cNvPr id="6" name="Shape 4"/>
          <p:cNvSpPr/>
          <p:nvPr/>
        </p:nvSpPr>
        <p:spPr>
          <a:xfrm>
            <a:off x="1234440" y="1737360"/>
            <a:ext cx="731520" cy="731520"/>
          </a:xfrm>
          <a:prstGeom prst="ellipse">
            <a:avLst/>
          </a:prstGeom>
          <a:solidFill>
            <a:srgbClr val="1C3D6E"/>
          </a:solidFill>
          <a:ln w="12700">
            <a:solidFill>
              <a:srgbClr val="1C3D6E"/>
            </a:solidFill>
            <a:prstDash val="solid"/>
          </a:ln>
        </p:spPr>
      </p:sp>
      <p:sp>
        <p:nvSpPr>
          <p:cNvPr id="7" name="Text 5"/>
          <p:cNvSpPr txBox="1"/>
          <p:nvPr/>
        </p:nvSpPr>
        <p:spPr>
          <a:xfrm>
            <a:off x="1234440" y="1737360"/>
            <a:ext cx="731520" cy="731520"/>
          </a:xfrm>
          <a:prstGeom prst="rect">
            <a:avLst/>
          </a:prstGeom>
          <a:noFill/>
          <a:ln/>
        </p:spPr>
        <p:txBody>
          <a:bodyPr wrap="square" lIns="0" tIns="0" rIns="0" bIns="0" rtlCol="0" anchor="ctr"/>
          <a:lstStyle/>
          <a:p>
            <a:pPr marL="0" indent="0" algn="ctr">
              <a:buNone/>
            </a:pPr>
            <a:r>
              <a:rPr lang="en-US" sz="2200" b="1" dirty="0">
                <a:solidFill>
                  <a:srgbClr val="25C4B7"/>
                </a:solidFill>
                <a:latin typeface="Times New Roman" panose="02020603050405020304" pitchFamily="18" charset="0"/>
                <a:ea typeface="Calibri" pitchFamily="34" charset="-122"/>
                <a:cs typeface="Times New Roman" panose="02020603050405020304" pitchFamily="18" charset="0"/>
              </a:rPr>
              <a:t>1</a:t>
            </a:r>
            <a:endParaRPr lang="en-US" sz="2200" dirty="0">
              <a:latin typeface="Times New Roman" panose="02020603050405020304" pitchFamily="18" charset="0"/>
              <a:cs typeface="Times New Roman" panose="02020603050405020304" pitchFamily="18" charset="0"/>
            </a:endParaRPr>
          </a:p>
        </p:txBody>
      </p:sp>
      <p:sp>
        <p:nvSpPr>
          <p:cNvPr id="8" name="Text 6"/>
          <p:cNvSpPr txBox="1"/>
          <p:nvPr/>
        </p:nvSpPr>
        <p:spPr>
          <a:xfrm>
            <a:off x="548640" y="2651760"/>
            <a:ext cx="2103120" cy="365760"/>
          </a:xfrm>
          <a:prstGeom prst="rect">
            <a:avLst/>
          </a:prstGeom>
          <a:noFill/>
          <a:ln/>
        </p:spPr>
        <p:txBody>
          <a:bodyPr wrap="square" lIns="0" tIns="0" rIns="0" bIns="0" rtlCol="0" anchor="t"/>
          <a:lstStyle/>
          <a:p>
            <a:pPr marL="0" indent="0" algn="ctr">
              <a:buNone/>
            </a:pPr>
            <a:r>
              <a:rPr lang="en-US" sz="1700" b="1" dirty="0">
                <a:solidFill>
                  <a:srgbClr val="FFFFFF"/>
                </a:solidFill>
                <a:latin typeface="Times New Roman" panose="02020603050405020304" pitchFamily="18" charset="0"/>
                <a:ea typeface="Calibri" pitchFamily="34" charset="-122"/>
                <a:cs typeface="Times New Roman" panose="02020603050405020304" pitchFamily="18" charset="0"/>
              </a:rPr>
              <a:t>Upload</a:t>
            </a:r>
            <a:endParaRPr lang="en-US" sz="1700" dirty="0">
              <a:latin typeface="Times New Roman" panose="02020603050405020304" pitchFamily="18" charset="0"/>
              <a:cs typeface="Times New Roman" panose="02020603050405020304" pitchFamily="18" charset="0"/>
            </a:endParaRPr>
          </a:p>
        </p:txBody>
      </p:sp>
      <p:sp>
        <p:nvSpPr>
          <p:cNvPr id="9" name="Text 7"/>
          <p:cNvSpPr txBox="1"/>
          <p:nvPr/>
        </p:nvSpPr>
        <p:spPr>
          <a:xfrm>
            <a:off x="640080" y="3108960"/>
            <a:ext cx="1920240" cy="1097280"/>
          </a:xfrm>
          <a:prstGeom prst="rect">
            <a:avLst/>
          </a:prstGeom>
          <a:noFill/>
          <a:ln/>
        </p:spPr>
        <p:txBody>
          <a:bodyPr wrap="square" lIns="0" tIns="0" rIns="0" bIns="0" rtlCol="0" anchor="t"/>
          <a:lstStyle/>
          <a:p>
            <a:pPr marL="0" indent="0" algn="ctr">
              <a:buNone/>
            </a:pPr>
            <a:r>
              <a:rPr lang="en-US" sz="1200" dirty="0">
                <a:solidFill>
                  <a:srgbClr val="B7C6DD"/>
                </a:solidFill>
                <a:latin typeface="Times New Roman" panose="02020603050405020304" pitchFamily="18" charset="0"/>
                <a:ea typeface="Calibri" pitchFamily="34" charset="-122"/>
                <a:cs typeface="Times New Roman" panose="02020603050405020304" pitchFamily="18" charset="0"/>
              </a:rPr>
              <a:t>User uploads a chest X-ray image on the website</a:t>
            </a:r>
            <a:endParaRPr lang="en-US" sz="1200" dirty="0">
              <a:latin typeface="Times New Roman" panose="02020603050405020304" pitchFamily="18" charset="0"/>
              <a:cs typeface="Times New Roman" panose="02020603050405020304" pitchFamily="18" charset="0"/>
            </a:endParaRPr>
          </a:p>
        </p:txBody>
      </p:sp>
      <p:sp>
        <p:nvSpPr>
          <p:cNvPr id="10" name="Shape 8"/>
          <p:cNvSpPr/>
          <p:nvPr/>
        </p:nvSpPr>
        <p:spPr>
          <a:xfrm>
            <a:off x="2057400" y="2103120"/>
            <a:ext cx="1463040" cy="0"/>
          </a:xfrm>
          <a:prstGeom prst="line">
            <a:avLst/>
          </a:prstGeom>
          <a:noFill/>
          <a:ln w="19050">
            <a:solidFill>
              <a:srgbClr val="25C4B7"/>
            </a:solidFill>
            <a:prstDash val="solid"/>
            <a:tailEnd type="triangle"/>
          </a:ln>
        </p:spPr>
      </p:sp>
      <p:sp>
        <p:nvSpPr>
          <p:cNvPr id="11" name="Shape 9"/>
          <p:cNvSpPr/>
          <p:nvPr/>
        </p:nvSpPr>
        <p:spPr>
          <a:xfrm>
            <a:off x="3520440" y="1737360"/>
            <a:ext cx="731520" cy="731520"/>
          </a:xfrm>
          <a:prstGeom prst="ellipse">
            <a:avLst/>
          </a:prstGeom>
          <a:solidFill>
            <a:srgbClr val="1C3D6E"/>
          </a:solidFill>
          <a:ln w="12700">
            <a:solidFill>
              <a:srgbClr val="1C3D6E"/>
            </a:solidFill>
            <a:prstDash val="solid"/>
          </a:ln>
        </p:spPr>
      </p:sp>
      <p:sp>
        <p:nvSpPr>
          <p:cNvPr id="12" name="Text 10"/>
          <p:cNvSpPr txBox="1"/>
          <p:nvPr/>
        </p:nvSpPr>
        <p:spPr>
          <a:xfrm>
            <a:off x="3520440" y="1737360"/>
            <a:ext cx="731520" cy="731520"/>
          </a:xfrm>
          <a:prstGeom prst="rect">
            <a:avLst/>
          </a:prstGeom>
          <a:noFill/>
          <a:ln/>
        </p:spPr>
        <p:txBody>
          <a:bodyPr wrap="square" lIns="0" tIns="0" rIns="0" bIns="0" rtlCol="0" anchor="ctr"/>
          <a:lstStyle/>
          <a:p>
            <a:pPr marL="0" indent="0" algn="ctr">
              <a:buNone/>
            </a:pPr>
            <a:r>
              <a:rPr lang="en-US" sz="2200" b="1" dirty="0">
                <a:solidFill>
                  <a:srgbClr val="25C4B7"/>
                </a:solidFill>
                <a:latin typeface="Times New Roman" panose="02020603050405020304" pitchFamily="18" charset="0"/>
                <a:ea typeface="Calibri" pitchFamily="34" charset="-122"/>
                <a:cs typeface="Times New Roman" panose="02020603050405020304" pitchFamily="18" charset="0"/>
              </a:rPr>
              <a:t>2</a:t>
            </a:r>
            <a:endParaRPr lang="en-US" sz="2200" dirty="0">
              <a:latin typeface="Times New Roman" panose="02020603050405020304" pitchFamily="18" charset="0"/>
              <a:cs typeface="Times New Roman" panose="02020603050405020304" pitchFamily="18" charset="0"/>
            </a:endParaRPr>
          </a:p>
        </p:txBody>
      </p:sp>
      <p:sp>
        <p:nvSpPr>
          <p:cNvPr id="13" name="Text 11"/>
          <p:cNvSpPr txBox="1"/>
          <p:nvPr/>
        </p:nvSpPr>
        <p:spPr>
          <a:xfrm>
            <a:off x="2834640" y="2651760"/>
            <a:ext cx="2103120" cy="365760"/>
          </a:xfrm>
          <a:prstGeom prst="rect">
            <a:avLst/>
          </a:prstGeom>
          <a:noFill/>
          <a:ln/>
        </p:spPr>
        <p:txBody>
          <a:bodyPr wrap="square" lIns="0" tIns="0" rIns="0" bIns="0" rtlCol="0" anchor="t"/>
          <a:lstStyle/>
          <a:p>
            <a:pPr marL="0" indent="0" algn="ctr">
              <a:buNone/>
            </a:pPr>
            <a:r>
              <a:rPr lang="en-US" sz="1700" b="1" dirty="0">
                <a:solidFill>
                  <a:srgbClr val="FFFFFF"/>
                </a:solidFill>
                <a:latin typeface="Times New Roman" panose="02020603050405020304" pitchFamily="18" charset="0"/>
                <a:ea typeface="Calibri" pitchFamily="34" charset="-122"/>
                <a:cs typeface="Times New Roman" panose="02020603050405020304" pitchFamily="18" charset="0"/>
              </a:rPr>
              <a:t>Preprocess</a:t>
            </a:r>
            <a:endParaRPr lang="en-US" sz="1700" dirty="0">
              <a:latin typeface="Times New Roman" panose="02020603050405020304" pitchFamily="18" charset="0"/>
              <a:cs typeface="Times New Roman" panose="02020603050405020304" pitchFamily="18" charset="0"/>
            </a:endParaRPr>
          </a:p>
        </p:txBody>
      </p:sp>
      <p:sp>
        <p:nvSpPr>
          <p:cNvPr id="14" name="Text 12"/>
          <p:cNvSpPr txBox="1"/>
          <p:nvPr/>
        </p:nvSpPr>
        <p:spPr>
          <a:xfrm>
            <a:off x="2926080" y="3108960"/>
            <a:ext cx="1920240" cy="1097280"/>
          </a:xfrm>
          <a:prstGeom prst="rect">
            <a:avLst/>
          </a:prstGeom>
          <a:noFill/>
          <a:ln/>
        </p:spPr>
        <p:txBody>
          <a:bodyPr wrap="square" lIns="0" tIns="0" rIns="0" bIns="0" rtlCol="0" anchor="t"/>
          <a:lstStyle/>
          <a:p>
            <a:pPr marL="0" indent="0" algn="ctr">
              <a:buNone/>
            </a:pPr>
            <a:r>
              <a:rPr lang="en-US" sz="1200" dirty="0">
                <a:solidFill>
                  <a:srgbClr val="B7C6DD"/>
                </a:solidFill>
                <a:latin typeface="Times New Roman" panose="02020603050405020304" pitchFamily="18" charset="0"/>
                <a:ea typeface="Calibri" pitchFamily="34" charset="-122"/>
                <a:cs typeface="Times New Roman" panose="02020603050405020304" pitchFamily="18" charset="0"/>
              </a:rPr>
              <a:t>Image prepared for the model (224×224×3)</a:t>
            </a:r>
            <a:endParaRPr lang="en-US" sz="1200" dirty="0">
              <a:latin typeface="Times New Roman" panose="02020603050405020304" pitchFamily="18" charset="0"/>
              <a:cs typeface="Times New Roman" panose="02020603050405020304" pitchFamily="18" charset="0"/>
            </a:endParaRPr>
          </a:p>
        </p:txBody>
      </p:sp>
      <p:sp>
        <p:nvSpPr>
          <p:cNvPr id="15" name="Shape 13"/>
          <p:cNvSpPr/>
          <p:nvPr/>
        </p:nvSpPr>
        <p:spPr>
          <a:xfrm>
            <a:off x="4343400" y="2103120"/>
            <a:ext cx="1463040" cy="0"/>
          </a:xfrm>
          <a:prstGeom prst="line">
            <a:avLst/>
          </a:prstGeom>
          <a:noFill/>
          <a:ln w="19050">
            <a:solidFill>
              <a:srgbClr val="25C4B7"/>
            </a:solidFill>
            <a:prstDash val="solid"/>
            <a:tailEnd type="triangle"/>
          </a:ln>
        </p:spPr>
      </p:sp>
      <p:sp>
        <p:nvSpPr>
          <p:cNvPr id="16" name="Shape 14"/>
          <p:cNvSpPr/>
          <p:nvPr/>
        </p:nvSpPr>
        <p:spPr>
          <a:xfrm>
            <a:off x="5806440" y="1737360"/>
            <a:ext cx="731520" cy="731520"/>
          </a:xfrm>
          <a:prstGeom prst="ellipse">
            <a:avLst/>
          </a:prstGeom>
          <a:solidFill>
            <a:srgbClr val="1C3D6E"/>
          </a:solidFill>
          <a:ln w="12700">
            <a:solidFill>
              <a:srgbClr val="1C3D6E"/>
            </a:solidFill>
            <a:prstDash val="solid"/>
          </a:ln>
        </p:spPr>
      </p:sp>
      <p:sp>
        <p:nvSpPr>
          <p:cNvPr id="17" name="Text 15"/>
          <p:cNvSpPr txBox="1"/>
          <p:nvPr/>
        </p:nvSpPr>
        <p:spPr>
          <a:xfrm>
            <a:off x="5806440" y="1737360"/>
            <a:ext cx="731520" cy="731520"/>
          </a:xfrm>
          <a:prstGeom prst="rect">
            <a:avLst/>
          </a:prstGeom>
          <a:noFill/>
          <a:ln/>
        </p:spPr>
        <p:txBody>
          <a:bodyPr wrap="square" lIns="0" tIns="0" rIns="0" bIns="0" rtlCol="0" anchor="ctr"/>
          <a:lstStyle/>
          <a:p>
            <a:pPr marL="0" indent="0" algn="ctr">
              <a:buNone/>
            </a:pPr>
            <a:r>
              <a:rPr lang="en-US" sz="2200" b="1" dirty="0">
                <a:solidFill>
                  <a:srgbClr val="25C4B7"/>
                </a:solidFill>
                <a:latin typeface="Times New Roman" panose="02020603050405020304" pitchFamily="18" charset="0"/>
                <a:ea typeface="Calibri" pitchFamily="34" charset="-122"/>
                <a:cs typeface="Times New Roman" panose="02020603050405020304" pitchFamily="18" charset="0"/>
              </a:rPr>
              <a:t>3</a:t>
            </a:r>
            <a:endParaRPr lang="en-US" sz="2200" dirty="0">
              <a:latin typeface="Times New Roman" panose="02020603050405020304" pitchFamily="18" charset="0"/>
              <a:cs typeface="Times New Roman" panose="02020603050405020304" pitchFamily="18" charset="0"/>
            </a:endParaRPr>
          </a:p>
        </p:txBody>
      </p:sp>
      <p:sp>
        <p:nvSpPr>
          <p:cNvPr id="18" name="Text 16"/>
          <p:cNvSpPr txBox="1"/>
          <p:nvPr/>
        </p:nvSpPr>
        <p:spPr>
          <a:xfrm>
            <a:off x="5120640" y="2651760"/>
            <a:ext cx="2103120" cy="365760"/>
          </a:xfrm>
          <a:prstGeom prst="rect">
            <a:avLst/>
          </a:prstGeom>
          <a:noFill/>
          <a:ln/>
        </p:spPr>
        <p:txBody>
          <a:bodyPr wrap="square" lIns="0" tIns="0" rIns="0" bIns="0" rtlCol="0" anchor="t"/>
          <a:lstStyle/>
          <a:p>
            <a:pPr marL="0" indent="0" algn="ctr">
              <a:buNone/>
            </a:pPr>
            <a:r>
              <a:rPr lang="en-US" sz="1700" b="1" dirty="0">
                <a:solidFill>
                  <a:srgbClr val="FFFFFF"/>
                </a:solidFill>
                <a:latin typeface="Times New Roman" panose="02020603050405020304" pitchFamily="18" charset="0"/>
                <a:ea typeface="Calibri" pitchFamily="34" charset="-122"/>
                <a:cs typeface="Times New Roman" panose="02020603050405020304" pitchFamily="18" charset="0"/>
              </a:rPr>
              <a:t>Model</a:t>
            </a:r>
            <a:endParaRPr lang="en-US" sz="1700" dirty="0">
              <a:latin typeface="Times New Roman" panose="02020603050405020304" pitchFamily="18" charset="0"/>
              <a:cs typeface="Times New Roman" panose="02020603050405020304" pitchFamily="18" charset="0"/>
            </a:endParaRPr>
          </a:p>
        </p:txBody>
      </p:sp>
      <p:sp>
        <p:nvSpPr>
          <p:cNvPr id="19" name="Text 17"/>
          <p:cNvSpPr txBox="1"/>
          <p:nvPr/>
        </p:nvSpPr>
        <p:spPr>
          <a:xfrm>
            <a:off x="5212080" y="3108960"/>
            <a:ext cx="1920240" cy="1097280"/>
          </a:xfrm>
          <a:prstGeom prst="rect">
            <a:avLst/>
          </a:prstGeom>
          <a:noFill/>
          <a:ln/>
        </p:spPr>
        <p:txBody>
          <a:bodyPr wrap="square" lIns="0" tIns="0" rIns="0" bIns="0" rtlCol="0" anchor="t"/>
          <a:lstStyle/>
          <a:p>
            <a:pPr marL="0" indent="0" algn="ctr">
              <a:buNone/>
            </a:pPr>
            <a:r>
              <a:rPr lang="en-US" sz="1200" dirty="0">
                <a:solidFill>
                  <a:srgbClr val="B7C6DD"/>
                </a:solidFill>
                <a:latin typeface="Times New Roman" panose="02020603050405020304" pitchFamily="18" charset="0"/>
                <a:ea typeface="Calibri" pitchFamily="34" charset="-122"/>
                <a:cs typeface="Times New Roman" panose="02020603050405020304" pitchFamily="18" charset="0"/>
              </a:rPr>
              <a:t>Trained model classifies into 5 classes</a:t>
            </a:r>
            <a:endParaRPr lang="en-US" sz="1200" dirty="0">
              <a:latin typeface="Times New Roman" panose="02020603050405020304" pitchFamily="18" charset="0"/>
              <a:cs typeface="Times New Roman" panose="02020603050405020304" pitchFamily="18" charset="0"/>
            </a:endParaRPr>
          </a:p>
        </p:txBody>
      </p:sp>
      <p:sp>
        <p:nvSpPr>
          <p:cNvPr id="20" name="Shape 18"/>
          <p:cNvSpPr/>
          <p:nvPr/>
        </p:nvSpPr>
        <p:spPr>
          <a:xfrm>
            <a:off x="6629400" y="2103120"/>
            <a:ext cx="1463040" cy="0"/>
          </a:xfrm>
          <a:prstGeom prst="line">
            <a:avLst/>
          </a:prstGeom>
          <a:noFill/>
          <a:ln w="19050">
            <a:solidFill>
              <a:srgbClr val="25C4B7"/>
            </a:solidFill>
            <a:prstDash val="solid"/>
            <a:tailEnd type="triangle"/>
          </a:ln>
        </p:spPr>
      </p:sp>
      <p:sp>
        <p:nvSpPr>
          <p:cNvPr id="21" name="Shape 19"/>
          <p:cNvSpPr/>
          <p:nvPr/>
        </p:nvSpPr>
        <p:spPr>
          <a:xfrm>
            <a:off x="8092440" y="1737360"/>
            <a:ext cx="731520" cy="731520"/>
          </a:xfrm>
          <a:prstGeom prst="ellipse">
            <a:avLst/>
          </a:prstGeom>
          <a:solidFill>
            <a:srgbClr val="1C3D6E"/>
          </a:solidFill>
          <a:ln w="12700">
            <a:solidFill>
              <a:srgbClr val="1C3D6E"/>
            </a:solidFill>
            <a:prstDash val="solid"/>
          </a:ln>
        </p:spPr>
      </p:sp>
      <p:sp>
        <p:nvSpPr>
          <p:cNvPr id="22" name="Text 20"/>
          <p:cNvSpPr txBox="1"/>
          <p:nvPr/>
        </p:nvSpPr>
        <p:spPr>
          <a:xfrm>
            <a:off x="8092440" y="1737360"/>
            <a:ext cx="731520" cy="731520"/>
          </a:xfrm>
          <a:prstGeom prst="rect">
            <a:avLst/>
          </a:prstGeom>
          <a:noFill/>
          <a:ln/>
        </p:spPr>
        <p:txBody>
          <a:bodyPr wrap="square" lIns="0" tIns="0" rIns="0" bIns="0" rtlCol="0" anchor="ctr"/>
          <a:lstStyle/>
          <a:p>
            <a:pPr marL="0" indent="0" algn="ctr">
              <a:buNone/>
            </a:pPr>
            <a:r>
              <a:rPr lang="en-US" sz="2200" b="1" dirty="0">
                <a:solidFill>
                  <a:srgbClr val="25C4B7"/>
                </a:solidFill>
                <a:latin typeface="Times New Roman" panose="02020603050405020304" pitchFamily="18" charset="0"/>
                <a:ea typeface="Calibri" pitchFamily="34" charset="-122"/>
                <a:cs typeface="Times New Roman" panose="02020603050405020304" pitchFamily="18" charset="0"/>
              </a:rPr>
              <a:t>4</a:t>
            </a:r>
            <a:endParaRPr lang="en-US" sz="2200" dirty="0">
              <a:latin typeface="Times New Roman" panose="02020603050405020304" pitchFamily="18" charset="0"/>
              <a:cs typeface="Times New Roman" panose="02020603050405020304" pitchFamily="18" charset="0"/>
            </a:endParaRPr>
          </a:p>
        </p:txBody>
      </p:sp>
      <p:sp>
        <p:nvSpPr>
          <p:cNvPr id="23" name="Text 21"/>
          <p:cNvSpPr txBox="1"/>
          <p:nvPr/>
        </p:nvSpPr>
        <p:spPr>
          <a:xfrm>
            <a:off x="7406640" y="2651760"/>
            <a:ext cx="2103120" cy="365760"/>
          </a:xfrm>
          <a:prstGeom prst="rect">
            <a:avLst/>
          </a:prstGeom>
          <a:noFill/>
          <a:ln/>
        </p:spPr>
        <p:txBody>
          <a:bodyPr wrap="square" lIns="0" tIns="0" rIns="0" bIns="0" rtlCol="0" anchor="t"/>
          <a:lstStyle/>
          <a:p>
            <a:pPr marL="0" indent="0" algn="ctr">
              <a:buNone/>
            </a:pPr>
            <a:r>
              <a:rPr lang="en-US" sz="1700" b="1" dirty="0">
                <a:solidFill>
                  <a:srgbClr val="FFFFFF"/>
                </a:solidFill>
                <a:latin typeface="Times New Roman" panose="02020603050405020304" pitchFamily="18" charset="0"/>
                <a:ea typeface="Calibri" pitchFamily="34" charset="-122"/>
                <a:cs typeface="Times New Roman" panose="02020603050405020304" pitchFamily="18" charset="0"/>
              </a:rPr>
              <a:t>Prediction</a:t>
            </a:r>
            <a:endParaRPr lang="en-US" sz="1700" dirty="0">
              <a:latin typeface="Times New Roman" panose="02020603050405020304" pitchFamily="18" charset="0"/>
              <a:cs typeface="Times New Roman" panose="02020603050405020304" pitchFamily="18" charset="0"/>
            </a:endParaRPr>
          </a:p>
        </p:txBody>
      </p:sp>
      <p:sp>
        <p:nvSpPr>
          <p:cNvPr id="24" name="Text 22"/>
          <p:cNvSpPr txBox="1"/>
          <p:nvPr/>
        </p:nvSpPr>
        <p:spPr>
          <a:xfrm>
            <a:off x="7498080" y="3108960"/>
            <a:ext cx="1920240" cy="1097280"/>
          </a:xfrm>
          <a:prstGeom prst="rect">
            <a:avLst/>
          </a:prstGeom>
          <a:noFill/>
          <a:ln/>
        </p:spPr>
        <p:txBody>
          <a:bodyPr wrap="square" lIns="0" tIns="0" rIns="0" bIns="0" rtlCol="0" anchor="t"/>
          <a:lstStyle/>
          <a:p>
            <a:pPr marL="0" indent="0" algn="ctr">
              <a:buNone/>
            </a:pPr>
            <a:r>
              <a:rPr lang="en-US" sz="1200" dirty="0">
                <a:solidFill>
                  <a:srgbClr val="B7C6DD"/>
                </a:solidFill>
                <a:latin typeface="Times New Roman" panose="02020603050405020304" pitchFamily="18" charset="0"/>
                <a:ea typeface="Calibri" pitchFamily="34" charset="-122"/>
                <a:cs typeface="Times New Roman" panose="02020603050405020304" pitchFamily="18" charset="0"/>
              </a:rPr>
              <a:t>COVID-19, Lung Opacity, Normal, Viral Pneumonia or Tuberculosis</a:t>
            </a:r>
            <a:endParaRPr lang="en-US" sz="1200" dirty="0">
              <a:latin typeface="Times New Roman" panose="02020603050405020304" pitchFamily="18" charset="0"/>
              <a:cs typeface="Times New Roman" panose="02020603050405020304" pitchFamily="18" charset="0"/>
            </a:endParaRPr>
          </a:p>
        </p:txBody>
      </p:sp>
      <p:sp>
        <p:nvSpPr>
          <p:cNvPr id="25" name="Shape 23"/>
          <p:cNvSpPr/>
          <p:nvPr/>
        </p:nvSpPr>
        <p:spPr>
          <a:xfrm>
            <a:off x="8823960" y="2103120"/>
            <a:ext cx="1554480" cy="0"/>
          </a:xfrm>
          <a:prstGeom prst="line">
            <a:avLst/>
          </a:prstGeom>
          <a:noFill/>
          <a:ln w="19050">
            <a:solidFill>
              <a:srgbClr val="25C4B7"/>
            </a:solidFill>
            <a:prstDash val="solid"/>
            <a:tailEnd type="triangle"/>
          </a:ln>
        </p:spPr>
        <p:txBody>
          <a:bodyPr/>
          <a:lstStyle/>
          <a:p>
            <a:endParaRPr lang="en-IN" dirty="0"/>
          </a:p>
        </p:txBody>
      </p:sp>
      <p:sp>
        <p:nvSpPr>
          <p:cNvPr id="26" name="Shape 24"/>
          <p:cNvSpPr/>
          <p:nvPr/>
        </p:nvSpPr>
        <p:spPr>
          <a:xfrm>
            <a:off x="10378440" y="1737360"/>
            <a:ext cx="731520" cy="731520"/>
          </a:xfrm>
          <a:prstGeom prst="ellipse">
            <a:avLst/>
          </a:prstGeom>
          <a:solidFill>
            <a:srgbClr val="25C4B7"/>
          </a:solidFill>
          <a:ln w="12700">
            <a:solidFill>
              <a:srgbClr val="25C4B7"/>
            </a:solidFill>
            <a:prstDash val="solid"/>
          </a:ln>
        </p:spPr>
      </p:sp>
      <p:sp>
        <p:nvSpPr>
          <p:cNvPr id="27" name="Text 25"/>
          <p:cNvSpPr txBox="1"/>
          <p:nvPr/>
        </p:nvSpPr>
        <p:spPr>
          <a:xfrm>
            <a:off x="10378440" y="1737360"/>
            <a:ext cx="731520" cy="731520"/>
          </a:xfrm>
          <a:prstGeom prst="rect">
            <a:avLst/>
          </a:prstGeom>
          <a:noFill/>
          <a:ln/>
        </p:spPr>
        <p:txBody>
          <a:bodyPr wrap="square" lIns="0" tIns="0" rIns="0" bIns="0" rtlCol="0" anchor="ctr"/>
          <a:lstStyle/>
          <a:p>
            <a:pPr marL="0" indent="0" algn="ctr">
              <a:buNone/>
            </a:pPr>
            <a:r>
              <a:rPr lang="en-US" sz="2200" b="1" dirty="0">
                <a:solidFill>
                  <a:srgbClr val="0B132B"/>
                </a:solidFill>
                <a:latin typeface="Times New Roman" panose="02020603050405020304" pitchFamily="18" charset="0"/>
                <a:ea typeface="Calibri" pitchFamily="34" charset="-122"/>
                <a:cs typeface="Times New Roman" panose="02020603050405020304" pitchFamily="18" charset="0"/>
              </a:rPr>
              <a:t>5</a:t>
            </a:r>
            <a:endParaRPr lang="en-US" sz="2200" dirty="0">
              <a:latin typeface="Times New Roman" panose="02020603050405020304" pitchFamily="18" charset="0"/>
              <a:cs typeface="Times New Roman" panose="02020603050405020304" pitchFamily="18" charset="0"/>
            </a:endParaRPr>
          </a:p>
        </p:txBody>
      </p:sp>
      <p:sp>
        <p:nvSpPr>
          <p:cNvPr id="28" name="Text 26"/>
          <p:cNvSpPr txBox="1"/>
          <p:nvPr/>
        </p:nvSpPr>
        <p:spPr>
          <a:xfrm>
            <a:off x="9692640" y="2651760"/>
            <a:ext cx="2103120" cy="365760"/>
          </a:xfrm>
          <a:prstGeom prst="rect">
            <a:avLst/>
          </a:prstGeom>
          <a:noFill/>
          <a:ln/>
        </p:spPr>
        <p:txBody>
          <a:bodyPr wrap="square" lIns="0" tIns="0" rIns="0" bIns="0" rtlCol="0" anchor="t"/>
          <a:lstStyle/>
          <a:p>
            <a:pPr marL="0" indent="0" algn="ctr">
              <a:buNone/>
            </a:pPr>
            <a:r>
              <a:rPr lang="en-US" sz="1700" b="1" dirty="0">
                <a:solidFill>
                  <a:srgbClr val="FFFFFF"/>
                </a:solidFill>
                <a:latin typeface="Times New Roman" panose="02020603050405020304" pitchFamily="18" charset="0"/>
                <a:ea typeface="Calibri" pitchFamily="34" charset="-122"/>
                <a:cs typeface="Times New Roman" panose="02020603050405020304" pitchFamily="18" charset="0"/>
              </a:rPr>
              <a:t>PDF report</a:t>
            </a:r>
            <a:endParaRPr lang="en-US" sz="1700" dirty="0">
              <a:latin typeface="Times New Roman" panose="02020603050405020304" pitchFamily="18" charset="0"/>
              <a:cs typeface="Times New Roman" panose="02020603050405020304" pitchFamily="18" charset="0"/>
            </a:endParaRPr>
          </a:p>
        </p:txBody>
      </p:sp>
      <p:sp>
        <p:nvSpPr>
          <p:cNvPr id="29" name="Text 27"/>
          <p:cNvSpPr txBox="1"/>
          <p:nvPr/>
        </p:nvSpPr>
        <p:spPr>
          <a:xfrm>
            <a:off x="9784080" y="3108960"/>
            <a:ext cx="1920240" cy="1097280"/>
          </a:xfrm>
          <a:prstGeom prst="rect">
            <a:avLst/>
          </a:prstGeom>
          <a:noFill/>
          <a:ln/>
        </p:spPr>
        <p:txBody>
          <a:bodyPr wrap="square" lIns="0" tIns="0" rIns="0" bIns="0" rtlCol="0" anchor="t"/>
          <a:lstStyle/>
          <a:p>
            <a:pPr marL="0" indent="0" algn="ctr">
              <a:buNone/>
            </a:pPr>
            <a:r>
              <a:rPr lang="en-US" sz="1200" dirty="0">
                <a:solidFill>
                  <a:srgbClr val="B7C6DD"/>
                </a:solidFill>
                <a:latin typeface="Times New Roman" panose="02020603050405020304" pitchFamily="18" charset="0"/>
                <a:ea typeface="Calibri" pitchFamily="34" charset="-122"/>
                <a:cs typeface="Times New Roman" panose="02020603050405020304" pitchFamily="18" charset="0"/>
              </a:rPr>
              <a:t>Result is delivered as a PDF report</a:t>
            </a:r>
            <a:endParaRPr lang="en-US" sz="1200" dirty="0">
              <a:latin typeface="Times New Roman" panose="02020603050405020304" pitchFamily="18" charset="0"/>
              <a:cs typeface="Times New Roman" panose="02020603050405020304" pitchFamily="18" charset="0"/>
            </a:endParaRPr>
          </a:p>
        </p:txBody>
      </p:sp>
      <p:sp>
        <p:nvSpPr>
          <p:cNvPr id="30" name="Shape 28"/>
          <p:cNvSpPr/>
          <p:nvPr/>
        </p:nvSpPr>
        <p:spPr>
          <a:xfrm>
            <a:off x="640080" y="4572000"/>
            <a:ext cx="10881360" cy="1463040"/>
          </a:xfrm>
          <a:prstGeom prst="roundRect">
            <a:avLst>
              <a:gd name="adj" fmla="val 6250"/>
            </a:avLst>
          </a:prstGeom>
          <a:solidFill>
            <a:srgbClr val="122248"/>
          </a:solidFill>
          <a:ln w="9525">
            <a:solidFill>
              <a:srgbClr val="F2784B"/>
            </a:solidFill>
            <a:prstDash val="solid"/>
          </a:ln>
          <a:effectLst>
            <a:outerShdw blurRad="101600" dist="25400" dir="5400000" algn="bl" rotWithShape="0">
              <a:srgbClr val="000000">
                <a:alpha val="15000"/>
              </a:srgbClr>
            </a:outerShdw>
          </a:effectLst>
        </p:spPr>
      </p:sp>
      <p:sp>
        <p:nvSpPr>
          <p:cNvPr id="31" name="Text 29"/>
          <p:cNvSpPr txBox="1"/>
          <p:nvPr/>
        </p:nvSpPr>
        <p:spPr>
          <a:xfrm>
            <a:off x="868680" y="4663440"/>
            <a:ext cx="9144000" cy="274320"/>
          </a:xfrm>
          <a:prstGeom prst="rect">
            <a:avLst/>
          </a:prstGeom>
          <a:noFill/>
          <a:ln/>
        </p:spPr>
        <p:txBody>
          <a:bodyPr wrap="square" lIns="0" tIns="0" rIns="0" bIns="0" rtlCol="0" anchor="t"/>
          <a:lstStyle/>
          <a:p>
            <a:pPr marL="0" indent="0">
              <a:buNone/>
            </a:pPr>
            <a:r>
              <a:rPr lang="en-US" sz="1100" b="1" kern="0" spc="300" dirty="0">
                <a:solidFill>
                  <a:srgbClr val="F2784B"/>
                </a:solidFill>
                <a:latin typeface="Times New Roman" panose="02020603050405020304" pitchFamily="18" charset="0"/>
                <a:ea typeface="Calibri" pitchFamily="34" charset="-122"/>
                <a:cs typeface="Times New Roman" panose="02020603050405020304" pitchFamily="18" charset="0"/>
              </a:rPr>
              <a:t>NOT DOCUMENTED IN THE SUPPLIED RESEARCH FILES</a:t>
            </a:r>
            <a:endParaRPr lang="en-US" sz="1100" dirty="0">
              <a:latin typeface="Times New Roman" panose="02020603050405020304" pitchFamily="18" charset="0"/>
              <a:cs typeface="Times New Roman" panose="02020603050405020304" pitchFamily="18" charset="0"/>
            </a:endParaRPr>
          </a:p>
        </p:txBody>
      </p:sp>
      <p:sp>
        <p:nvSpPr>
          <p:cNvPr id="32" name="Text 30"/>
          <p:cNvSpPr txBox="1"/>
          <p:nvPr/>
        </p:nvSpPr>
        <p:spPr>
          <a:xfrm>
            <a:off x="868680" y="5029200"/>
            <a:ext cx="10424160" cy="914400"/>
          </a:xfrm>
          <a:prstGeom prst="rect">
            <a:avLst/>
          </a:prstGeom>
          <a:noFill/>
          <a:ln/>
        </p:spPr>
        <p:txBody>
          <a:bodyPr wrap="square" lIns="0" tIns="0" rIns="0" bIns="0" rtlCol="0" anchor="t"/>
          <a:lstStyle/>
          <a:p>
            <a:pPr marL="0" indent="0">
              <a:buNone/>
            </a:pPr>
            <a:r>
              <a:rPr lang="en-US" sz="1350" dirty="0">
                <a:solidFill>
                  <a:srgbClr val="FFFFFF"/>
                </a:solidFill>
                <a:latin typeface="Times New Roman" panose="02020603050405020304" pitchFamily="18" charset="0"/>
                <a:ea typeface="Calibri" pitchFamily="34" charset="-122"/>
                <a:cs typeface="Times New Roman" panose="02020603050405020304" pitchFamily="18" charset="0"/>
              </a:rPr>
              <a:t>Workflow as described by the project team. Web framework, hosting, which model serves predictions, and exact PDF report contents are not specified in the research report or book chapter, so none are stated here.</a:t>
            </a:r>
            <a:endParaRPr lang="en-US" sz="1350" dirty="0">
              <a:latin typeface="Times New Roman" panose="02020603050405020304" pitchFamily="18" charset="0"/>
              <a:cs typeface="Times New Roman" panose="02020603050405020304" pitchFamily="18" charset="0"/>
            </a:endParaRPr>
          </a:p>
        </p:txBody>
      </p:sp>
      <p:sp>
        <p:nvSpPr>
          <p:cNvPr id="33" name="Text 31"/>
          <p:cNvSpPr txBox="1"/>
          <p:nvPr/>
        </p:nvSpPr>
        <p:spPr>
          <a:xfrm>
            <a:off x="10881360" y="6446520"/>
            <a:ext cx="822960" cy="274320"/>
          </a:xfrm>
          <a:prstGeom prst="rect">
            <a:avLst/>
          </a:prstGeom>
          <a:noFill/>
          <a:ln/>
        </p:spPr>
        <p:txBody>
          <a:bodyPr wrap="square" lIns="0" tIns="0" rIns="0" bIns="0" rtlCol="0" anchor="t"/>
          <a:lstStyle/>
          <a:p>
            <a:pPr marL="0" indent="0" algn="r">
              <a:buNone/>
            </a:pPr>
            <a:r>
              <a:rPr lang="en-US" sz="1000" dirty="0">
                <a:solidFill>
                  <a:srgbClr val="25C4B7"/>
                </a:solidFill>
                <a:latin typeface="Times New Roman" panose="02020603050405020304" pitchFamily="18" charset="0"/>
                <a:ea typeface="Calibri" pitchFamily="34" charset="-122"/>
                <a:cs typeface="Times New Roman" panose="02020603050405020304" pitchFamily="18" charset="0"/>
              </a:rPr>
              <a:t>9 / 13</a:t>
            </a:r>
            <a:endParaRPr lang="en-US" sz="1000" dirty="0">
              <a:latin typeface="Times New Roman" panose="02020603050405020304" pitchFamily="18" charset="0"/>
              <a:cs typeface="Times New Roman" panose="02020603050405020304" pitchFamily="18" charset="0"/>
            </a:endParaRPr>
          </a:p>
        </p:txBody>
      </p:sp>
      <p:sp>
        <p:nvSpPr>
          <p:cNvPr id="34" name="Shape 32"/>
          <p:cNvSpPr/>
          <p:nvPr/>
        </p:nvSpPr>
        <p:spPr>
          <a:xfrm>
            <a:off x="548640" y="6400800"/>
            <a:ext cx="11064240" cy="9144"/>
          </a:xfrm>
          <a:prstGeom prst="rect">
            <a:avLst/>
          </a:prstGeom>
          <a:solidFill>
            <a:srgbClr val="1C3D6E"/>
          </a:solidFill>
          <a:ln w="12700">
            <a:solidFill>
              <a:srgbClr val="1C3D6E"/>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4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25C4B7"/>
          </a:solidFill>
          <a:ln w="12700">
            <a:solidFill>
              <a:srgbClr val="25C4B7"/>
            </a:solidFill>
            <a:prstDash val="solid"/>
          </a:ln>
        </p:spPr>
      </p:sp>
      <p:sp>
        <p:nvSpPr>
          <p:cNvPr id="3" name="Shape 1"/>
          <p:cNvSpPr/>
          <p:nvPr/>
        </p:nvSpPr>
        <p:spPr>
          <a:xfrm>
            <a:off x="548640" y="475488"/>
            <a:ext cx="128016" cy="128016"/>
          </a:xfrm>
          <a:prstGeom prst="ellipse">
            <a:avLst/>
          </a:prstGeom>
          <a:solidFill>
            <a:srgbClr val="8B7CF6"/>
          </a:solidFill>
          <a:ln w="12700">
            <a:solidFill>
              <a:srgbClr val="8B7CF6"/>
            </a:solidFill>
            <a:prstDash val="solid"/>
          </a:ln>
        </p:spPr>
      </p:sp>
      <p:sp>
        <p:nvSpPr>
          <p:cNvPr id="4" name="Text 2"/>
          <p:cNvSpPr txBox="1"/>
          <p:nvPr/>
        </p:nvSpPr>
        <p:spPr>
          <a:xfrm>
            <a:off x="777240" y="365760"/>
            <a:ext cx="10881360" cy="566928"/>
          </a:xfrm>
          <a:prstGeom prst="rect">
            <a:avLst/>
          </a:prstGeom>
          <a:noFill/>
          <a:ln/>
        </p:spPr>
        <p:txBody>
          <a:bodyPr wrap="square" lIns="0" tIns="0" rIns="0" bIns="0" rtlCol="0" anchor="t"/>
          <a:lstStyle/>
          <a:p>
            <a:pPr marL="0" indent="0">
              <a:buNone/>
            </a:pPr>
            <a:r>
              <a:rPr lang="en-US" sz="3000" b="1" dirty="0">
                <a:solidFill>
                  <a:srgbClr val="0B132B"/>
                </a:solidFill>
                <a:latin typeface="Times New Roman" panose="02020603050405020304" pitchFamily="18" charset="0"/>
                <a:ea typeface="Calibri" pitchFamily="34" charset="-122"/>
                <a:cs typeface="Times New Roman" panose="02020603050405020304" pitchFamily="18" charset="0"/>
              </a:rPr>
              <a:t>Result and Outcome</a:t>
            </a:r>
            <a:endParaRPr lang="en-US" sz="3000" dirty="0">
              <a:latin typeface="Times New Roman" panose="02020603050405020304" pitchFamily="18" charset="0"/>
              <a:cs typeface="Times New Roman" panose="02020603050405020304" pitchFamily="18" charset="0"/>
            </a:endParaRPr>
          </a:p>
        </p:txBody>
      </p:sp>
      <p:sp>
        <p:nvSpPr>
          <p:cNvPr id="5" name="Text 3"/>
          <p:cNvSpPr txBox="1"/>
          <p:nvPr/>
        </p:nvSpPr>
        <p:spPr>
          <a:xfrm>
            <a:off x="777240" y="932688"/>
            <a:ext cx="10881360" cy="320040"/>
          </a:xfrm>
          <a:prstGeom prst="rect">
            <a:avLst/>
          </a:prstGeom>
          <a:noFill/>
          <a:ln/>
        </p:spPr>
        <p:txBody>
          <a:bodyPr wrap="square" lIns="0" tIns="0" rIns="0" bIns="0" rtlCol="0" anchor="t"/>
          <a:lstStyle/>
          <a:p>
            <a:pPr marL="0" indent="0">
              <a:buNone/>
            </a:pPr>
            <a:r>
              <a:rPr lang="en-US" sz="1400" dirty="0">
                <a:solidFill>
                  <a:srgbClr val="5B6B82"/>
                </a:solidFill>
                <a:latin typeface="Times New Roman" panose="02020603050405020304" pitchFamily="18" charset="0"/>
                <a:ea typeface="Calibri" pitchFamily="34" charset="-122"/>
                <a:cs typeface="Times New Roman" panose="02020603050405020304" pitchFamily="18" charset="0"/>
              </a:rPr>
              <a:t>Pretrained CNNs performed best; single run, no significance testing</a:t>
            </a:r>
            <a:endParaRPr lang="en-US" sz="1400" dirty="0">
              <a:latin typeface="Times New Roman" panose="02020603050405020304" pitchFamily="18" charset="0"/>
              <a:cs typeface="Times New Roman" panose="02020603050405020304" pitchFamily="18" charset="0"/>
            </a:endParaRPr>
          </a:p>
        </p:txBody>
      </p:sp>
      <p:sp>
        <p:nvSpPr>
          <p:cNvPr id="6" name="Shape 4"/>
          <p:cNvSpPr/>
          <p:nvPr/>
        </p:nvSpPr>
        <p:spPr>
          <a:xfrm>
            <a:off x="548640" y="1417320"/>
            <a:ext cx="5943600" cy="3291840"/>
          </a:xfrm>
          <a:prstGeom prst="roundRect">
            <a:avLst>
              <a:gd name="adj" fmla="val 2778"/>
            </a:avLst>
          </a:prstGeom>
          <a:solidFill>
            <a:srgbClr val="FFFFFF"/>
          </a:solidFill>
          <a:ln w="9525">
            <a:solidFill>
              <a:srgbClr val="D5E1EC"/>
            </a:solidFill>
            <a:prstDash val="solid"/>
          </a:ln>
          <a:effectLst>
            <a:outerShdw blurRad="101600" dist="25400" dir="5400000" algn="bl" rotWithShape="0">
              <a:srgbClr val="000000">
                <a:alpha val="15000"/>
              </a:srgbClr>
            </a:outerShdw>
          </a:effectLst>
        </p:spPr>
      </p:sp>
      <p:graphicFrame>
        <p:nvGraphicFramePr>
          <p:cNvPr id="7" name="Chart 0"/>
          <p:cNvGraphicFramePr/>
          <p:nvPr>
            <p:extLst>
              <p:ext uri="{D42A27DB-BD31-4B8C-83A1-F6EECF244321}">
                <p14:modId xmlns:p14="http://schemas.microsoft.com/office/powerpoint/2010/main" val="564635525"/>
              </p:ext>
            </p:extLst>
          </p:nvPr>
        </p:nvGraphicFramePr>
        <p:xfrm>
          <a:off x="640080" y="1508760"/>
          <a:ext cx="576072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28544017"/>
              </p:ext>
            </p:extLst>
          </p:nvPr>
        </p:nvGraphicFramePr>
        <p:xfrm>
          <a:off x="6675120" y="1463040"/>
          <a:ext cx="5029200" cy="2316480"/>
        </p:xfrm>
        <a:graphic>
          <a:graphicData uri="http://schemas.openxmlformats.org/drawingml/2006/table">
            <a:tbl>
              <a:tblPr/>
              <a:tblGrid>
                <a:gridCol w="10972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tblGrid>
              <a:tr h="38404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0B132B"/>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0B132B"/>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Prec.</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0B132B"/>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0B132B"/>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F1</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0B132B"/>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ROC-AUC</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0B132B"/>
                    </a:solidFill>
                  </a:tcPr>
                </a:tc>
                <a:extLst>
                  <a:ext uri="{0D108BD9-81ED-4DB2-BD59-A6C34878D82A}">
                    <a16:rowId xmlns:a16="http://schemas.microsoft.com/office/drawing/2014/main" val="10000"/>
                  </a:ext>
                </a:extLst>
              </a:tr>
              <a:tr h="384048">
                <a:tc>
                  <a:txBody>
                    <a:bodyPr/>
                    <a:lstStyle/>
                    <a:p>
                      <a:pPr marL="0" indent="0" algn="l">
                        <a:buNone/>
                      </a:pPr>
                      <a:r>
                        <a:rPr lang="en-US" sz="1000" b="1" dirty="0">
                          <a:solidFill>
                            <a:srgbClr val="0B132B"/>
                          </a:solidFill>
                          <a:latin typeface="Calibri" pitchFamily="34" charset="0"/>
                          <a:ea typeface="Calibri" pitchFamily="34" charset="-122"/>
                          <a:cs typeface="Calibri" pitchFamily="34" charset="-120"/>
                        </a:rPr>
                        <a:t>VGG19</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DDF5F2"/>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0.9453</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DDF5F2"/>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0.9463</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DDF5F2"/>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0.9434</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DDF5F2"/>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0.9449</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DDF5F2"/>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0.9949</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DDF5F2"/>
                    </a:solidFill>
                  </a:tcPr>
                </a:tc>
                <a:extLst>
                  <a:ext uri="{0D108BD9-81ED-4DB2-BD59-A6C34878D82A}">
                    <a16:rowId xmlns:a16="http://schemas.microsoft.com/office/drawing/2014/main" val="10001"/>
                  </a:ext>
                </a:extLst>
              </a:tr>
              <a:tr h="384048">
                <a:tc>
                  <a:txBody>
                    <a:bodyPr/>
                    <a:lstStyle/>
                    <a:p>
                      <a:pPr marL="0" indent="0" algn="l">
                        <a:buNone/>
                      </a:pPr>
                      <a:r>
                        <a:rPr lang="en-US" sz="1000" b="1" dirty="0">
                          <a:solidFill>
                            <a:srgbClr val="0B132B"/>
                          </a:solidFill>
                          <a:latin typeface="Calibri" pitchFamily="34" charset="0"/>
                          <a:ea typeface="Calibri" pitchFamily="34" charset="-122"/>
                          <a:cs typeface="Calibri" pitchFamily="34" charset="-120"/>
                        </a:rPr>
                        <a:t>ResNet50</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0.9367</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0.9398</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0.9350</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0.9374</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0.9907</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000" b="1" dirty="0">
                          <a:solidFill>
                            <a:srgbClr val="0B132B"/>
                          </a:solidFill>
                          <a:latin typeface="Calibri" pitchFamily="34" charset="0"/>
                          <a:ea typeface="Calibri" pitchFamily="34" charset="-122"/>
                          <a:cs typeface="Calibri" pitchFamily="34" charset="-120"/>
                        </a:rPr>
                        <a:t>Custom CNN</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F2784B"/>
                          </a:solidFill>
                          <a:latin typeface="Calibri" pitchFamily="34" charset="0"/>
                          <a:ea typeface="Calibri" pitchFamily="34" charset="-122"/>
                          <a:cs typeface="Calibri" pitchFamily="34" charset="-120"/>
                        </a:rPr>
                        <a:t>Disputed: 0.97 vs ≈0.92</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0.9285</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0.9209</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0.9247</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0.9930</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00" b="1" dirty="0">
                          <a:solidFill>
                            <a:srgbClr val="0B132B"/>
                          </a:solidFill>
                          <a:latin typeface="Calibri" pitchFamily="34" charset="0"/>
                          <a:ea typeface="Calibri" pitchFamily="34" charset="-122"/>
                          <a:cs typeface="Calibri" pitchFamily="34" charset="-120"/>
                        </a:rPr>
                        <a:t>ViT</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0.7865</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0.8116</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0.7615</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0.7857</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0.9513</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000" b="1" dirty="0">
                          <a:solidFill>
                            <a:srgbClr val="0B132B"/>
                          </a:solidFill>
                          <a:latin typeface="Calibri" pitchFamily="34" charset="0"/>
                          <a:ea typeface="Calibri" pitchFamily="34" charset="-122"/>
                          <a:cs typeface="Calibri" pitchFamily="34" charset="-120"/>
                        </a:rPr>
                        <a:t>Baseline CNN</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≈0.92 (report)</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B132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D5E1EC"/>
                      </a:solidFill>
                      <a:prstDash val="solid"/>
                      <a:round/>
                      <a:headEnd type="none" w="med" len="med"/>
                      <a:tailEnd type="none" w="med" len="med"/>
                    </a:lnL>
                    <a:lnR w="6350" cap="flat" cmpd="sng" algn="ctr">
                      <a:solidFill>
                        <a:srgbClr val="D5E1EC"/>
                      </a:solidFill>
                      <a:prstDash val="solid"/>
                      <a:round/>
                      <a:headEnd type="none" w="med" len="med"/>
                      <a:tailEnd type="none" w="med" len="med"/>
                    </a:lnR>
                    <a:lnT w="6350" cap="flat" cmpd="sng" algn="ctr">
                      <a:solidFill>
                        <a:srgbClr val="D5E1EC"/>
                      </a:solidFill>
                      <a:prstDash val="solid"/>
                      <a:round/>
                      <a:headEnd type="none" w="med" len="med"/>
                      <a:tailEnd type="none" w="med" len="med"/>
                    </a:lnT>
                    <a:lnB w="6350" cap="flat" cmpd="sng" algn="ctr">
                      <a:solidFill>
                        <a:srgbClr val="D5E1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5"/>
          <p:cNvSpPr/>
          <p:nvPr/>
        </p:nvSpPr>
        <p:spPr>
          <a:xfrm>
            <a:off x="6675120" y="3931920"/>
            <a:ext cx="5029200" cy="777240"/>
          </a:xfrm>
          <a:prstGeom prst="roundRect">
            <a:avLst>
              <a:gd name="adj" fmla="val 11765"/>
            </a:avLst>
          </a:prstGeom>
          <a:solidFill>
            <a:srgbClr val="FDF1EC"/>
          </a:solidFill>
          <a:ln w="9525">
            <a:solidFill>
              <a:srgbClr val="F2784B"/>
            </a:solidFill>
            <a:prstDash val="solid"/>
          </a:ln>
          <a:effectLst>
            <a:outerShdw blurRad="101600" dist="25400" dir="5400000" algn="bl" rotWithShape="0">
              <a:srgbClr val="000000">
                <a:alpha val="15000"/>
              </a:srgbClr>
            </a:outerShdw>
          </a:effectLst>
        </p:spPr>
      </p:sp>
      <p:sp>
        <p:nvSpPr>
          <p:cNvPr id="10" name="Text 6"/>
          <p:cNvSpPr txBox="1"/>
          <p:nvPr/>
        </p:nvSpPr>
        <p:spPr>
          <a:xfrm>
            <a:off x="6812280" y="3977640"/>
            <a:ext cx="4754880" cy="685800"/>
          </a:xfrm>
          <a:prstGeom prst="rect">
            <a:avLst/>
          </a:prstGeom>
          <a:noFill/>
          <a:ln/>
        </p:spPr>
        <p:txBody>
          <a:bodyPr wrap="square" lIns="0" tIns="0" rIns="0" bIns="0" rtlCol="0" anchor="ctr"/>
          <a:lstStyle/>
          <a:p>
            <a:pPr marL="0" indent="0">
              <a:buNone/>
            </a:pPr>
            <a:r>
              <a:rPr lang="en-US" sz="1100" b="1" dirty="0">
                <a:solidFill>
                  <a:srgbClr val="F2784B"/>
                </a:solidFill>
                <a:latin typeface="Times New Roman" panose="02020603050405020304" pitchFamily="18" charset="0"/>
                <a:ea typeface="Calibri" pitchFamily="34" charset="-122"/>
                <a:cs typeface="Times New Roman" panose="02020603050405020304" pitchFamily="18" charset="0"/>
              </a:rPr>
              <a:t>Custom CNN accuracy unresolved: summary 0.97 vs classification report ≈0.92. Neither is presented as verified.</a:t>
            </a:r>
            <a:endParaRPr lang="en-US" sz="1100" dirty="0">
              <a:latin typeface="Times New Roman" panose="02020603050405020304" pitchFamily="18" charset="0"/>
              <a:cs typeface="Times New Roman" panose="02020603050405020304" pitchFamily="18" charset="0"/>
            </a:endParaRPr>
          </a:p>
        </p:txBody>
      </p:sp>
      <p:sp>
        <p:nvSpPr>
          <p:cNvPr id="8" name="Text 7"/>
          <p:cNvSpPr txBox="1"/>
          <p:nvPr/>
        </p:nvSpPr>
        <p:spPr>
          <a:xfrm>
            <a:off x="548640" y="4892040"/>
            <a:ext cx="2651760" cy="548640"/>
          </a:xfrm>
          <a:prstGeom prst="rect">
            <a:avLst/>
          </a:prstGeom>
          <a:noFill/>
          <a:ln/>
        </p:spPr>
        <p:txBody>
          <a:bodyPr wrap="square" lIns="0" tIns="0" rIns="0" bIns="0" rtlCol="0" anchor="t"/>
          <a:lstStyle/>
          <a:p>
            <a:pPr marL="0" indent="0">
              <a:buNone/>
            </a:pPr>
            <a:r>
              <a:rPr lang="en-US" sz="3000" b="1" dirty="0">
                <a:solidFill>
                  <a:srgbClr val="25C4B7"/>
                </a:solidFill>
                <a:latin typeface="Times New Roman" panose="02020603050405020304" pitchFamily="18" charset="0"/>
                <a:ea typeface="Calibri" pitchFamily="34" charset="-122"/>
                <a:cs typeface="Times New Roman" panose="02020603050405020304" pitchFamily="18" charset="0"/>
              </a:rPr>
              <a:t>0.9449</a:t>
            </a:r>
            <a:endParaRPr lang="en-US" sz="3000" dirty="0">
              <a:latin typeface="Times New Roman" panose="02020603050405020304" pitchFamily="18" charset="0"/>
              <a:cs typeface="Times New Roman" panose="02020603050405020304" pitchFamily="18" charset="0"/>
            </a:endParaRPr>
          </a:p>
        </p:txBody>
      </p:sp>
      <p:sp>
        <p:nvSpPr>
          <p:cNvPr id="12" name="Text 8"/>
          <p:cNvSpPr txBox="1"/>
          <p:nvPr/>
        </p:nvSpPr>
        <p:spPr>
          <a:xfrm>
            <a:off x="548640" y="5440680"/>
            <a:ext cx="2651760" cy="274320"/>
          </a:xfrm>
          <a:prstGeom prst="rect">
            <a:avLst/>
          </a:prstGeom>
          <a:noFill/>
          <a:ln/>
        </p:spPr>
        <p:txBody>
          <a:bodyPr wrap="square" lIns="0" tIns="0" rIns="0" bIns="0" rtlCol="0" anchor="t"/>
          <a:lstStyle/>
          <a:p>
            <a:pPr marL="0" indent="0">
              <a:buNone/>
            </a:pPr>
            <a:r>
              <a:rPr lang="en-US" sz="1100" dirty="0">
                <a:solidFill>
                  <a:srgbClr val="5B6B82"/>
                </a:solidFill>
                <a:latin typeface="Times New Roman" panose="02020603050405020304" pitchFamily="18" charset="0"/>
                <a:ea typeface="Calibri" pitchFamily="34" charset="-122"/>
                <a:cs typeface="Times New Roman" panose="02020603050405020304" pitchFamily="18" charset="0"/>
              </a:rPr>
              <a:t>VGG19 F1</a:t>
            </a:r>
            <a:endParaRPr lang="en-US" sz="1100" dirty="0">
              <a:latin typeface="Times New Roman" panose="02020603050405020304" pitchFamily="18" charset="0"/>
              <a:cs typeface="Times New Roman" panose="02020603050405020304" pitchFamily="18" charset="0"/>
            </a:endParaRPr>
          </a:p>
        </p:txBody>
      </p:sp>
      <p:sp>
        <p:nvSpPr>
          <p:cNvPr id="13" name="Text 9"/>
          <p:cNvSpPr txBox="1"/>
          <p:nvPr/>
        </p:nvSpPr>
        <p:spPr>
          <a:xfrm>
            <a:off x="3383280" y="4892040"/>
            <a:ext cx="2651760" cy="548640"/>
          </a:xfrm>
          <a:prstGeom prst="rect">
            <a:avLst/>
          </a:prstGeom>
          <a:noFill/>
          <a:ln/>
        </p:spPr>
        <p:txBody>
          <a:bodyPr wrap="square" lIns="0" tIns="0" rIns="0" bIns="0" rtlCol="0" anchor="t"/>
          <a:lstStyle/>
          <a:p>
            <a:pPr marL="0" indent="0">
              <a:buNone/>
            </a:pPr>
            <a:r>
              <a:rPr lang="en-US" sz="3000" b="1" dirty="0">
                <a:solidFill>
                  <a:srgbClr val="1C3D6E"/>
                </a:solidFill>
                <a:latin typeface="Times New Roman" panose="02020603050405020304" pitchFamily="18" charset="0"/>
                <a:ea typeface="Calibri" pitchFamily="34" charset="-122"/>
                <a:cs typeface="Times New Roman" panose="02020603050405020304" pitchFamily="18" charset="0"/>
              </a:rPr>
              <a:t>0.9949</a:t>
            </a:r>
            <a:endParaRPr lang="en-US" sz="3000" dirty="0">
              <a:latin typeface="Times New Roman" panose="02020603050405020304" pitchFamily="18" charset="0"/>
              <a:cs typeface="Times New Roman" panose="02020603050405020304" pitchFamily="18" charset="0"/>
            </a:endParaRPr>
          </a:p>
        </p:txBody>
      </p:sp>
      <p:sp>
        <p:nvSpPr>
          <p:cNvPr id="14" name="Text 10"/>
          <p:cNvSpPr txBox="1"/>
          <p:nvPr/>
        </p:nvSpPr>
        <p:spPr>
          <a:xfrm>
            <a:off x="3383280" y="5440680"/>
            <a:ext cx="2651760" cy="274320"/>
          </a:xfrm>
          <a:prstGeom prst="rect">
            <a:avLst/>
          </a:prstGeom>
          <a:noFill/>
          <a:ln/>
        </p:spPr>
        <p:txBody>
          <a:bodyPr wrap="square" lIns="0" tIns="0" rIns="0" bIns="0" rtlCol="0" anchor="t"/>
          <a:lstStyle/>
          <a:p>
            <a:pPr marL="0" indent="0">
              <a:buNone/>
            </a:pPr>
            <a:r>
              <a:rPr lang="en-US" sz="1100" dirty="0">
                <a:solidFill>
                  <a:srgbClr val="5B6B82"/>
                </a:solidFill>
                <a:latin typeface="Times New Roman" panose="02020603050405020304" pitchFamily="18" charset="0"/>
                <a:ea typeface="Calibri" pitchFamily="34" charset="-122"/>
                <a:cs typeface="Times New Roman" panose="02020603050405020304" pitchFamily="18" charset="0"/>
              </a:rPr>
              <a:t>VGG19 ROC-AUC</a:t>
            </a:r>
            <a:endParaRPr lang="en-US" sz="1100" dirty="0">
              <a:latin typeface="Times New Roman" panose="02020603050405020304" pitchFamily="18" charset="0"/>
              <a:cs typeface="Times New Roman" panose="02020603050405020304" pitchFamily="18" charset="0"/>
            </a:endParaRPr>
          </a:p>
        </p:txBody>
      </p:sp>
      <p:sp>
        <p:nvSpPr>
          <p:cNvPr id="15" name="Text 11"/>
          <p:cNvSpPr txBox="1"/>
          <p:nvPr/>
        </p:nvSpPr>
        <p:spPr>
          <a:xfrm>
            <a:off x="6217920" y="4892040"/>
            <a:ext cx="2651760" cy="548640"/>
          </a:xfrm>
          <a:prstGeom prst="rect">
            <a:avLst/>
          </a:prstGeom>
          <a:noFill/>
          <a:ln/>
        </p:spPr>
        <p:txBody>
          <a:bodyPr wrap="square" lIns="0" tIns="0" rIns="0" bIns="0" rtlCol="0" anchor="t"/>
          <a:lstStyle/>
          <a:p>
            <a:pPr marL="0" indent="0">
              <a:buNone/>
            </a:pPr>
            <a:r>
              <a:rPr lang="en-US" sz="3000" b="1" dirty="0">
                <a:solidFill>
                  <a:srgbClr val="8B7CF6"/>
                </a:solidFill>
                <a:latin typeface="Times New Roman" panose="02020603050405020304" pitchFamily="18" charset="0"/>
                <a:ea typeface="Calibri" pitchFamily="34" charset="-122"/>
                <a:cs typeface="Times New Roman" panose="02020603050405020304" pitchFamily="18" charset="0"/>
              </a:rPr>
              <a:t>0.9247</a:t>
            </a:r>
            <a:endParaRPr lang="en-US" sz="3000" dirty="0">
              <a:latin typeface="Times New Roman" panose="02020603050405020304" pitchFamily="18" charset="0"/>
              <a:cs typeface="Times New Roman" panose="02020603050405020304" pitchFamily="18" charset="0"/>
            </a:endParaRPr>
          </a:p>
        </p:txBody>
      </p:sp>
      <p:sp>
        <p:nvSpPr>
          <p:cNvPr id="16" name="Text 12"/>
          <p:cNvSpPr txBox="1"/>
          <p:nvPr/>
        </p:nvSpPr>
        <p:spPr>
          <a:xfrm>
            <a:off x="6217920" y="5440680"/>
            <a:ext cx="2651760" cy="274320"/>
          </a:xfrm>
          <a:prstGeom prst="rect">
            <a:avLst/>
          </a:prstGeom>
          <a:noFill/>
          <a:ln/>
        </p:spPr>
        <p:txBody>
          <a:bodyPr wrap="square" lIns="0" tIns="0" rIns="0" bIns="0" rtlCol="0" anchor="t"/>
          <a:lstStyle/>
          <a:p>
            <a:pPr marL="0" indent="0">
              <a:buNone/>
            </a:pPr>
            <a:r>
              <a:rPr lang="en-US" sz="1100" dirty="0">
                <a:solidFill>
                  <a:srgbClr val="5B6B82"/>
                </a:solidFill>
                <a:latin typeface="Times New Roman" panose="02020603050405020304" pitchFamily="18" charset="0"/>
                <a:ea typeface="Calibri" pitchFamily="34" charset="-122"/>
                <a:cs typeface="Times New Roman" panose="02020603050405020304" pitchFamily="18" charset="0"/>
              </a:rPr>
              <a:t>Custom CNN F1 · 2.54 M params</a:t>
            </a:r>
            <a:endParaRPr lang="en-US" sz="1100" dirty="0">
              <a:latin typeface="Times New Roman" panose="02020603050405020304" pitchFamily="18" charset="0"/>
              <a:cs typeface="Times New Roman" panose="02020603050405020304" pitchFamily="18" charset="0"/>
            </a:endParaRPr>
          </a:p>
        </p:txBody>
      </p:sp>
      <p:sp>
        <p:nvSpPr>
          <p:cNvPr id="17" name="Text 13"/>
          <p:cNvSpPr txBox="1"/>
          <p:nvPr/>
        </p:nvSpPr>
        <p:spPr>
          <a:xfrm>
            <a:off x="9052560" y="4892040"/>
            <a:ext cx="2651760" cy="548640"/>
          </a:xfrm>
          <a:prstGeom prst="rect">
            <a:avLst/>
          </a:prstGeom>
          <a:noFill/>
          <a:ln/>
        </p:spPr>
        <p:txBody>
          <a:bodyPr wrap="square" lIns="0" tIns="0" rIns="0" bIns="0" rtlCol="0" anchor="t"/>
          <a:lstStyle/>
          <a:p>
            <a:pPr marL="0" indent="0">
              <a:buNone/>
            </a:pPr>
            <a:r>
              <a:rPr lang="en-US" sz="3000" b="1" dirty="0">
                <a:solidFill>
                  <a:srgbClr val="F2784B"/>
                </a:solidFill>
                <a:latin typeface="Times New Roman" panose="02020603050405020304" pitchFamily="18" charset="0"/>
                <a:ea typeface="Calibri" pitchFamily="34" charset="-122"/>
                <a:cs typeface="Times New Roman" panose="02020603050405020304" pitchFamily="18" charset="0"/>
              </a:rPr>
              <a:t>0.7857</a:t>
            </a:r>
            <a:endParaRPr lang="en-US" sz="3000" dirty="0">
              <a:latin typeface="Times New Roman" panose="02020603050405020304" pitchFamily="18" charset="0"/>
              <a:cs typeface="Times New Roman" panose="02020603050405020304" pitchFamily="18" charset="0"/>
            </a:endParaRPr>
          </a:p>
        </p:txBody>
      </p:sp>
      <p:sp>
        <p:nvSpPr>
          <p:cNvPr id="18" name="Text 14"/>
          <p:cNvSpPr txBox="1"/>
          <p:nvPr/>
        </p:nvSpPr>
        <p:spPr>
          <a:xfrm>
            <a:off x="9052560" y="5440680"/>
            <a:ext cx="2651760" cy="274320"/>
          </a:xfrm>
          <a:prstGeom prst="rect">
            <a:avLst/>
          </a:prstGeom>
          <a:noFill/>
          <a:ln/>
        </p:spPr>
        <p:txBody>
          <a:bodyPr wrap="square" lIns="0" tIns="0" rIns="0" bIns="0" rtlCol="0" anchor="t"/>
          <a:lstStyle/>
          <a:p>
            <a:pPr marL="0" indent="0">
              <a:buNone/>
            </a:pPr>
            <a:r>
              <a:rPr lang="en-US" sz="1100" dirty="0">
                <a:solidFill>
                  <a:srgbClr val="5B6B82"/>
                </a:solidFill>
                <a:latin typeface="Times New Roman" panose="02020603050405020304" pitchFamily="18" charset="0"/>
                <a:ea typeface="Calibri" pitchFamily="34" charset="-122"/>
                <a:cs typeface="Times New Roman" panose="02020603050405020304" pitchFamily="18" charset="0"/>
              </a:rPr>
              <a:t>ViT F1 (from scratch)</a:t>
            </a:r>
            <a:endParaRPr lang="en-US" sz="1100" dirty="0">
              <a:latin typeface="Times New Roman" panose="02020603050405020304" pitchFamily="18" charset="0"/>
              <a:cs typeface="Times New Roman" panose="02020603050405020304" pitchFamily="18" charset="0"/>
            </a:endParaRPr>
          </a:p>
        </p:txBody>
      </p:sp>
      <p:sp>
        <p:nvSpPr>
          <p:cNvPr id="19" name="Text 15"/>
          <p:cNvSpPr txBox="1"/>
          <p:nvPr/>
        </p:nvSpPr>
        <p:spPr>
          <a:xfrm>
            <a:off x="548640" y="5852160"/>
            <a:ext cx="11155680" cy="365760"/>
          </a:xfrm>
          <a:prstGeom prst="rect">
            <a:avLst/>
          </a:prstGeom>
          <a:noFill/>
          <a:ln/>
        </p:spPr>
        <p:txBody>
          <a:bodyPr wrap="square" lIns="0" tIns="0" rIns="0" bIns="0" rtlCol="0" anchor="t"/>
          <a:lstStyle/>
          <a:p>
            <a:pPr marL="0" indent="0">
              <a:buNone/>
            </a:pPr>
            <a:r>
              <a:rPr lang="en-US" sz="1250" b="1" dirty="0">
                <a:solidFill>
                  <a:srgbClr val="0B132B"/>
                </a:solidFill>
                <a:latin typeface="Times New Roman" panose="02020603050405020304" pitchFamily="18" charset="0"/>
                <a:ea typeface="Calibri" pitchFamily="34" charset="-122"/>
                <a:cs typeface="Times New Roman" panose="02020603050405020304" pitchFamily="18" charset="0"/>
              </a:rPr>
              <a:t>Meaning: pretrained CNNs gave the strongest balanced results; the compact CNN was competitive; the from-scratch ViT lagged.</a:t>
            </a:r>
            <a:endParaRPr lang="en-US" sz="1250" dirty="0">
              <a:latin typeface="Times New Roman" panose="02020603050405020304" pitchFamily="18" charset="0"/>
              <a:cs typeface="Times New Roman" panose="02020603050405020304" pitchFamily="18" charset="0"/>
            </a:endParaRPr>
          </a:p>
        </p:txBody>
      </p:sp>
      <p:sp>
        <p:nvSpPr>
          <p:cNvPr id="20" name="Text 16"/>
          <p:cNvSpPr txBox="1"/>
          <p:nvPr/>
        </p:nvSpPr>
        <p:spPr>
          <a:xfrm>
            <a:off x="10881360" y="6446520"/>
            <a:ext cx="822960" cy="274320"/>
          </a:xfrm>
          <a:prstGeom prst="rect">
            <a:avLst/>
          </a:prstGeom>
          <a:noFill/>
          <a:ln/>
        </p:spPr>
        <p:txBody>
          <a:bodyPr wrap="square" lIns="0" tIns="0" rIns="0" bIns="0" rtlCol="0" anchor="t"/>
          <a:lstStyle/>
          <a:p>
            <a:pPr marL="0" indent="0" algn="r">
              <a:buNone/>
            </a:pPr>
            <a:r>
              <a:rPr lang="en-US" sz="1000" dirty="0">
                <a:solidFill>
                  <a:srgbClr val="5B6B82"/>
                </a:solidFill>
                <a:latin typeface="Times New Roman" panose="02020603050405020304" pitchFamily="18" charset="0"/>
                <a:ea typeface="Calibri" pitchFamily="34" charset="-122"/>
                <a:cs typeface="Times New Roman" panose="02020603050405020304" pitchFamily="18" charset="0"/>
              </a:rPr>
              <a:t>10 / 13</a:t>
            </a:r>
            <a:endParaRPr lang="en-US" sz="1000" dirty="0">
              <a:latin typeface="Times New Roman" panose="02020603050405020304" pitchFamily="18" charset="0"/>
              <a:cs typeface="Times New Roman" panose="02020603050405020304" pitchFamily="18" charset="0"/>
            </a:endParaRPr>
          </a:p>
        </p:txBody>
      </p:sp>
      <p:sp>
        <p:nvSpPr>
          <p:cNvPr id="21" name="Shape 17"/>
          <p:cNvSpPr/>
          <p:nvPr/>
        </p:nvSpPr>
        <p:spPr>
          <a:xfrm>
            <a:off x="548640" y="6400800"/>
            <a:ext cx="11064240" cy="9144"/>
          </a:xfrm>
          <a:prstGeom prst="rect">
            <a:avLst/>
          </a:prstGeom>
          <a:solidFill>
            <a:srgbClr val="C9D3DF"/>
          </a:solidFill>
          <a:ln w="12700">
            <a:solidFill>
              <a:srgbClr val="C9D3DF"/>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4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25C4B7"/>
          </a:solidFill>
          <a:ln w="12700">
            <a:solidFill>
              <a:srgbClr val="25C4B7"/>
            </a:solidFill>
            <a:prstDash val="solid"/>
          </a:ln>
        </p:spPr>
      </p:sp>
      <p:sp>
        <p:nvSpPr>
          <p:cNvPr id="3" name="Shape 1"/>
          <p:cNvSpPr/>
          <p:nvPr/>
        </p:nvSpPr>
        <p:spPr>
          <a:xfrm>
            <a:off x="548640" y="475488"/>
            <a:ext cx="128016" cy="128016"/>
          </a:xfrm>
          <a:prstGeom prst="ellipse">
            <a:avLst/>
          </a:prstGeom>
          <a:solidFill>
            <a:srgbClr val="25C4B7"/>
          </a:solidFill>
          <a:ln w="12700">
            <a:solidFill>
              <a:srgbClr val="25C4B7"/>
            </a:solidFill>
            <a:prstDash val="solid"/>
          </a:ln>
        </p:spPr>
      </p:sp>
      <p:sp>
        <p:nvSpPr>
          <p:cNvPr id="4" name="Text 2"/>
          <p:cNvSpPr txBox="1"/>
          <p:nvPr/>
        </p:nvSpPr>
        <p:spPr>
          <a:xfrm>
            <a:off x="777240" y="365760"/>
            <a:ext cx="10881360" cy="566928"/>
          </a:xfrm>
          <a:prstGeom prst="rect">
            <a:avLst/>
          </a:prstGeom>
          <a:noFill/>
          <a:ln/>
        </p:spPr>
        <p:txBody>
          <a:bodyPr wrap="square" lIns="0" tIns="0" rIns="0" bIns="0" rtlCol="0" anchor="t"/>
          <a:lstStyle/>
          <a:p>
            <a:pPr marL="0" indent="0">
              <a:buNone/>
            </a:pPr>
            <a:r>
              <a:rPr lang="en-US" sz="3000" b="1" dirty="0">
                <a:solidFill>
                  <a:srgbClr val="0B132B"/>
                </a:solidFill>
                <a:latin typeface="Times New Roman" panose="02020603050405020304" pitchFamily="18" charset="0"/>
                <a:ea typeface="Calibri" pitchFamily="34" charset="-122"/>
                <a:cs typeface="Times New Roman" panose="02020603050405020304" pitchFamily="18" charset="0"/>
              </a:rPr>
              <a:t>Testing and Validation of Solution</a:t>
            </a:r>
            <a:endParaRPr lang="en-US" sz="3000" dirty="0">
              <a:latin typeface="Times New Roman" panose="02020603050405020304" pitchFamily="18" charset="0"/>
              <a:cs typeface="Times New Roman" panose="02020603050405020304" pitchFamily="18" charset="0"/>
            </a:endParaRPr>
          </a:p>
        </p:txBody>
      </p:sp>
      <p:sp>
        <p:nvSpPr>
          <p:cNvPr id="5" name="Text 3"/>
          <p:cNvSpPr txBox="1"/>
          <p:nvPr/>
        </p:nvSpPr>
        <p:spPr>
          <a:xfrm>
            <a:off x="777240" y="932688"/>
            <a:ext cx="10881360" cy="320040"/>
          </a:xfrm>
          <a:prstGeom prst="rect">
            <a:avLst/>
          </a:prstGeom>
          <a:noFill/>
          <a:ln/>
        </p:spPr>
        <p:txBody>
          <a:bodyPr wrap="square" lIns="0" tIns="0" rIns="0" bIns="0" rtlCol="0" anchor="t"/>
          <a:lstStyle/>
          <a:p>
            <a:pPr marL="0" indent="0">
              <a:buNone/>
            </a:pPr>
            <a:r>
              <a:rPr lang="en-US" sz="1400" dirty="0">
                <a:solidFill>
                  <a:srgbClr val="5B6B82"/>
                </a:solidFill>
                <a:latin typeface="Times New Roman" panose="02020603050405020304" pitchFamily="18" charset="0"/>
                <a:ea typeface="Calibri" pitchFamily="34" charset="-122"/>
                <a:cs typeface="Times New Roman" panose="02020603050405020304" pitchFamily="18" charset="0"/>
              </a:rPr>
              <a:t>6,540-image test set · five-class evaluation</a:t>
            </a:r>
            <a:endParaRPr lang="en-US" sz="1400" dirty="0">
              <a:latin typeface="Times New Roman" panose="02020603050405020304" pitchFamily="18" charset="0"/>
              <a:cs typeface="Times New Roman" panose="02020603050405020304" pitchFamily="18" charset="0"/>
            </a:endParaRPr>
          </a:p>
        </p:txBody>
      </p:sp>
      <p:sp>
        <p:nvSpPr>
          <p:cNvPr id="6" name="Shape 4"/>
          <p:cNvSpPr/>
          <p:nvPr/>
        </p:nvSpPr>
        <p:spPr>
          <a:xfrm>
            <a:off x="640080" y="1463040"/>
            <a:ext cx="4937760" cy="4480560"/>
          </a:xfrm>
          <a:prstGeom prst="roundRect">
            <a:avLst>
              <a:gd name="adj" fmla="val 2041"/>
            </a:avLst>
          </a:prstGeom>
          <a:solidFill>
            <a:srgbClr val="FFFFFF"/>
          </a:solidFill>
          <a:ln w="9525">
            <a:solidFill>
              <a:srgbClr val="D5E1EC"/>
            </a:solidFill>
            <a:prstDash val="solid"/>
          </a:ln>
          <a:effectLst>
            <a:outerShdw blurRad="101600" dist="25400" dir="5400000" algn="bl" rotWithShape="0">
              <a:srgbClr val="000000">
                <a:alpha val="15000"/>
              </a:srgbClr>
            </a:outerShdw>
          </a:effectLst>
        </p:spPr>
      </p:sp>
      <p:pic>
        <p:nvPicPr>
          <p:cNvPr id="7" name="Image 0" descr="image6.jpeg"/>
          <p:cNvPicPr>
            <a:picLocks noChangeAspect="1"/>
          </p:cNvPicPr>
          <p:nvPr/>
        </p:nvPicPr>
        <p:blipFill>
          <a:blip r:embed="rId3"/>
          <a:stretch>
            <a:fillRect/>
          </a:stretch>
        </p:blipFill>
        <p:spPr>
          <a:xfrm>
            <a:off x="1005840" y="1554480"/>
            <a:ext cx="4206240" cy="3657600"/>
          </a:xfrm>
          <a:prstGeom prst="rect">
            <a:avLst/>
          </a:prstGeom>
        </p:spPr>
      </p:pic>
      <p:sp>
        <p:nvSpPr>
          <p:cNvPr id="8" name="Text 5"/>
          <p:cNvSpPr txBox="1"/>
          <p:nvPr/>
        </p:nvSpPr>
        <p:spPr>
          <a:xfrm>
            <a:off x="822960" y="5303520"/>
            <a:ext cx="4572000" cy="548640"/>
          </a:xfrm>
          <a:prstGeom prst="rect">
            <a:avLst/>
          </a:prstGeom>
          <a:noFill/>
          <a:ln/>
        </p:spPr>
        <p:txBody>
          <a:bodyPr wrap="square" lIns="0" tIns="0" rIns="0" bIns="0" rtlCol="0" anchor="t"/>
          <a:lstStyle/>
          <a:p>
            <a:pPr marL="0" indent="0">
              <a:buNone/>
            </a:pPr>
            <a:r>
              <a:rPr lang="en-US" sz="1050" i="1" dirty="0">
                <a:solidFill>
                  <a:srgbClr val="5B6B82"/>
                </a:solidFill>
                <a:latin typeface="Times New Roman" panose="02020603050405020304" pitchFamily="18" charset="0"/>
                <a:ea typeface="Calibri" pitchFamily="34" charset="-122"/>
                <a:cs typeface="Times New Roman" panose="02020603050405020304" pitchFamily="18" charset="0"/>
              </a:rPr>
              <a:t>VGG19 confusion matrix (source figure): Lung Opacity ↔ Normal is the main error.</a:t>
            </a:r>
            <a:endParaRPr lang="en-US" sz="1050" dirty="0">
              <a:latin typeface="Times New Roman" panose="02020603050405020304" pitchFamily="18" charset="0"/>
              <a:cs typeface="Times New Roman" panose="02020603050405020304" pitchFamily="18" charset="0"/>
            </a:endParaRPr>
          </a:p>
        </p:txBody>
      </p:sp>
      <p:sp>
        <p:nvSpPr>
          <p:cNvPr id="9" name="Text 6"/>
          <p:cNvSpPr txBox="1"/>
          <p:nvPr/>
        </p:nvSpPr>
        <p:spPr>
          <a:xfrm>
            <a:off x="5943600" y="1463040"/>
            <a:ext cx="2743200" cy="274320"/>
          </a:xfrm>
          <a:prstGeom prst="rect">
            <a:avLst/>
          </a:prstGeom>
          <a:noFill/>
          <a:ln/>
        </p:spPr>
        <p:txBody>
          <a:bodyPr wrap="square" lIns="0" tIns="0" rIns="0" bIns="0" rtlCol="0" anchor="t"/>
          <a:lstStyle/>
          <a:p>
            <a:pPr marL="0" indent="0">
              <a:buNone/>
            </a:pPr>
            <a:r>
              <a:rPr lang="en-US" sz="1100" b="1" kern="0" spc="300" dirty="0">
                <a:solidFill>
                  <a:srgbClr val="25C4B7"/>
                </a:solidFill>
                <a:latin typeface="Times New Roman" panose="02020603050405020304" pitchFamily="18" charset="0"/>
                <a:ea typeface="Calibri" pitchFamily="34" charset="-122"/>
                <a:cs typeface="Times New Roman" panose="02020603050405020304" pitchFamily="18" charset="0"/>
              </a:rPr>
              <a:t>COMPLETED</a:t>
            </a:r>
            <a:endParaRPr lang="en-US" sz="1100" dirty="0">
              <a:latin typeface="Times New Roman" panose="02020603050405020304" pitchFamily="18" charset="0"/>
              <a:cs typeface="Times New Roman" panose="02020603050405020304" pitchFamily="18" charset="0"/>
            </a:endParaRPr>
          </a:p>
        </p:txBody>
      </p:sp>
      <p:sp>
        <p:nvSpPr>
          <p:cNvPr id="10" name="Shape 7"/>
          <p:cNvSpPr/>
          <p:nvPr/>
        </p:nvSpPr>
        <p:spPr>
          <a:xfrm>
            <a:off x="5943600" y="1892808"/>
            <a:ext cx="118872" cy="118872"/>
          </a:xfrm>
          <a:prstGeom prst="ellipse">
            <a:avLst/>
          </a:prstGeom>
          <a:solidFill>
            <a:srgbClr val="25C4B7"/>
          </a:solidFill>
          <a:ln w="12700">
            <a:solidFill>
              <a:srgbClr val="25C4B7"/>
            </a:solidFill>
            <a:prstDash val="solid"/>
          </a:ln>
        </p:spPr>
      </p:sp>
      <p:sp>
        <p:nvSpPr>
          <p:cNvPr id="11" name="Text 8"/>
          <p:cNvSpPr txBox="1"/>
          <p:nvPr/>
        </p:nvSpPr>
        <p:spPr>
          <a:xfrm>
            <a:off x="6217920" y="1783080"/>
            <a:ext cx="5486400" cy="411480"/>
          </a:xfrm>
          <a:prstGeom prst="rect">
            <a:avLst/>
          </a:prstGeom>
          <a:noFill/>
          <a:ln/>
        </p:spPr>
        <p:txBody>
          <a:bodyPr wrap="square" lIns="0" tIns="0" rIns="0" bIns="0" rtlCol="0" anchor="t"/>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Fixed test split of 6,540 images, same for all models</a:t>
            </a:r>
            <a:endParaRPr lang="en-US" sz="1300" dirty="0">
              <a:latin typeface="Times New Roman" panose="02020603050405020304" pitchFamily="18" charset="0"/>
              <a:cs typeface="Times New Roman" panose="02020603050405020304" pitchFamily="18" charset="0"/>
            </a:endParaRPr>
          </a:p>
        </p:txBody>
      </p:sp>
      <p:sp>
        <p:nvSpPr>
          <p:cNvPr id="12" name="Shape 9"/>
          <p:cNvSpPr/>
          <p:nvPr/>
        </p:nvSpPr>
        <p:spPr>
          <a:xfrm>
            <a:off x="5943600" y="2350008"/>
            <a:ext cx="118872" cy="118872"/>
          </a:xfrm>
          <a:prstGeom prst="ellipse">
            <a:avLst/>
          </a:prstGeom>
          <a:solidFill>
            <a:srgbClr val="25C4B7"/>
          </a:solidFill>
          <a:ln w="12700">
            <a:solidFill>
              <a:srgbClr val="25C4B7"/>
            </a:solidFill>
            <a:prstDash val="solid"/>
          </a:ln>
        </p:spPr>
      </p:sp>
      <p:sp>
        <p:nvSpPr>
          <p:cNvPr id="13" name="Text 10"/>
          <p:cNvSpPr txBox="1"/>
          <p:nvPr/>
        </p:nvSpPr>
        <p:spPr>
          <a:xfrm>
            <a:off x="6217920" y="2240280"/>
            <a:ext cx="5486400" cy="411480"/>
          </a:xfrm>
          <a:prstGeom prst="rect">
            <a:avLst/>
          </a:prstGeom>
          <a:noFill/>
          <a:ln/>
        </p:spPr>
        <p:txBody>
          <a:bodyPr wrap="square" lIns="0" tIns="0" rIns="0" bIns="0" rtlCol="0" anchor="t"/>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Accuracy, precision, recall, F1, ROC-AUC (ViT also top-2: 0.9365)</a:t>
            </a:r>
            <a:endParaRPr lang="en-US" sz="1300" dirty="0">
              <a:latin typeface="Times New Roman" panose="02020603050405020304" pitchFamily="18" charset="0"/>
              <a:cs typeface="Times New Roman" panose="02020603050405020304" pitchFamily="18" charset="0"/>
            </a:endParaRPr>
          </a:p>
        </p:txBody>
      </p:sp>
      <p:sp>
        <p:nvSpPr>
          <p:cNvPr id="14" name="Shape 11"/>
          <p:cNvSpPr/>
          <p:nvPr/>
        </p:nvSpPr>
        <p:spPr>
          <a:xfrm>
            <a:off x="5943600" y="2807208"/>
            <a:ext cx="118872" cy="118872"/>
          </a:xfrm>
          <a:prstGeom prst="ellipse">
            <a:avLst/>
          </a:prstGeom>
          <a:solidFill>
            <a:srgbClr val="25C4B7"/>
          </a:solidFill>
          <a:ln w="12700">
            <a:solidFill>
              <a:srgbClr val="25C4B7"/>
            </a:solidFill>
            <a:prstDash val="solid"/>
          </a:ln>
        </p:spPr>
      </p:sp>
      <p:sp>
        <p:nvSpPr>
          <p:cNvPr id="15" name="Text 12"/>
          <p:cNvSpPr txBox="1"/>
          <p:nvPr/>
        </p:nvSpPr>
        <p:spPr>
          <a:xfrm>
            <a:off x="6217920" y="2697480"/>
            <a:ext cx="5486400" cy="411480"/>
          </a:xfrm>
          <a:prstGeom prst="rect">
            <a:avLst/>
          </a:prstGeom>
          <a:noFill/>
          <a:ln/>
        </p:spPr>
        <p:txBody>
          <a:bodyPr wrap="square" lIns="0" tIns="0" rIns="0" bIns="0" rtlCol="0" anchor="t"/>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Confusion matrices and class-wise error analysis</a:t>
            </a:r>
            <a:endParaRPr lang="en-US" sz="1300" dirty="0">
              <a:latin typeface="Times New Roman" panose="02020603050405020304" pitchFamily="18" charset="0"/>
              <a:cs typeface="Times New Roman" panose="02020603050405020304" pitchFamily="18" charset="0"/>
            </a:endParaRPr>
          </a:p>
        </p:txBody>
      </p:sp>
      <p:sp>
        <p:nvSpPr>
          <p:cNvPr id="16" name="Shape 13"/>
          <p:cNvSpPr/>
          <p:nvPr/>
        </p:nvSpPr>
        <p:spPr>
          <a:xfrm>
            <a:off x="5943600" y="3264408"/>
            <a:ext cx="118872" cy="118872"/>
          </a:xfrm>
          <a:prstGeom prst="ellipse">
            <a:avLst/>
          </a:prstGeom>
          <a:solidFill>
            <a:srgbClr val="25C4B7"/>
          </a:solidFill>
          <a:ln w="12700">
            <a:solidFill>
              <a:srgbClr val="25C4B7"/>
            </a:solidFill>
            <a:prstDash val="solid"/>
          </a:ln>
        </p:spPr>
      </p:sp>
      <p:sp>
        <p:nvSpPr>
          <p:cNvPr id="17" name="Text 14"/>
          <p:cNvSpPr txBox="1"/>
          <p:nvPr/>
        </p:nvSpPr>
        <p:spPr>
          <a:xfrm>
            <a:off x="6217920" y="3154680"/>
            <a:ext cx="5486400" cy="411480"/>
          </a:xfrm>
          <a:prstGeom prst="rect">
            <a:avLst/>
          </a:prstGeom>
          <a:noFill/>
          <a:ln/>
        </p:spPr>
        <p:txBody>
          <a:bodyPr wrap="square" lIns="0" tIns="0" rIns="0" bIns="0" rtlCol="0" anchor="t"/>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Qualitative explainability review</a:t>
            </a:r>
            <a:endParaRPr lang="en-US" sz="1300" dirty="0">
              <a:latin typeface="Times New Roman" panose="02020603050405020304" pitchFamily="18" charset="0"/>
              <a:cs typeface="Times New Roman" panose="02020603050405020304" pitchFamily="18" charset="0"/>
            </a:endParaRPr>
          </a:p>
        </p:txBody>
      </p:sp>
      <p:sp>
        <p:nvSpPr>
          <p:cNvPr id="18" name="Text 15"/>
          <p:cNvSpPr txBox="1"/>
          <p:nvPr/>
        </p:nvSpPr>
        <p:spPr>
          <a:xfrm>
            <a:off x="5943600" y="3794760"/>
            <a:ext cx="2743200" cy="274320"/>
          </a:xfrm>
          <a:prstGeom prst="rect">
            <a:avLst/>
          </a:prstGeom>
          <a:noFill/>
          <a:ln/>
        </p:spPr>
        <p:txBody>
          <a:bodyPr wrap="square" lIns="0" tIns="0" rIns="0" bIns="0" rtlCol="0" anchor="t"/>
          <a:lstStyle/>
          <a:p>
            <a:pPr marL="0" indent="0">
              <a:buNone/>
            </a:pPr>
            <a:r>
              <a:rPr lang="en-US" sz="1100" b="1" kern="0" spc="300" dirty="0">
                <a:solidFill>
                  <a:srgbClr val="F2784B"/>
                </a:solidFill>
                <a:latin typeface="Times New Roman" panose="02020603050405020304" pitchFamily="18" charset="0"/>
                <a:ea typeface="Calibri" pitchFamily="34" charset="-122"/>
                <a:cs typeface="Times New Roman" panose="02020603050405020304" pitchFamily="18" charset="0"/>
              </a:rPr>
              <a:t>LIMITATIONS</a:t>
            </a:r>
            <a:endParaRPr lang="en-US" sz="1100" dirty="0">
              <a:latin typeface="Times New Roman" panose="02020603050405020304" pitchFamily="18" charset="0"/>
              <a:cs typeface="Times New Roman" panose="02020603050405020304" pitchFamily="18" charset="0"/>
            </a:endParaRPr>
          </a:p>
        </p:txBody>
      </p:sp>
      <p:sp>
        <p:nvSpPr>
          <p:cNvPr id="19" name="Shape 16"/>
          <p:cNvSpPr/>
          <p:nvPr/>
        </p:nvSpPr>
        <p:spPr>
          <a:xfrm>
            <a:off x="5943600" y="4178808"/>
            <a:ext cx="118872" cy="118872"/>
          </a:xfrm>
          <a:prstGeom prst="ellipse">
            <a:avLst/>
          </a:prstGeom>
          <a:solidFill>
            <a:srgbClr val="F2784B"/>
          </a:solidFill>
          <a:ln w="12700">
            <a:solidFill>
              <a:srgbClr val="F2784B"/>
            </a:solidFill>
            <a:prstDash val="solid"/>
          </a:ln>
        </p:spPr>
      </p:sp>
      <p:sp>
        <p:nvSpPr>
          <p:cNvPr id="20" name="Text 17"/>
          <p:cNvSpPr txBox="1"/>
          <p:nvPr/>
        </p:nvSpPr>
        <p:spPr>
          <a:xfrm>
            <a:off x="6217920" y="4069080"/>
            <a:ext cx="5486400" cy="365760"/>
          </a:xfrm>
          <a:prstGeom prst="rect">
            <a:avLst/>
          </a:prstGeom>
          <a:noFill/>
          <a:ln/>
        </p:spPr>
        <p:txBody>
          <a:bodyPr wrap="square" lIns="0" tIns="0" rIns="0" bIns="0" rtlCol="0" anchor="t"/>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Single run, no statistical testing</a:t>
            </a:r>
            <a:endParaRPr lang="en-US" sz="1300" dirty="0">
              <a:latin typeface="Times New Roman" panose="02020603050405020304" pitchFamily="18" charset="0"/>
              <a:cs typeface="Times New Roman" panose="02020603050405020304" pitchFamily="18" charset="0"/>
            </a:endParaRPr>
          </a:p>
        </p:txBody>
      </p:sp>
      <p:sp>
        <p:nvSpPr>
          <p:cNvPr id="21" name="Shape 18"/>
          <p:cNvSpPr/>
          <p:nvPr/>
        </p:nvSpPr>
        <p:spPr>
          <a:xfrm>
            <a:off x="5943600" y="4562856"/>
            <a:ext cx="118872" cy="118872"/>
          </a:xfrm>
          <a:prstGeom prst="ellipse">
            <a:avLst/>
          </a:prstGeom>
          <a:solidFill>
            <a:srgbClr val="F2784B"/>
          </a:solidFill>
          <a:ln w="12700">
            <a:solidFill>
              <a:srgbClr val="F2784B"/>
            </a:solidFill>
            <a:prstDash val="solid"/>
          </a:ln>
        </p:spPr>
      </p:sp>
      <p:sp>
        <p:nvSpPr>
          <p:cNvPr id="22" name="Text 19"/>
          <p:cNvSpPr txBox="1"/>
          <p:nvPr/>
        </p:nvSpPr>
        <p:spPr>
          <a:xfrm>
            <a:off x="6217920" y="4453128"/>
            <a:ext cx="5486400" cy="365760"/>
          </a:xfrm>
          <a:prstGeom prst="rect">
            <a:avLst/>
          </a:prstGeom>
          <a:noFill/>
          <a:ln/>
        </p:spPr>
        <p:txBody>
          <a:bodyPr wrap="square" lIns="0" tIns="0" rIns="0" bIns="0" rtlCol="0" anchor="t"/>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No external-dataset validation</a:t>
            </a:r>
            <a:endParaRPr lang="en-US" sz="1300" dirty="0">
              <a:latin typeface="Times New Roman" panose="02020603050405020304" pitchFamily="18" charset="0"/>
              <a:cs typeface="Times New Roman" panose="02020603050405020304" pitchFamily="18" charset="0"/>
            </a:endParaRPr>
          </a:p>
        </p:txBody>
      </p:sp>
      <p:sp>
        <p:nvSpPr>
          <p:cNvPr id="23" name="Shape 20"/>
          <p:cNvSpPr/>
          <p:nvPr/>
        </p:nvSpPr>
        <p:spPr>
          <a:xfrm>
            <a:off x="5943600" y="4946904"/>
            <a:ext cx="118872" cy="118872"/>
          </a:xfrm>
          <a:prstGeom prst="ellipse">
            <a:avLst/>
          </a:prstGeom>
          <a:solidFill>
            <a:srgbClr val="F2784B"/>
          </a:solidFill>
          <a:ln w="12700">
            <a:solidFill>
              <a:srgbClr val="F2784B"/>
            </a:solidFill>
            <a:prstDash val="solid"/>
          </a:ln>
        </p:spPr>
      </p:sp>
      <p:sp>
        <p:nvSpPr>
          <p:cNvPr id="24" name="Text 21"/>
          <p:cNvSpPr txBox="1"/>
          <p:nvPr/>
        </p:nvSpPr>
        <p:spPr>
          <a:xfrm>
            <a:off x="6217920" y="4837176"/>
            <a:ext cx="5486400" cy="365760"/>
          </a:xfrm>
          <a:prstGeom prst="rect">
            <a:avLst/>
          </a:prstGeom>
          <a:noFill/>
          <a:ln/>
        </p:spPr>
        <p:txBody>
          <a:bodyPr wrap="square" lIns="0" tIns="0" rIns="0" bIns="0" rtlCol="0" anchor="t"/>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No clinician evaluation</a:t>
            </a:r>
            <a:endParaRPr lang="en-US" sz="1300" dirty="0">
              <a:latin typeface="Times New Roman" panose="02020603050405020304" pitchFamily="18" charset="0"/>
              <a:cs typeface="Times New Roman" panose="02020603050405020304" pitchFamily="18" charset="0"/>
            </a:endParaRPr>
          </a:p>
        </p:txBody>
      </p:sp>
      <p:sp>
        <p:nvSpPr>
          <p:cNvPr id="25" name="Text 22"/>
          <p:cNvSpPr txBox="1"/>
          <p:nvPr/>
        </p:nvSpPr>
        <p:spPr>
          <a:xfrm>
            <a:off x="5943600" y="5303520"/>
            <a:ext cx="4572000" cy="274320"/>
          </a:xfrm>
          <a:prstGeom prst="rect">
            <a:avLst/>
          </a:prstGeom>
          <a:noFill/>
          <a:ln/>
        </p:spPr>
        <p:txBody>
          <a:bodyPr wrap="square" lIns="0" tIns="0" rIns="0" bIns="0" rtlCol="0" anchor="t"/>
          <a:lstStyle/>
          <a:p>
            <a:pPr marL="0" indent="0">
              <a:buNone/>
            </a:pPr>
            <a:r>
              <a:rPr lang="en-US" sz="1100" b="1" kern="0" spc="300" dirty="0">
                <a:solidFill>
                  <a:srgbClr val="8B7CF6"/>
                </a:solidFill>
                <a:latin typeface="Times New Roman" panose="02020603050405020304" pitchFamily="18" charset="0"/>
                <a:ea typeface="Calibri" pitchFamily="34" charset="-122"/>
                <a:cs typeface="Times New Roman" panose="02020603050405020304" pitchFamily="18" charset="0"/>
              </a:rPr>
              <a:t>RECOMMENDED (not yet done)</a:t>
            </a:r>
            <a:endParaRPr lang="en-US" sz="1100" dirty="0">
              <a:latin typeface="Times New Roman" panose="02020603050405020304" pitchFamily="18" charset="0"/>
              <a:cs typeface="Times New Roman" panose="02020603050405020304" pitchFamily="18" charset="0"/>
            </a:endParaRPr>
          </a:p>
        </p:txBody>
      </p:sp>
      <p:sp>
        <p:nvSpPr>
          <p:cNvPr id="26" name="Text 23"/>
          <p:cNvSpPr txBox="1"/>
          <p:nvPr/>
        </p:nvSpPr>
        <p:spPr>
          <a:xfrm>
            <a:off x="5943600" y="5577840"/>
            <a:ext cx="5669280" cy="365760"/>
          </a:xfrm>
          <a:prstGeom prst="rect">
            <a:avLst/>
          </a:prstGeom>
          <a:noFill/>
          <a:ln/>
        </p:spPr>
        <p:txBody>
          <a:bodyPr wrap="square" lIns="0" tIns="0" rIns="0" bIns="0" rtlCol="0" anchor="t"/>
          <a:lstStyle/>
          <a:p>
            <a:pPr marL="0" indent="0">
              <a:buNone/>
            </a:pPr>
            <a:r>
              <a:rPr lang="en-US" sz="1300" dirty="0">
                <a:solidFill>
                  <a:srgbClr val="0B132B"/>
                </a:solidFill>
                <a:latin typeface="Times New Roman" panose="02020603050405020304" pitchFamily="18" charset="0"/>
                <a:ea typeface="Calibri" pitchFamily="34" charset="-122"/>
                <a:cs typeface="Times New Roman" panose="02020603050405020304" pitchFamily="18" charset="0"/>
              </a:rPr>
              <a:t>External validation, calibration, clinician review</a:t>
            </a:r>
            <a:endParaRPr lang="en-US" sz="1300" dirty="0">
              <a:latin typeface="Times New Roman" panose="02020603050405020304" pitchFamily="18" charset="0"/>
              <a:cs typeface="Times New Roman" panose="02020603050405020304" pitchFamily="18" charset="0"/>
            </a:endParaRPr>
          </a:p>
        </p:txBody>
      </p:sp>
      <p:sp>
        <p:nvSpPr>
          <p:cNvPr id="27" name="Text 24"/>
          <p:cNvSpPr txBox="1"/>
          <p:nvPr/>
        </p:nvSpPr>
        <p:spPr>
          <a:xfrm>
            <a:off x="10881360" y="6446520"/>
            <a:ext cx="822960" cy="274320"/>
          </a:xfrm>
          <a:prstGeom prst="rect">
            <a:avLst/>
          </a:prstGeom>
          <a:noFill/>
          <a:ln/>
        </p:spPr>
        <p:txBody>
          <a:bodyPr wrap="square" lIns="0" tIns="0" rIns="0" bIns="0" rtlCol="0" anchor="t"/>
          <a:lstStyle/>
          <a:p>
            <a:pPr marL="0" indent="0" algn="r">
              <a:buNone/>
            </a:pPr>
            <a:r>
              <a:rPr lang="en-US" sz="1000" dirty="0">
                <a:solidFill>
                  <a:srgbClr val="5B6B82"/>
                </a:solidFill>
                <a:latin typeface="Times New Roman" panose="02020603050405020304" pitchFamily="18" charset="0"/>
                <a:ea typeface="Calibri" pitchFamily="34" charset="-122"/>
                <a:cs typeface="Times New Roman" panose="02020603050405020304" pitchFamily="18" charset="0"/>
              </a:rPr>
              <a:t>11 / 13</a:t>
            </a:r>
            <a:endParaRPr lang="en-US" sz="1000" dirty="0">
              <a:latin typeface="Times New Roman" panose="02020603050405020304" pitchFamily="18" charset="0"/>
              <a:cs typeface="Times New Roman" panose="02020603050405020304" pitchFamily="18" charset="0"/>
            </a:endParaRPr>
          </a:p>
        </p:txBody>
      </p:sp>
      <p:sp>
        <p:nvSpPr>
          <p:cNvPr id="28" name="Shape 25"/>
          <p:cNvSpPr/>
          <p:nvPr/>
        </p:nvSpPr>
        <p:spPr>
          <a:xfrm>
            <a:off x="548640" y="6400800"/>
            <a:ext cx="11064240" cy="9144"/>
          </a:xfrm>
          <a:prstGeom prst="rect">
            <a:avLst/>
          </a:prstGeom>
          <a:solidFill>
            <a:srgbClr val="C9D3DF"/>
          </a:solidFill>
          <a:ln w="12700">
            <a:solidFill>
              <a:srgbClr val="C9D3DF"/>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32B"/>
        </a:solidFill>
        <a:effectLst/>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1C3D6E">
              <a:alpha val="30000"/>
            </a:srgbClr>
          </a:solidFill>
          <a:ln w="12700">
            <a:solidFill>
              <a:srgbClr val="1C3D6E"/>
            </a:solidFill>
            <a:prstDash val="solid"/>
          </a:ln>
        </p:spPr>
      </p:sp>
      <p:sp>
        <p:nvSpPr>
          <p:cNvPr id="3" name="Shape 1"/>
          <p:cNvSpPr/>
          <p:nvPr/>
        </p:nvSpPr>
        <p:spPr>
          <a:xfrm>
            <a:off x="548640" y="475488"/>
            <a:ext cx="128016" cy="128016"/>
          </a:xfrm>
          <a:prstGeom prst="ellipse">
            <a:avLst/>
          </a:prstGeom>
          <a:solidFill>
            <a:srgbClr val="25C4B7"/>
          </a:solidFill>
          <a:ln w="12700">
            <a:solidFill>
              <a:srgbClr val="25C4B7"/>
            </a:solidFill>
            <a:prstDash val="solid"/>
          </a:ln>
        </p:spPr>
      </p:sp>
      <p:sp>
        <p:nvSpPr>
          <p:cNvPr id="4" name="Text 2"/>
          <p:cNvSpPr txBox="1"/>
          <p:nvPr/>
        </p:nvSpPr>
        <p:spPr>
          <a:xfrm>
            <a:off x="777240" y="365760"/>
            <a:ext cx="10881360" cy="566928"/>
          </a:xfrm>
          <a:prstGeom prst="rect">
            <a:avLst/>
          </a:prstGeom>
          <a:noFill/>
          <a:ln/>
        </p:spPr>
        <p:txBody>
          <a:bodyPr wrap="square" lIns="0" tIns="0" rIns="0" bIns="0" rtlCol="0" anchor="t"/>
          <a:lstStyle/>
          <a:p>
            <a:pPr marL="0" indent="0">
              <a:buNone/>
            </a:pPr>
            <a:r>
              <a:rPr lang="en-US" sz="3000" b="1" dirty="0">
                <a:solidFill>
                  <a:srgbClr val="FFFFFF"/>
                </a:solidFill>
                <a:latin typeface="Times New Roman" panose="02020603050405020304" pitchFamily="18" charset="0"/>
                <a:ea typeface="Calibri" pitchFamily="34" charset="-122"/>
                <a:cs typeface="Times New Roman" panose="02020603050405020304" pitchFamily="18" charset="0"/>
              </a:rPr>
              <a:t>Conclusion</a:t>
            </a:r>
            <a:endParaRPr lang="en-US" sz="3000" dirty="0">
              <a:latin typeface="Times New Roman" panose="02020603050405020304" pitchFamily="18" charset="0"/>
              <a:cs typeface="Times New Roman" panose="02020603050405020304" pitchFamily="18" charset="0"/>
            </a:endParaRPr>
          </a:p>
        </p:txBody>
      </p:sp>
      <p:sp>
        <p:nvSpPr>
          <p:cNvPr id="5" name="Text 3"/>
          <p:cNvSpPr txBox="1"/>
          <p:nvPr/>
        </p:nvSpPr>
        <p:spPr>
          <a:xfrm>
            <a:off x="731520" y="1234440"/>
            <a:ext cx="2194560" cy="640080"/>
          </a:xfrm>
          <a:prstGeom prst="rect">
            <a:avLst/>
          </a:prstGeom>
          <a:noFill/>
          <a:ln/>
        </p:spPr>
        <p:txBody>
          <a:bodyPr wrap="square" lIns="0" tIns="0" rIns="0" bIns="0" rtlCol="0" anchor="ctr"/>
          <a:lstStyle/>
          <a:p>
            <a:pPr marL="0" indent="0">
              <a:buNone/>
            </a:pPr>
            <a:r>
              <a:rPr lang="en-US" sz="1600" b="1" dirty="0">
                <a:solidFill>
                  <a:srgbClr val="25C4B7"/>
                </a:solidFill>
                <a:latin typeface="Times New Roman" panose="02020603050405020304" pitchFamily="18" charset="0"/>
                <a:ea typeface="Calibri" pitchFamily="34" charset="-122"/>
                <a:cs typeface="Times New Roman" panose="02020603050405020304" pitchFamily="18" charset="0"/>
              </a:rPr>
              <a:t>Investigated</a:t>
            </a:r>
            <a:endParaRPr lang="en-US" sz="1600" dirty="0">
              <a:latin typeface="Times New Roman" panose="02020603050405020304" pitchFamily="18" charset="0"/>
              <a:cs typeface="Times New Roman" panose="02020603050405020304" pitchFamily="18" charset="0"/>
            </a:endParaRPr>
          </a:p>
        </p:txBody>
      </p:sp>
      <p:sp>
        <p:nvSpPr>
          <p:cNvPr id="6" name="Text 4"/>
          <p:cNvSpPr txBox="1"/>
          <p:nvPr/>
        </p:nvSpPr>
        <p:spPr>
          <a:xfrm>
            <a:off x="3017520" y="1234440"/>
            <a:ext cx="8412480" cy="640080"/>
          </a:xfrm>
          <a:prstGeom prst="rect">
            <a:avLst/>
          </a:prstGeom>
          <a:noFill/>
          <a:ln/>
        </p:spPr>
        <p:txBody>
          <a:bodyPr wrap="square" lIns="0" tIns="0" rIns="0" bIns="0" rtlCol="0" anchor="ctr"/>
          <a:lstStyle/>
          <a:p>
            <a:pPr marL="0" indent="0">
              <a:buNone/>
            </a:pPr>
            <a:r>
              <a:rPr lang="en-US" sz="1500" dirty="0">
                <a:solidFill>
                  <a:srgbClr val="FFFFFF"/>
                </a:solidFill>
                <a:latin typeface="Times New Roman" panose="02020603050405020304" pitchFamily="18" charset="0"/>
                <a:ea typeface="Calibri" pitchFamily="34" charset="-122"/>
                <a:cs typeface="Times New Roman" panose="02020603050405020304" pitchFamily="18" charset="0"/>
              </a:rPr>
              <a:t>Five architectures for five-class chest-radiograph classification</a:t>
            </a:r>
            <a:endParaRPr lang="en-US" sz="1500" dirty="0">
              <a:latin typeface="Times New Roman" panose="02020603050405020304" pitchFamily="18" charset="0"/>
              <a:cs typeface="Times New Roman" panose="02020603050405020304" pitchFamily="18" charset="0"/>
            </a:endParaRPr>
          </a:p>
        </p:txBody>
      </p:sp>
      <p:sp>
        <p:nvSpPr>
          <p:cNvPr id="7" name="Shape 5"/>
          <p:cNvSpPr/>
          <p:nvPr/>
        </p:nvSpPr>
        <p:spPr>
          <a:xfrm>
            <a:off x="731520" y="1965960"/>
            <a:ext cx="10698480" cy="0"/>
          </a:xfrm>
          <a:prstGeom prst="line">
            <a:avLst/>
          </a:prstGeom>
          <a:noFill/>
          <a:ln w="9525">
            <a:solidFill>
              <a:srgbClr val="1C3D6E"/>
            </a:solidFill>
            <a:prstDash val="solid"/>
          </a:ln>
        </p:spPr>
      </p:sp>
      <p:sp>
        <p:nvSpPr>
          <p:cNvPr id="8" name="Text 6"/>
          <p:cNvSpPr txBox="1"/>
          <p:nvPr/>
        </p:nvSpPr>
        <p:spPr>
          <a:xfrm>
            <a:off x="731520" y="2039112"/>
            <a:ext cx="2194560" cy="640080"/>
          </a:xfrm>
          <a:prstGeom prst="rect">
            <a:avLst/>
          </a:prstGeom>
          <a:noFill/>
          <a:ln/>
        </p:spPr>
        <p:txBody>
          <a:bodyPr wrap="square" lIns="0" tIns="0" rIns="0" bIns="0" rtlCol="0" anchor="ctr"/>
          <a:lstStyle/>
          <a:p>
            <a:pPr marL="0" indent="0">
              <a:buNone/>
            </a:pPr>
            <a:r>
              <a:rPr lang="en-US" sz="1600" b="1" dirty="0">
                <a:solidFill>
                  <a:srgbClr val="25C4B7"/>
                </a:solidFill>
                <a:latin typeface="Times New Roman" panose="02020603050405020304" pitchFamily="18" charset="0"/>
                <a:ea typeface="Calibri" pitchFamily="34" charset="-122"/>
                <a:cs typeface="Times New Roman" panose="02020603050405020304" pitchFamily="18" charset="0"/>
              </a:rPr>
              <a:t>Findings</a:t>
            </a:r>
            <a:endParaRPr lang="en-US" sz="1600" dirty="0">
              <a:latin typeface="Times New Roman" panose="02020603050405020304" pitchFamily="18" charset="0"/>
              <a:cs typeface="Times New Roman" panose="02020603050405020304" pitchFamily="18" charset="0"/>
            </a:endParaRPr>
          </a:p>
        </p:txBody>
      </p:sp>
      <p:sp>
        <p:nvSpPr>
          <p:cNvPr id="9" name="Text 7"/>
          <p:cNvSpPr txBox="1"/>
          <p:nvPr/>
        </p:nvSpPr>
        <p:spPr>
          <a:xfrm>
            <a:off x="3017520" y="2039112"/>
            <a:ext cx="8412480" cy="640080"/>
          </a:xfrm>
          <a:prstGeom prst="rect">
            <a:avLst/>
          </a:prstGeom>
          <a:noFill/>
          <a:ln/>
        </p:spPr>
        <p:txBody>
          <a:bodyPr wrap="square" lIns="0" tIns="0" rIns="0" bIns="0" rtlCol="0" anchor="ctr"/>
          <a:lstStyle/>
          <a:p>
            <a:pPr marL="0" indent="0">
              <a:buNone/>
            </a:pPr>
            <a:r>
              <a:rPr lang="en-US" sz="1500" dirty="0">
                <a:solidFill>
                  <a:srgbClr val="FFFFFF"/>
                </a:solidFill>
                <a:latin typeface="Times New Roman" panose="02020603050405020304" pitchFamily="18" charset="0"/>
                <a:ea typeface="Calibri" pitchFamily="34" charset="-122"/>
                <a:cs typeface="Times New Roman" panose="02020603050405020304" pitchFamily="18" charset="0"/>
              </a:rPr>
              <a:t>VGG19 best (F1 0.945); ResNet50 0.937; Custom CNN 0.925 with 2.54 M params; ViT 0.786</a:t>
            </a:r>
            <a:endParaRPr lang="en-US" sz="1500" dirty="0">
              <a:latin typeface="Times New Roman" panose="02020603050405020304" pitchFamily="18" charset="0"/>
              <a:cs typeface="Times New Roman" panose="02020603050405020304" pitchFamily="18" charset="0"/>
            </a:endParaRPr>
          </a:p>
        </p:txBody>
      </p:sp>
      <p:sp>
        <p:nvSpPr>
          <p:cNvPr id="10" name="Shape 8"/>
          <p:cNvSpPr/>
          <p:nvPr/>
        </p:nvSpPr>
        <p:spPr>
          <a:xfrm>
            <a:off x="731520" y="2770632"/>
            <a:ext cx="10698480" cy="0"/>
          </a:xfrm>
          <a:prstGeom prst="line">
            <a:avLst/>
          </a:prstGeom>
          <a:noFill/>
          <a:ln w="9525">
            <a:solidFill>
              <a:srgbClr val="1C3D6E"/>
            </a:solidFill>
            <a:prstDash val="solid"/>
          </a:ln>
        </p:spPr>
      </p:sp>
      <p:sp>
        <p:nvSpPr>
          <p:cNvPr id="11" name="Text 9"/>
          <p:cNvSpPr txBox="1"/>
          <p:nvPr/>
        </p:nvSpPr>
        <p:spPr>
          <a:xfrm>
            <a:off x="731520" y="2843784"/>
            <a:ext cx="2194560" cy="640080"/>
          </a:xfrm>
          <a:prstGeom prst="rect">
            <a:avLst/>
          </a:prstGeom>
          <a:noFill/>
          <a:ln/>
        </p:spPr>
        <p:txBody>
          <a:bodyPr wrap="square" lIns="0" tIns="0" rIns="0" bIns="0" rtlCol="0" anchor="ctr"/>
          <a:lstStyle/>
          <a:p>
            <a:pPr marL="0" indent="0">
              <a:buNone/>
            </a:pPr>
            <a:r>
              <a:rPr lang="en-US" sz="1600" b="1" dirty="0">
                <a:solidFill>
                  <a:srgbClr val="8B7CF6"/>
                </a:solidFill>
                <a:latin typeface="Times New Roman" panose="02020603050405020304" pitchFamily="18" charset="0"/>
                <a:ea typeface="Calibri" pitchFamily="34" charset="-122"/>
                <a:cs typeface="Times New Roman" panose="02020603050405020304" pitchFamily="18" charset="0"/>
              </a:rPr>
              <a:t>Contribution</a:t>
            </a:r>
            <a:endParaRPr lang="en-US" sz="1600" dirty="0">
              <a:latin typeface="Times New Roman" panose="02020603050405020304" pitchFamily="18" charset="0"/>
              <a:cs typeface="Times New Roman" panose="02020603050405020304" pitchFamily="18" charset="0"/>
            </a:endParaRPr>
          </a:p>
        </p:txBody>
      </p:sp>
      <p:sp>
        <p:nvSpPr>
          <p:cNvPr id="12" name="Text 10"/>
          <p:cNvSpPr txBox="1"/>
          <p:nvPr/>
        </p:nvSpPr>
        <p:spPr>
          <a:xfrm>
            <a:off x="3017520" y="2843784"/>
            <a:ext cx="8412480" cy="640080"/>
          </a:xfrm>
          <a:prstGeom prst="rect">
            <a:avLst/>
          </a:prstGeom>
          <a:noFill/>
          <a:ln/>
        </p:spPr>
        <p:txBody>
          <a:bodyPr wrap="square" lIns="0" tIns="0" rIns="0" bIns="0" rtlCol="0" anchor="ctr"/>
          <a:lstStyle/>
          <a:p>
            <a:pPr marL="0" indent="0">
              <a:buNone/>
            </a:pPr>
            <a:r>
              <a:rPr lang="en-US" sz="1500" dirty="0">
                <a:solidFill>
                  <a:srgbClr val="FFFFFF"/>
                </a:solidFill>
                <a:latin typeface="Times New Roman" panose="02020603050405020304" pitchFamily="18" charset="0"/>
                <a:ea typeface="Calibri" pitchFamily="34" charset="-122"/>
                <a:cs typeface="Times New Roman" panose="02020603050405020304" pitchFamily="18" charset="0"/>
              </a:rPr>
              <a:t>Documented preprocessing, imbalance-aware training, transparent reporting of discrepancies</a:t>
            </a:r>
            <a:endParaRPr lang="en-US" sz="1500" dirty="0">
              <a:latin typeface="Times New Roman" panose="02020603050405020304" pitchFamily="18" charset="0"/>
              <a:cs typeface="Times New Roman" panose="02020603050405020304" pitchFamily="18" charset="0"/>
            </a:endParaRPr>
          </a:p>
        </p:txBody>
      </p:sp>
      <p:sp>
        <p:nvSpPr>
          <p:cNvPr id="13" name="Shape 11"/>
          <p:cNvSpPr/>
          <p:nvPr/>
        </p:nvSpPr>
        <p:spPr>
          <a:xfrm>
            <a:off x="731520" y="3575304"/>
            <a:ext cx="10698480" cy="0"/>
          </a:xfrm>
          <a:prstGeom prst="line">
            <a:avLst/>
          </a:prstGeom>
          <a:noFill/>
          <a:ln w="9525">
            <a:solidFill>
              <a:srgbClr val="1C3D6E"/>
            </a:solidFill>
            <a:prstDash val="solid"/>
          </a:ln>
        </p:spPr>
      </p:sp>
      <p:sp>
        <p:nvSpPr>
          <p:cNvPr id="14" name="Text 12"/>
          <p:cNvSpPr txBox="1"/>
          <p:nvPr/>
        </p:nvSpPr>
        <p:spPr>
          <a:xfrm>
            <a:off x="731520" y="3648456"/>
            <a:ext cx="2194560" cy="640080"/>
          </a:xfrm>
          <a:prstGeom prst="rect">
            <a:avLst/>
          </a:prstGeom>
          <a:noFill/>
          <a:ln/>
        </p:spPr>
        <p:txBody>
          <a:bodyPr wrap="square" lIns="0" tIns="0" rIns="0" bIns="0" rtlCol="0" anchor="ctr"/>
          <a:lstStyle/>
          <a:p>
            <a:pPr marL="0" indent="0">
              <a:buNone/>
            </a:pPr>
            <a:r>
              <a:rPr lang="en-US" sz="1600" b="1" dirty="0">
                <a:solidFill>
                  <a:srgbClr val="F2784B"/>
                </a:solidFill>
                <a:latin typeface="Times New Roman" panose="02020603050405020304" pitchFamily="18" charset="0"/>
                <a:ea typeface="Calibri" pitchFamily="34" charset="-122"/>
                <a:cs typeface="Times New Roman" panose="02020603050405020304" pitchFamily="18" charset="0"/>
              </a:rPr>
              <a:t>Limitations</a:t>
            </a:r>
            <a:endParaRPr lang="en-US" sz="1600" dirty="0">
              <a:latin typeface="Times New Roman" panose="02020603050405020304" pitchFamily="18" charset="0"/>
              <a:cs typeface="Times New Roman" panose="02020603050405020304" pitchFamily="18" charset="0"/>
            </a:endParaRPr>
          </a:p>
        </p:txBody>
      </p:sp>
      <p:sp>
        <p:nvSpPr>
          <p:cNvPr id="15" name="Text 13"/>
          <p:cNvSpPr txBox="1"/>
          <p:nvPr/>
        </p:nvSpPr>
        <p:spPr>
          <a:xfrm>
            <a:off x="3017520" y="3648456"/>
            <a:ext cx="8412480" cy="640080"/>
          </a:xfrm>
          <a:prstGeom prst="rect">
            <a:avLst/>
          </a:prstGeom>
          <a:noFill/>
          <a:ln/>
        </p:spPr>
        <p:txBody>
          <a:bodyPr wrap="square" lIns="0" tIns="0" rIns="0" bIns="0" rtlCol="0" anchor="ctr"/>
          <a:lstStyle/>
          <a:p>
            <a:pPr marL="0" indent="0">
              <a:buNone/>
            </a:pPr>
            <a:r>
              <a:rPr lang="en-US" sz="1500" dirty="0">
                <a:solidFill>
                  <a:srgbClr val="FFFFFF"/>
                </a:solidFill>
                <a:latin typeface="Times New Roman" panose="02020603050405020304" pitchFamily="18" charset="0"/>
                <a:ea typeface="Calibri" pitchFamily="34" charset="-122"/>
                <a:cs typeface="Times New Roman" panose="02020603050405020304" pitchFamily="18" charset="0"/>
              </a:rPr>
              <a:t>Single run, heterogeneous data, no external or clinical validation</a:t>
            </a:r>
            <a:endParaRPr lang="en-US" sz="1500" dirty="0">
              <a:latin typeface="Times New Roman" panose="02020603050405020304" pitchFamily="18" charset="0"/>
              <a:cs typeface="Times New Roman" panose="02020603050405020304" pitchFamily="18" charset="0"/>
            </a:endParaRPr>
          </a:p>
        </p:txBody>
      </p:sp>
      <p:sp>
        <p:nvSpPr>
          <p:cNvPr id="16" name="Shape 14"/>
          <p:cNvSpPr/>
          <p:nvPr/>
        </p:nvSpPr>
        <p:spPr>
          <a:xfrm>
            <a:off x="731520" y="4379976"/>
            <a:ext cx="10698480" cy="0"/>
          </a:xfrm>
          <a:prstGeom prst="line">
            <a:avLst/>
          </a:prstGeom>
          <a:noFill/>
          <a:ln w="9525">
            <a:solidFill>
              <a:srgbClr val="1C3D6E"/>
            </a:solidFill>
            <a:prstDash val="solid"/>
          </a:ln>
        </p:spPr>
      </p:sp>
      <p:sp>
        <p:nvSpPr>
          <p:cNvPr id="17" name="Text 15"/>
          <p:cNvSpPr txBox="1"/>
          <p:nvPr/>
        </p:nvSpPr>
        <p:spPr>
          <a:xfrm>
            <a:off x="731520" y="4453128"/>
            <a:ext cx="2194560" cy="640080"/>
          </a:xfrm>
          <a:prstGeom prst="rect">
            <a:avLst/>
          </a:prstGeom>
          <a:noFill/>
          <a:ln/>
        </p:spPr>
        <p:txBody>
          <a:bodyPr wrap="square" lIns="0" tIns="0" rIns="0" bIns="0" rtlCol="0" anchor="ctr"/>
          <a:lstStyle/>
          <a:p>
            <a:pPr marL="0" indent="0">
              <a:buNone/>
            </a:pPr>
            <a:r>
              <a:rPr lang="en-US" sz="1600" b="1" dirty="0">
                <a:solidFill>
                  <a:srgbClr val="8B7CF6"/>
                </a:solidFill>
                <a:latin typeface="Times New Roman" panose="02020603050405020304" pitchFamily="18" charset="0"/>
                <a:ea typeface="Calibri" pitchFamily="34" charset="-122"/>
                <a:cs typeface="Times New Roman" panose="02020603050405020304" pitchFamily="18" charset="0"/>
              </a:rPr>
              <a:t>Future scope</a:t>
            </a:r>
            <a:endParaRPr lang="en-US" sz="1600" dirty="0">
              <a:latin typeface="Times New Roman" panose="02020603050405020304" pitchFamily="18" charset="0"/>
              <a:cs typeface="Times New Roman" panose="02020603050405020304" pitchFamily="18" charset="0"/>
            </a:endParaRPr>
          </a:p>
        </p:txBody>
      </p:sp>
      <p:sp>
        <p:nvSpPr>
          <p:cNvPr id="18" name="Text 16"/>
          <p:cNvSpPr txBox="1"/>
          <p:nvPr/>
        </p:nvSpPr>
        <p:spPr>
          <a:xfrm>
            <a:off x="3017520" y="4453128"/>
            <a:ext cx="8412480" cy="640080"/>
          </a:xfrm>
          <a:prstGeom prst="rect">
            <a:avLst/>
          </a:prstGeom>
          <a:noFill/>
          <a:ln/>
        </p:spPr>
        <p:txBody>
          <a:bodyPr wrap="square" lIns="0" tIns="0" rIns="0" bIns="0" rtlCol="0" anchor="ctr"/>
          <a:lstStyle/>
          <a:p>
            <a:pPr marL="0" indent="0">
              <a:buNone/>
            </a:pPr>
            <a:r>
              <a:rPr lang="en-US" sz="1500" dirty="0">
                <a:solidFill>
                  <a:srgbClr val="FFFFFF"/>
                </a:solidFill>
                <a:latin typeface="Times New Roman" panose="02020603050405020304" pitchFamily="18" charset="0"/>
                <a:ea typeface="Calibri" pitchFamily="34" charset="-122"/>
                <a:cs typeface="Times New Roman" panose="02020603050405020304" pitchFamily="18" charset="0"/>
              </a:rPr>
              <a:t>Multi-site data, external validation, calibration, hybrid CNN–ViT, clinician evaluation</a:t>
            </a:r>
            <a:endParaRPr lang="en-US" sz="1500" dirty="0">
              <a:latin typeface="Times New Roman" panose="02020603050405020304" pitchFamily="18" charset="0"/>
              <a:cs typeface="Times New Roman" panose="02020603050405020304" pitchFamily="18" charset="0"/>
            </a:endParaRPr>
          </a:p>
        </p:txBody>
      </p:sp>
      <p:sp>
        <p:nvSpPr>
          <p:cNvPr id="19" name="Shape 17"/>
          <p:cNvSpPr/>
          <p:nvPr/>
        </p:nvSpPr>
        <p:spPr>
          <a:xfrm>
            <a:off x="731520" y="5184648"/>
            <a:ext cx="10698480" cy="0"/>
          </a:xfrm>
          <a:prstGeom prst="line">
            <a:avLst/>
          </a:prstGeom>
          <a:noFill/>
          <a:ln w="9525">
            <a:solidFill>
              <a:srgbClr val="1C3D6E"/>
            </a:solidFill>
            <a:prstDash val="solid"/>
          </a:ln>
        </p:spPr>
      </p:sp>
      <p:sp>
        <p:nvSpPr>
          <p:cNvPr id="20" name="Text 18"/>
          <p:cNvSpPr txBox="1"/>
          <p:nvPr/>
        </p:nvSpPr>
        <p:spPr>
          <a:xfrm>
            <a:off x="731520" y="5394960"/>
            <a:ext cx="10698480" cy="822960"/>
          </a:xfrm>
          <a:prstGeom prst="rect">
            <a:avLst/>
          </a:prstGeom>
          <a:noFill/>
          <a:ln/>
        </p:spPr>
        <p:txBody>
          <a:bodyPr wrap="square" lIns="0" tIns="0" rIns="0" bIns="0" rtlCol="0" anchor="t"/>
          <a:lstStyle/>
          <a:p>
            <a:pPr marL="0" indent="0">
              <a:buNone/>
            </a:pPr>
            <a:r>
              <a:rPr lang="en-US" sz="1700" b="1" dirty="0">
                <a:solidFill>
                  <a:srgbClr val="25C4B7"/>
                </a:solidFill>
                <a:latin typeface="Times New Roman" panose="02020603050405020304" pitchFamily="18" charset="0"/>
                <a:ea typeface="Calibri" pitchFamily="34" charset="-122"/>
                <a:cs typeface="Times New Roman" panose="02020603050405020304" pitchFamily="18" charset="0"/>
              </a:rPr>
              <a:t>This is a chest-image classification study, not a clinically validated diagnostic system. Reliable medical AI requires more than high accuracy.</a:t>
            </a:r>
            <a:endParaRPr lang="en-US" sz="1700" dirty="0">
              <a:latin typeface="Times New Roman" panose="02020603050405020304" pitchFamily="18" charset="0"/>
              <a:cs typeface="Times New Roman" panose="02020603050405020304" pitchFamily="18" charset="0"/>
            </a:endParaRPr>
          </a:p>
        </p:txBody>
      </p:sp>
      <p:sp>
        <p:nvSpPr>
          <p:cNvPr id="21" name="Text 19"/>
          <p:cNvSpPr txBox="1"/>
          <p:nvPr/>
        </p:nvSpPr>
        <p:spPr>
          <a:xfrm>
            <a:off x="10881360" y="6446520"/>
            <a:ext cx="822960" cy="274320"/>
          </a:xfrm>
          <a:prstGeom prst="rect">
            <a:avLst/>
          </a:prstGeom>
          <a:noFill/>
          <a:ln/>
        </p:spPr>
        <p:txBody>
          <a:bodyPr wrap="square" lIns="0" tIns="0" rIns="0" bIns="0" rtlCol="0" anchor="t"/>
          <a:lstStyle/>
          <a:p>
            <a:pPr marL="0" indent="0" algn="r">
              <a:buNone/>
            </a:pPr>
            <a:r>
              <a:rPr lang="en-US" sz="1000" dirty="0">
                <a:solidFill>
                  <a:srgbClr val="25C4B7"/>
                </a:solidFill>
                <a:latin typeface="Times New Roman" panose="02020603050405020304" pitchFamily="18" charset="0"/>
                <a:ea typeface="Calibri" pitchFamily="34" charset="-122"/>
                <a:cs typeface="Times New Roman" panose="02020603050405020304" pitchFamily="18" charset="0"/>
              </a:rPr>
              <a:t>12 / 13</a:t>
            </a:r>
            <a:endParaRPr lang="en-US" sz="1000" dirty="0">
              <a:latin typeface="Times New Roman" panose="02020603050405020304" pitchFamily="18" charset="0"/>
              <a:cs typeface="Times New Roman" panose="02020603050405020304" pitchFamily="18" charset="0"/>
            </a:endParaRPr>
          </a:p>
        </p:txBody>
      </p:sp>
      <p:sp>
        <p:nvSpPr>
          <p:cNvPr id="22" name="Shape 20"/>
          <p:cNvSpPr/>
          <p:nvPr/>
        </p:nvSpPr>
        <p:spPr>
          <a:xfrm>
            <a:off x="548640" y="6400800"/>
            <a:ext cx="11064240" cy="9144"/>
          </a:xfrm>
          <a:prstGeom prst="rect">
            <a:avLst/>
          </a:prstGeom>
          <a:solidFill>
            <a:srgbClr val="1C3D6E"/>
          </a:solidFill>
          <a:ln w="12700">
            <a:solidFill>
              <a:srgbClr val="1C3D6E"/>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4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25C4B7"/>
          </a:solidFill>
          <a:ln w="12700">
            <a:solidFill>
              <a:srgbClr val="25C4B7"/>
            </a:solidFill>
            <a:prstDash val="solid"/>
          </a:ln>
        </p:spPr>
      </p:sp>
      <p:sp>
        <p:nvSpPr>
          <p:cNvPr id="6" name="Shape 4"/>
          <p:cNvSpPr/>
          <p:nvPr/>
        </p:nvSpPr>
        <p:spPr>
          <a:xfrm>
            <a:off x="3048" y="2798064"/>
            <a:ext cx="12188952" cy="914400"/>
          </a:xfrm>
          <a:prstGeom prst="rect">
            <a:avLst/>
          </a:prstGeom>
          <a:solidFill>
            <a:srgbClr val="0B132B"/>
          </a:solidFill>
          <a:ln w="12700">
            <a:solidFill>
              <a:srgbClr val="0B132B"/>
            </a:solidFill>
            <a:prstDash val="solid"/>
          </a:ln>
        </p:spPr>
        <p:txBody>
          <a:bodyPr/>
          <a:lstStyle/>
          <a:p>
            <a:endParaRPr lang="en-IN" dirty="0"/>
          </a:p>
        </p:txBody>
      </p:sp>
      <p:sp>
        <p:nvSpPr>
          <p:cNvPr id="7" name="Text 5"/>
          <p:cNvSpPr txBox="1"/>
          <p:nvPr/>
        </p:nvSpPr>
        <p:spPr>
          <a:xfrm>
            <a:off x="4564194" y="2798064"/>
            <a:ext cx="3765767" cy="914400"/>
          </a:xfrm>
          <a:prstGeom prst="rect">
            <a:avLst/>
          </a:prstGeom>
          <a:noFill/>
          <a:ln/>
        </p:spPr>
        <p:txBody>
          <a:bodyPr wrap="square" lIns="0" tIns="0" rIns="0" bIns="0" rtlCol="0" anchor="ctr"/>
          <a:lstStyle/>
          <a:p>
            <a:pPr marL="0" indent="0">
              <a:buNone/>
            </a:pPr>
            <a:r>
              <a:rPr lang="en-US" sz="4400" b="1" dirty="0">
                <a:solidFill>
                  <a:srgbClr val="25C4B7"/>
                </a:solidFill>
                <a:latin typeface="Times New Roman" panose="02020603050405020304" pitchFamily="18" charset="0"/>
                <a:ea typeface="Calibri" pitchFamily="34" charset="-122"/>
                <a:cs typeface="Times New Roman" panose="02020603050405020304" pitchFamily="18" charset="0"/>
              </a:rPr>
              <a:t>Thank You</a:t>
            </a:r>
            <a:endParaRPr lang="en-US" sz="4400" dirty="0">
              <a:latin typeface="Times New Roman" panose="02020603050405020304" pitchFamily="18" charset="0"/>
              <a:cs typeface="Times New Roman" panose="02020603050405020304" pitchFamily="18" charset="0"/>
            </a:endParaRPr>
          </a:p>
        </p:txBody>
      </p:sp>
      <p:sp>
        <p:nvSpPr>
          <p:cNvPr id="8" name="Text 6"/>
          <p:cNvSpPr txBox="1"/>
          <p:nvPr/>
        </p:nvSpPr>
        <p:spPr>
          <a:xfrm>
            <a:off x="10881360" y="6446520"/>
            <a:ext cx="822960" cy="274320"/>
          </a:xfrm>
          <a:prstGeom prst="rect">
            <a:avLst/>
          </a:prstGeom>
          <a:noFill/>
          <a:ln/>
        </p:spPr>
        <p:txBody>
          <a:bodyPr wrap="square" lIns="0" tIns="0" rIns="0" bIns="0" rtlCol="0" anchor="t"/>
          <a:lstStyle/>
          <a:p>
            <a:pPr marL="0" indent="0" algn="r">
              <a:buNone/>
            </a:pPr>
            <a:r>
              <a:rPr lang="en-US" sz="1000" dirty="0">
                <a:solidFill>
                  <a:srgbClr val="5B6B82"/>
                </a:solidFill>
                <a:latin typeface="Calibri" pitchFamily="34" charset="0"/>
                <a:ea typeface="Calibri" pitchFamily="34" charset="-122"/>
                <a:cs typeface="Calibri" pitchFamily="34" charset="-120"/>
              </a:rPr>
              <a:t>13 / 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1176</Words>
  <Application>Microsoft Office PowerPoint</Application>
  <PresentationFormat>Widescreen</PresentationFormat>
  <Paragraphs>276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Anshul Gahukar</cp:lastModifiedBy>
  <cp:revision>2</cp:revision>
  <dcterms:created xsi:type="dcterms:W3CDTF">2026-10-23T10:24:11Z</dcterms:created>
  <dcterms:modified xsi:type="dcterms:W3CDTF">2026-10-23T18:21:28Z</dcterms:modified>
</cp:coreProperties>
</file>